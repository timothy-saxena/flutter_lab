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sldIdLst>
    <p:sldId id="256" r:id="rId4"/>
    <p:sldId id="296" r:id="rId5"/>
    <p:sldId id="297" r:id="rId6"/>
    <p:sldId id="298" r:id="rId7"/>
    <p:sldId id="257" r:id="rId8"/>
    <p:sldId id="299" r:id="rId9"/>
    <p:sldId id="258" r:id="rId10"/>
    <p:sldId id="302" r:id="rId11"/>
    <p:sldId id="306" r:id="rId12"/>
    <p:sldId id="307" r:id="rId13"/>
    <p:sldId id="308" r:id="rId14"/>
    <p:sldId id="304" r:id="rId15"/>
    <p:sldId id="259" r:id="rId16"/>
    <p:sldId id="286" r:id="rId17"/>
    <p:sldId id="309" r:id="rId18"/>
    <p:sldId id="260" r:id="rId19"/>
    <p:sldId id="303" r:id="rId20"/>
    <p:sldId id="305" r:id="rId21"/>
    <p:sldId id="261" r:id="rId22"/>
    <p:sldId id="287" r:id="rId23"/>
    <p:sldId id="310" r:id="rId24"/>
    <p:sldId id="262" r:id="rId25"/>
    <p:sldId id="263" r:id="rId26"/>
    <p:sldId id="264" r:id="rId27"/>
    <p:sldId id="288" r:id="rId28"/>
    <p:sldId id="289" r:id="rId29"/>
    <p:sldId id="265" r:id="rId30"/>
    <p:sldId id="290" r:id="rId31"/>
    <p:sldId id="291" r:id="rId32"/>
    <p:sldId id="292" r:id="rId33"/>
    <p:sldId id="266" r:id="rId34"/>
    <p:sldId id="267" r:id="rId35"/>
    <p:sldId id="268" r:id="rId36"/>
    <p:sldId id="269" r:id="rId37"/>
    <p:sldId id="293" r:id="rId38"/>
    <p:sldId id="294" r:id="rId39"/>
    <p:sldId id="295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  <p:sldId id="279" r:id="rId50"/>
    <p:sldId id="280" r:id="rId51"/>
    <p:sldId id="281" r:id="rId52"/>
    <p:sldId id="282" r:id="rId53"/>
    <p:sldId id="283" r:id="rId54"/>
    <p:sldId id="284" r:id="rId55"/>
    <p:sldId id="285" r:id="rId56"/>
    <p:sldId id="300" r:id="rId57"/>
    <p:sldId id="301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.vikrantkumar@gmail.com" userId="5216610aff2613c5" providerId="LiveId" clId="{9A940A61-0525-4DC9-874D-89D37C1B488D}"/>
    <pc:docChg chg="undo custSel addSld delSld modSld">
      <pc:chgData name="p.vikrantkumar@gmail.com" userId="5216610aff2613c5" providerId="LiveId" clId="{9A940A61-0525-4DC9-874D-89D37C1B488D}" dt="2026-08-20T05:43:58.375" v="146" actId="1076"/>
      <pc:docMkLst>
        <pc:docMk/>
      </pc:docMkLst>
      <pc:sldChg chg="modSp mod">
        <pc:chgData name="p.vikrantkumar@gmail.com" userId="5216610aff2613c5" providerId="LiveId" clId="{9A940A61-0525-4DC9-874D-89D37C1B488D}" dt="2026-08-20T00:07:17.194" v="18" actId="120"/>
        <pc:sldMkLst>
          <pc:docMk/>
          <pc:sldMk cId="0" sldId="259"/>
        </pc:sldMkLst>
        <pc:spChg chg="mod">
          <ac:chgData name="p.vikrantkumar@gmail.com" userId="5216610aff2613c5" providerId="LiveId" clId="{9A940A61-0525-4DC9-874D-89D37C1B488D}" dt="2026-08-20T00:07:17.194" v="18" actId="120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p.vikrantkumar@gmail.com" userId="5216610aff2613c5" providerId="LiveId" clId="{9A940A61-0525-4DC9-874D-89D37C1B488D}" dt="2026-08-20T00:07:32.257" v="19" actId="120"/>
        <pc:sldMkLst>
          <pc:docMk/>
          <pc:sldMk cId="0" sldId="261"/>
        </pc:sldMkLst>
        <pc:spChg chg="mod">
          <ac:chgData name="p.vikrantkumar@gmail.com" userId="5216610aff2613c5" providerId="LiveId" clId="{9A940A61-0525-4DC9-874D-89D37C1B488D}" dt="2026-08-20T00:07:32.257" v="19" actId="120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p.vikrantkumar@gmail.com" userId="5216610aff2613c5" providerId="LiveId" clId="{9A940A61-0525-4DC9-874D-89D37C1B488D}" dt="2026-08-20T00:12:11.179" v="47" actId="120"/>
        <pc:sldMkLst>
          <pc:docMk/>
          <pc:sldMk cId="0" sldId="264"/>
        </pc:sldMkLst>
        <pc:spChg chg="mod">
          <ac:chgData name="p.vikrantkumar@gmail.com" userId="5216610aff2613c5" providerId="LiveId" clId="{9A940A61-0525-4DC9-874D-89D37C1B488D}" dt="2026-08-20T00:12:11.179" v="47" actId="120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p.vikrantkumar@gmail.com" userId="5216610aff2613c5" providerId="LiveId" clId="{9A940A61-0525-4DC9-874D-89D37C1B488D}" dt="2026-08-20T00:20:16.885" v="75" actId="1076"/>
        <pc:sldMkLst>
          <pc:docMk/>
          <pc:sldMk cId="0" sldId="265"/>
        </pc:sldMkLst>
        <pc:spChg chg="mod">
          <ac:chgData name="p.vikrantkumar@gmail.com" userId="5216610aff2613c5" providerId="LiveId" clId="{9A940A61-0525-4DC9-874D-89D37C1B488D}" dt="2026-08-20T00:20:16.885" v="75" actId="1076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p.vikrantkumar@gmail.com" userId="5216610aff2613c5" providerId="LiveId" clId="{9A940A61-0525-4DC9-874D-89D37C1B488D}" dt="2026-08-20T00:28:28.908" v="116" actId="14100"/>
        <pc:sldMkLst>
          <pc:docMk/>
          <pc:sldMk cId="0" sldId="269"/>
        </pc:sldMkLst>
        <pc:spChg chg="mod">
          <ac:chgData name="p.vikrantkumar@gmail.com" userId="5216610aff2613c5" providerId="LiveId" clId="{9A940A61-0525-4DC9-874D-89D37C1B488D}" dt="2026-08-20T00:28:28.908" v="116" actId="14100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p.vikrantkumar@gmail.com" userId="5216610aff2613c5" providerId="LiveId" clId="{9A940A61-0525-4DC9-874D-89D37C1B488D}" dt="2026-08-20T05:43:58.375" v="146" actId="1076"/>
        <pc:sldMkLst>
          <pc:docMk/>
          <pc:sldMk cId="0" sldId="272"/>
        </pc:sldMkLst>
        <pc:spChg chg="mod">
          <ac:chgData name="p.vikrantkumar@gmail.com" userId="5216610aff2613c5" providerId="LiveId" clId="{9A940A61-0525-4DC9-874D-89D37C1B488D}" dt="2026-08-20T05:43:58.375" v="146" actId="1076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p.vikrantkumar@gmail.com" userId="5216610aff2613c5" providerId="LiveId" clId="{9A940A61-0525-4DC9-874D-89D37C1B488D}" dt="2026-08-20T00:30:09.915" v="135" actId="120"/>
        <pc:sldMkLst>
          <pc:docMk/>
          <pc:sldMk cId="0" sldId="273"/>
        </pc:sldMkLst>
        <pc:spChg chg="mod">
          <ac:chgData name="p.vikrantkumar@gmail.com" userId="5216610aff2613c5" providerId="LiveId" clId="{9A940A61-0525-4DC9-874D-89D37C1B488D}" dt="2026-08-20T00:30:09.915" v="135" actId="120"/>
          <ac:spMkLst>
            <pc:docMk/>
            <pc:sldMk cId="0" sldId="273"/>
            <ac:spMk id="4" creationId="{00000000-0000-0000-0000-000000000000}"/>
          </ac:spMkLst>
        </pc:spChg>
      </pc:sldChg>
      <pc:sldChg chg="modSp mod">
        <pc:chgData name="p.vikrantkumar@gmail.com" userId="5216610aff2613c5" providerId="LiveId" clId="{9A940A61-0525-4DC9-874D-89D37C1B488D}" dt="2026-08-20T00:30:52.837" v="141" actId="1076"/>
        <pc:sldMkLst>
          <pc:docMk/>
          <pc:sldMk cId="0" sldId="274"/>
        </pc:sldMkLst>
        <pc:spChg chg="mod">
          <ac:chgData name="p.vikrantkumar@gmail.com" userId="5216610aff2613c5" providerId="LiveId" clId="{9A940A61-0525-4DC9-874D-89D37C1B488D}" dt="2026-08-20T00:30:52.837" v="141" actId="1076"/>
          <ac:spMkLst>
            <pc:docMk/>
            <pc:sldMk cId="0" sldId="274"/>
            <ac:spMk id="4" creationId="{00000000-0000-0000-0000-000000000000}"/>
          </ac:spMkLst>
        </pc:spChg>
      </pc:sldChg>
      <pc:sldChg chg="modSp mod">
        <pc:chgData name="p.vikrantkumar@gmail.com" userId="5216610aff2613c5" providerId="LiveId" clId="{9A940A61-0525-4DC9-874D-89D37C1B488D}" dt="2026-08-20T00:31:17.401" v="142" actId="1076"/>
        <pc:sldMkLst>
          <pc:docMk/>
          <pc:sldMk cId="0" sldId="275"/>
        </pc:sldMkLst>
        <pc:spChg chg="mod">
          <ac:chgData name="p.vikrantkumar@gmail.com" userId="5216610aff2613c5" providerId="LiveId" clId="{9A940A61-0525-4DC9-874D-89D37C1B488D}" dt="2026-08-20T00:31:17.401" v="142" actId="1076"/>
          <ac:spMkLst>
            <pc:docMk/>
            <pc:sldMk cId="0" sldId="275"/>
            <ac:spMk id="4" creationId="{00000000-0000-0000-0000-000000000000}"/>
          </ac:spMkLst>
        </pc:spChg>
      </pc:sldChg>
      <pc:sldChg chg="addSp modSp new mod">
        <pc:chgData name="p.vikrantkumar@gmail.com" userId="5216610aff2613c5" providerId="LiveId" clId="{9A940A61-0525-4DC9-874D-89D37C1B488D}" dt="2026-08-20T05:30:45.171" v="145" actId="14100"/>
        <pc:sldMkLst>
          <pc:docMk/>
          <pc:sldMk cId="714110062" sldId="286"/>
        </pc:sldMkLst>
        <pc:spChg chg="add mod">
          <ac:chgData name="p.vikrantkumar@gmail.com" userId="5216610aff2613c5" providerId="LiveId" clId="{9A940A61-0525-4DC9-874D-89D37C1B488D}" dt="2026-08-20T05:30:42.408" v="143" actId="1076"/>
          <ac:spMkLst>
            <pc:docMk/>
            <pc:sldMk cId="714110062" sldId="286"/>
            <ac:spMk id="3" creationId="{CF8DE46A-4A13-EE93-A948-1844EA065645}"/>
          </ac:spMkLst>
        </pc:spChg>
        <pc:picChg chg="add mod">
          <ac:chgData name="p.vikrantkumar@gmail.com" userId="5216610aff2613c5" providerId="LiveId" clId="{9A940A61-0525-4DC9-874D-89D37C1B488D}" dt="2026-08-20T05:30:45.171" v="145" actId="14100"/>
          <ac:picMkLst>
            <pc:docMk/>
            <pc:sldMk cId="714110062" sldId="286"/>
            <ac:picMk id="5" creationId="{1B8A815B-F3CB-171F-359A-50A95BC1E4EA}"/>
          </ac:picMkLst>
        </pc:picChg>
      </pc:sldChg>
      <pc:sldChg chg="addSp modSp new mod">
        <pc:chgData name="p.vikrantkumar@gmail.com" userId="5216610aff2613c5" providerId="LiveId" clId="{9A940A61-0525-4DC9-874D-89D37C1B488D}" dt="2026-08-20T00:11:41.752" v="45" actId="14100"/>
        <pc:sldMkLst>
          <pc:docMk/>
          <pc:sldMk cId="957561202" sldId="287"/>
        </pc:sldMkLst>
        <pc:spChg chg="add mod">
          <ac:chgData name="p.vikrantkumar@gmail.com" userId="5216610aff2613c5" providerId="LiveId" clId="{9A940A61-0525-4DC9-874D-89D37C1B488D}" dt="2026-08-20T00:11:12.049" v="41" actId="20577"/>
          <ac:spMkLst>
            <pc:docMk/>
            <pc:sldMk cId="957561202" sldId="287"/>
            <ac:spMk id="3" creationId="{E0F70064-63FE-BEF0-4B91-1E7435ADF4FE}"/>
          </ac:spMkLst>
        </pc:spChg>
        <pc:picChg chg="add mod">
          <ac:chgData name="p.vikrantkumar@gmail.com" userId="5216610aff2613c5" providerId="LiveId" clId="{9A940A61-0525-4DC9-874D-89D37C1B488D}" dt="2026-08-20T00:11:41.752" v="45" actId="14100"/>
          <ac:picMkLst>
            <pc:docMk/>
            <pc:sldMk cId="957561202" sldId="287"/>
            <ac:picMk id="5" creationId="{808E7FD3-ADC3-BA5E-AEF3-98A1E3C1DAF1}"/>
          </ac:picMkLst>
        </pc:picChg>
      </pc:sldChg>
      <pc:sldChg chg="addSp modSp new mod">
        <pc:chgData name="p.vikrantkumar@gmail.com" userId="5216610aff2613c5" providerId="LiveId" clId="{9A940A61-0525-4DC9-874D-89D37C1B488D}" dt="2026-08-20T00:19:00.714" v="67" actId="14100"/>
        <pc:sldMkLst>
          <pc:docMk/>
          <pc:sldMk cId="1908060562" sldId="288"/>
        </pc:sldMkLst>
        <pc:spChg chg="add mod">
          <ac:chgData name="p.vikrantkumar@gmail.com" userId="5216610aff2613c5" providerId="LiveId" clId="{9A940A61-0525-4DC9-874D-89D37C1B488D}" dt="2026-08-20T00:18:50.709" v="64" actId="6549"/>
          <ac:spMkLst>
            <pc:docMk/>
            <pc:sldMk cId="1908060562" sldId="288"/>
            <ac:spMk id="3" creationId="{1356C9DA-42B0-A3B0-8FF9-8C85C0568B42}"/>
          </ac:spMkLst>
        </pc:spChg>
        <pc:spChg chg="add mod">
          <ac:chgData name="p.vikrantkumar@gmail.com" userId="5216610aff2613c5" providerId="LiveId" clId="{9A940A61-0525-4DC9-874D-89D37C1B488D}" dt="2026-08-20T00:19:00.714" v="67" actId="14100"/>
          <ac:spMkLst>
            <pc:docMk/>
            <pc:sldMk cId="1908060562" sldId="288"/>
            <ac:spMk id="5" creationId="{CADEFD10-1B64-3C1D-7E30-5FD7B66DA0C0}"/>
          </ac:spMkLst>
        </pc:spChg>
      </pc:sldChg>
      <pc:sldChg chg="addSp modSp new mod">
        <pc:chgData name="p.vikrantkumar@gmail.com" userId="5216610aff2613c5" providerId="LiveId" clId="{9A940A61-0525-4DC9-874D-89D37C1B488D}" dt="2026-08-20T00:19:45.401" v="74" actId="14100"/>
        <pc:sldMkLst>
          <pc:docMk/>
          <pc:sldMk cId="2943887243" sldId="289"/>
        </pc:sldMkLst>
        <pc:picChg chg="add mod">
          <ac:chgData name="p.vikrantkumar@gmail.com" userId="5216610aff2613c5" providerId="LiveId" clId="{9A940A61-0525-4DC9-874D-89D37C1B488D}" dt="2026-08-20T00:19:45.401" v="74" actId="14100"/>
          <ac:picMkLst>
            <pc:docMk/>
            <pc:sldMk cId="2943887243" sldId="289"/>
            <ac:picMk id="3" creationId="{4D91CB9E-494D-699D-121A-A3C4C639D8DC}"/>
          </ac:picMkLst>
        </pc:picChg>
      </pc:sldChg>
      <pc:sldChg chg="addSp delSp modSp new mod">
        <pc:chgData name="p.vikrantkumar@gmail.com" userId="5216610aff2613c5" providerId="LiveId" clId="{9A940A61-0525-4DC9-874D-89D37C1B488D}" dt="2026-08-20T00:24:41.576" v="103" actId="22"/>
        <pc:sldMkLst>
          <pc:docMk/>
          <pc:sldMk cId="673174692" sldId="290"/>
        </pc:sldMkLst>
        <pc:spChg chg="add mod">
          <ac:chgData name="p.vikrantkumar@gmail.com" userId="5216610aff2613c5" providerId="LiveId" clId="{9A940A61-0525-4DC9-874D-89D37C1B488D}" dt="2026-08-20T00:23:56.710" v="93" actId="14100"/>
          <ac:spMkLst>
            <pc:docMk/>
            <pc:sldMk cId="673174692" sldId="290"/>
            <ac:spMk id="3" creationId="{09FD90F3-0291-9465-9F44-5265245689F7}"/>
          </ac:spMkLst>
        </pc:spChg>
        <pc:spChg chg="add mod">
          <ac:chgData name="p.vikrantkumar@gmail.com" userId="5216610aff2613c5" providerId="LiveId" clId="{9A940A61-0525-4DC9-874D-89D37C1B488D}" dt="2026-08-20T00:24:05.246" v="95" actId="14100"/>
          <ac:spMkLst>
            <pc:docMk/>
            <pc:sldMk cId="673174692" sldId="290"/>
            <ac:spMk id="5" creationId="{80EE87C5-4C1B-8D26-9220-0339740FF3E5}"/>
          </ac:spMkLst>
        </pc:spChg>
        <pc:spChg chg="add del mod">
          <ac:chgData name="p.vikrantkumar@gmail.com" userId="5216610aff2613c5" providerId="LiveId" clId="{9A940A61-0525-4DC9-874D-89D37C1B488D}" dt="2026-08-20T00:24:41.576" v="103" actId="22"/>
          <ac:spMkLst>
            <pc:docMk/>
            <pc:sldMk cId="673174692" sldId="290"/>
            <ac:spMk id="7" creationId="{FCDD4333-5525-A62F-372D-DCD93575C3D5}"/>
          </ac:spMkLst>
        </pc:spChg>
      </pc:sldChg>
      <pc:sldChg chg="addSp modSp new del mod">
        <pc:chgData name="p.vikrantkumar@gmail.com" userId="5216610aff2613c5" providerId="LiveId" clId="{9A940A61-0525-4DC9-874D-89D37C1B488D}" dt="2026-08-20T00:22:17.977" v="79" actId="47"/>
        <pc:sldMkLst>
          <pc:docMk/>
          <pc:sldMk cId="4264761264" sldId="290"/>
        </pc:sldMkLst>
        <pc:spChg chg="add mod">
          <ac:chgData name="p.vikrantkumar@gmail.com" userId="5216610aff2613c5" providerId="LiveId" clId="{9A940A61-0525-4DC9-874D-89D37C1B488D}" dt="2026-08-20T00:22:02.374" v="78" actId="21"/>
          <ac:spMkLst>
            <pc:docMk/>
            <pc:sldMk cId="4264761264" sldId="290"/>
            <ac:spMk id="3" creationId="{7E0E4426-526C-9885-323D-32A7403C6ABD}"/>
          </ac:spMkLst>
        </pc:spChg>
      </pc:sldChg>
      <pc:sldChg chg="addSp modSp new mod">
        <pc:chgData name="p.vikrantkumar@gmail.com" userId="5216610aff2613c5" providerId="LiveId" clId="{9A940A61-0525-4DC9-874D-89D37C1B488D}" dt="2026-08-20T00:25:08.552" v="111" actId="14100"/>
        <pc:sldMkLst>
          <pc:docMk/>
          <pc:sldMk cId="3572234163" sldId="291"/>
        </pc:sldMkLst>
        <pc:spChg chg="add mod">
          <ac:chgData name="p.vikrantkumar@gmail.com" userId="5216610aff2613c5" providerId="LiveId" clId="{9A940A61-0525-4DC9-874D-89D37C1B488D}" dt="2026-08-20T00:25:00.286" v="108" actId="1076"/>
          <ac:spMkLst>
            <pc:docMk/>
            <pc:sldMk cId="3572234163" sldId="291"/>
            <ac:spMk id="3" creationId="{FA84BEF1-0407-B87B-C042-AB95A7DABEF5}"/>
          </ac:spMkLst>
        </pc:spChg>
        <pc:spChg chg="add mod">
          <ac:chgData name="p.vikrantkumar@gmail.com" userId="5216610aff2613c5" providerId="LiveId" clId="{9A940A61-0525-4DC9-874D-89D37C1B488D}" dt="2026-08-20T00:25:08.552" v="111" actId="14100"/>
          <ac:spMkLst>
            <pc:docMk/>
            <pc:sldMk cId="3572234163" sldId="291"/>
            <ac:spMk id="5" creationId="{5C2A2C05-FE8D-4466-9507-80C2CC28A4D2}"/>
          </ac:spMkLst>
        </pc:spChg>
      </pc:sldChg>
      <pc:sldChg chg="addSp new mod">
        <pc:chgData name="p.vikrantkumar@gmail.com" userId="5216610aff2613c5" providerId="LiveId" clId="{9A940A61-0525-4DC9-874D-89D37C1B488D}" dt="2026-08-20T00:25:36.068" v="113" actId="22"/>
        <pc:sldMkLst>
          <pc:docMk/>
          <pc:sldMk cId="884946485" sldId="292"/>
        </pc:sldMkLst>
        <pc:picChg chg="add">
          <ac:chgData name="p.vikrantkumar@gmail.com" userId="5216610aff2613c5" providerId="LiveId" clId="{9A940A61-0525-4DC9-874D-89D37C1B488D}" dt="2026-08-20T00:25:36.068" v="113" actId="22"/>
          <ac:picMkLst>
            <pc:docMk/>
            <pc:sldMk cId="884946485" sldId="292"/>
            <ac:picMk id="3" creationId="{65C53C6E-F18E-F37E-AAE3-5B90E9693310}"/>
          </ac:picMkLst>
        </pc:picChg>
      </pc:sldChg>
      <pc:sldChg chg="addSp modSp new mod">
        <pc:chgData name="p.vikrantkumar@gmail.com" userId="5216610aff2613c5" providerId="LiveId" clId="{9A940A61-0525-4DC9-874D-89D37C1B488D}" dt="2026-08-20T00:29:10.087" v="125" actId="20577"/>
        <pc:sldMkLst>
          <pc:docMk/>
          <pc:sldMk cId="1984599069" sldId="293"/>
        </pc:sldMkLst>
        <pc:spChg chg="add mod">
          <ac:chgData name="p.vikrantkumar@gmail.com" userId="5216610aff2613c5" providerId="LiveId" clId="{9A940A61-0525-4DC9-874D-89D37C1B488D}" dt="2026-08-20T00:28:44.308" v="120" actId="14100"/>
          <ac:spMkLst>
            <pc:docMk/>
            <pc:sldMk cId="1984599069" sldId="293"/>
            <ac:spMk id="3" creationId="{B183C129-E479-3746-55F4-09DBAB60ABDC}"/>
          </ac:spMkLst>
        </pc:spChg>
        <pc:spChg chg="add mod">
          <ac:chgData name="p.vikrantkumar@gmail.com" userId="5216610aff2613c5" providerId="LiveId" clId="{9A940A61-0525-4DC9-874D-89D37C1B488D}" dt="2026-08-20T00:29:10.087" v="125" actId="20577"/>
          <ac:spMkLst>
            <pc:docMk/>
            <pc:sldMk cId="1984599069" sldId="293"/>
            <ac:spMk id="5" creationId="{523A52AE-B8CA-88B2-C662-2E8B146FDA9A}"/>
          </ac:spMkLst>
        </pc:spChg>
      </pc:sldChg>
      <pc:sldChg chg="addSp modSp new mod">
        <pc:chgData name="p.vikrantkumar@gmail.com" userId="5216610aff2613c5" providerId="LiveId" clId="{9A940A61-0525-4DC9-874D-89D37C1B488D}" dt="2026-08-20T00:29:42.051" v="132" actId="14100"/>
        <pc:sldMkLst>
          <pc:docMk/>
          <pc:sldMk cId="1613383890" sldId="294"/>
        </pc:sldMkLst>
        <pc:spChg chg="add mod">
          <ac:chgData name="p.vikrantkumar@gmail.com" userId="5216610aff2613c5" providerId="LiveId" clId="{9A940A61-0525-4DC9-874D-89D37C1B488D}" dt="2026-08-20T00:29:29.528" v="129" actId="14100"/>
          <ac:spMkLst>
            <pc:docMk/>
            <pc:sldMk cId="1613383890" sldId="294"/>
            <ac:spMk id="3" creationId="{11F461DF-697A-CF48-FC37-6A7A9F1A9DFC}"/>
          </ac:spMkLst>
        </pc:spChg>
        <pc:spChg chg="add mod">
          <ac:chgData name="p.vikrantkumar@gmail.com" userId="5216610aff2613c5" providerId="LiveId" clId="{9A940A61-0525-4DC9-874D-89D37C1B488D}" dt="2026-08-20T00:29:42.051" v="132" actId="14100"/>
          <ac:spMkLst>
            <pc:docMk/>
            <pc:sldMk cId="1613383890" sldId="294"/>
            <ac:spMk id="5" creationId="{14BFEDF5-20BD-0BA6-248A-9C02DF5470F5}"/>
          </ac:spMkLst>
        </pc:spChg>
      </pc:sldChg>
      <pc:sldChg chg="addSp new mod">
        <pc:chgData name="p.vikrantkumar@gmail.com" userId="5216610aff2613c5" providerId="LiveId" clId="{9A940A61-0525-4DC9-874D-89D37C1B488D}" dt="2026-08-20T00:30:00.152" v="134" actId="22"/>
        <pc:sldMkLst>
          <pc:docMk/>
          <pc:sldMk cId="2054218277" sldId="295"/>
        </pc:sldMkLst>
        <pc:picChg chg="add">
          <ac:chgData name="p.vikrantkumar@gmail.com" userId="5216610aff2613c5" providerId="LiveId" clId="{9A940A61-0525-4DC9-874D-89D37C1B488D}" dt="2026-08-20T00:30:00.152" v="134" actId="22"/>
          <ac:picMkLst>
            <pc:docMk/>
            <pc:sldMk cId="2054218277" sldId="295"/>
            <ac:picMk id="3" creationId="{9D510F69-4E26-A15B-8DAA-37F2E869B2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D6EE87-EBD5-4F12-A48A-63ACA297AC8F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341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D3794B-289A-4A80-97D7-111025398D45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941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1015F-7CC6-4D0A-9D87-873EA4C304CC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496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6A301-0538-44EC-B09D-202E1042A48B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62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89574A-8875-45EF-8EA2-3CAA0F7ABC4C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840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EF4D4C-5367-4C26-9E2B-D8088D7FCA81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6494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E91E96-98B0-4413-9547-46F3504108EF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3290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C68B11-C5A8-448C-8CE9-B1A273C79CFC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97520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616CA0-919D-4A49-9C8A-62FDFB3A5183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7E5644-1E61-4311-A31E-84CB9C7AA8A9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7144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D73815-2707-4475-8F1A-B873CB631BB4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808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4AFB99-0EAB-4182-AFF8-E214C82A68F6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4141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A4605-7A84-D21C-B42A-3C1028A67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93764-75F0-6182-D424-A6ED7EA91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10BDA-F3AB-4398-4A6A-082F9A81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60026-9794-1C60-A4C6-6A1E3D71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C4FC5-9351-3187-D2AC-B2662967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294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275D-D86B-066A-CA72-AD3EC08B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183BD-2793-62A3-1945-76C490C46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EAC3E-38D7-518F-26BE-CCA080A3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16F04-F1B6-9CD4-C80B-6DD705195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A7086-2EA2-DBF6-D763-B18B763D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365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4D6C-BD8C-39F2-9121-1043863B3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381D4-496C-4A57-68F6-585609C25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BC356-354F-D465-3A63-0AE726FA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7265F-A8F2-1D15-CB57-A552622B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9933D-2DBC-EBBA-CA19-CAF2A761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5642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5006-7FC0-F6C5-4115-7F321034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656A-3D70-C1A4-BF53-C825B3A87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7316E-C9C0-A165-8C3F-C250EB23C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F5398-82F7-94C4-1816-F06765D6D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BE424-D61C-3DC1-9D8B-52F7B6F3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EF4C6-FE12-0975-F035-914D563A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4394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6A48F-968B-2E0B-9D1A-A7FC8665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C3FE3-A78E-8308-3B21-41538247C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F8A23-AD31-5782-D529-9928FA94C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2CAE8-EC75-C2E6-CB6F-114C30CE7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52EFC-9B8B-2620-F5D8-FB5F96B35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365E4-A821-A330-FA2A-55408A240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ECE734-46CC-D720-18B3-C42F71B6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1D1C0-9B15-2A94-A1D4-A3AE6397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0281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D74F-4561-19C1-23F0-68D761DF5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95CAA-E987-FC57-B9BA-F90DD0697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F4B3F-F968-E6F1-882D-DDBDA5D1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03944-4B1B-AAE7-F287-B21756A5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33000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58FE6A-2F98-059B-0339-25067869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C7DB7-96B4-4741-47F2-011FD8D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E14D0-DD45-E725-87B6-A00A9BA7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7735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E753-BD35-19F6-F1E0-2E9CEAABD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ECA11-DA02-BC1A-F99B-0310A73C8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327EA-8C7F-188A-E751-7ED3AF934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74526-3867-AD9D-00FF-EB6D2591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31550-93D7-73BD-DF5B-956EA160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0C625-5005-228B-0446-DA6BDB7E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07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4AAE3-9FEB-40FC-12CC-8207F33F2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02BEB-AFA9-97AB-7774-E3A988765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585E9-A2E0-AB43-9CF0-5DBB60F63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64573-BB2A-9CD3-3267-F0AD260B9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1D0FE-BB42-7D98-7E2F-FD75BC46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C0984-DFA6-D9CC-044C-1944F9F2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0329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4A09-838B-C413-8524-A7008612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E1B13-CEDB-EBB6-6B06-36EB31AC6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C9900-39F8-0F10-1D83-2E3214AA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813F2-0113-03B0-F83F-91FB55A8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23352-C145-7844-FDF9-20B7054E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3587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D4DDFD-5038-EBE3-D135-444C45F89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FFC15-C416-3A3F-8DDC-235FD0066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08F25-CEE6-01EB-45B8-3A010C64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5BE84-0EF0-3BF6-58BE-7C0AAC253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7D2DC-95CE-CA45-EA30-D2DBC92E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01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298CD5-6C1E-4009-B41F-6DF62E31D3BE}" type="datetimeFigureOut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8/24/2026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42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21088-8D70-1F6B-C9E6-F57AE899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9FBD5-938A-2406-E56A-AD05B66A6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D504F-B752-2971-A497-0AC2CF9E2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23E7C-921B-1731-D68D-F6393EA79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8B6A-6463-F331-0F15-C865773A6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435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2678" y="1234440"/>
            <a:ext cx="904760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4E79"/>
                </a:solidFill>
              </a:defRPr>
            </a:pPr>
            <a:r>
              <a:rPr lang="en-IN" b="1"/>
              <a:t>Layout Widgets in Flutter </a:t>
            </a:r>
            <a:r>
              <a:t>and </a:t>
            </a:r>
            <a:r>
              <a:rPr dirty="0"/>
              <a:t>State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4472C4"/>
                </a:solidFill>
              </a:defRPr>
            </a:pPr>
            <a:r>
              <a:t>Experiment 2(b): Row, Column, Stack</a:t>
            </a:r>
            <a:br/>
            <a:r>
              <a:t>Experiment 5(b): setState() and 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82828"/>
                </a:solidFill>
              </a:defRPr>
            </a:pPr>
            <a:r>
              <a:t>UI DESIGN FLUTTER  |  CSE / IT Laboratory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311769"/>
            <a:ext cx="9720073" cy="402336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To display any kind of image.</a:t>
            </a:r>
            <a:br>
              <a:rPr lang="en-US" dirty="0">
                <a:solidFill>
                  <a:srgbClr val="0070C0"/>
                </a:solidFill>
              </a:rPr>
            </a:b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The image can be of different types:</a:t>
            </a:r>
            <a:br>
              <a:rPr lang="en-US" dirty="0">
                <a:solidFill>
                  <a:srgbClr val="0070C0"/>
                </a:solidFill>
              </a:rPr>
            </a:b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- Asset Image (stored on computer)</a:t>
            </a:r>
          </a:p>
          <a:p>
            <a:r>
              <a:rPr lang="en-US" dirty="0">
                <a:solidFill>
                  <a:srgbClr val="0070C0"/>
                </a:solidFill>
              </a:rPr>
              <a:t>- Network image (can be accessed via link)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Etc..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717" y="776287"/>
            <a:ext cx="3181350" cy="41624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32218" y="4844534"/>
            <a:ext cx="299107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Image.asset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() in flutter code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Image.network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() in flutter code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215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311769"/>
            <a:ext cx="9720073" cy="402336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 text widget helps to display text on mobile screen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266" y="2340188"/>
            <a:ext cx="1924050" cy="962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784" y="3361424"/>
            <a:ext cx="1924050" cy="962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316" y="2880411"/>
            <a:ext cx="1924050" cy="9620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50227" y="4138783"/>
            <a:ext cx="3194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Text(“Hello, Ruth! How are you?”)</a:t>
            </a:r>
          </a:p>
        </p:txBody>
      </p:sp>
    </p:spTree>
    <p:extLst>
      <p:ext uri="{BB962C8B-B14F-4D97-AF65-F5344CB8AC3E}">
        <p14:creationId xmlns:p14="http://schemas.microsoft.com/office/powerpoint/2010/main" val="222789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widget</a:t>
            </a:r>
          </a:p>
        </p:txBody>
      </p:sp>
      <p:pic>
        <p:nvPicPr>
          <p:cNvPr id="1026" name="Picture 2" descr="https://i.stack.imgur.com/iwIOH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56" y="2340188"/>
            <a:ext cx="3922133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751136" y="2977634"/>
            <a:ext cx="3401829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Container(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child: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Text(“Container 1”)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),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Container(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child: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Text(“Container 2”)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),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36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9406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3200" dirty="0"/>
              <a:t>Experiment 2(b) – Layout Widgets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442" y="1104019"/>
            <a:ext cx="99748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72C4"/>
                </a:solidFill>
              </a:defRPr>
            </a:pPr>
            <a:r>
              <a:rPr sz="2800" dirty="0">
                <a:solidFill>
                  <a:srgbClr val="282828"/>
                </a:solidFill>
              </a:rPr>
              <a:t>Implement different layout structures using Row, Column and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994"/>
            <a:ext cx="107899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sz="3600" dirty="0"/>
              <a:t>Flutter layouts are built by arranging widgets inside parent widgets.</a:t>
            </a:r>
          </a:p>
          <a:p>
            <a:pPr marL="571500" indent="-5715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sz="3600" dirty="0"/>
              <a:t>Row arranges children horizontally.</a:t>
            </a:r>
          </a:p>
          <a:p>
            <a:pPr marL="571500" indent="-5715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sz="3600" dirty="0"/>
              <a:t>Column arranges children vertically.</a:t>
            </a:r>
          </a:p>
          <a:p>
            <a:pPr marL="571500" indent="-5715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sz="3600" dirty="0"/>
              <a:t>Stack places children on top of one another.</a:t>
            </a:r>
          </a:p>
          <a:p>
            <a:pPr marL="571500" indent="-5715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82828"/>
                </a:solidFill>
              </a:defRPr>
            </a:pPr>
            <a:r>
              <a:rPr sz="3600" dirty="0"/>
              <a:t>These widgets can be combined to create complete user interfaces.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 row widget is like a widget in X-Plane. (X Axis)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A row can have multiple children widgets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41" t="75911" r="3049" b="14752"/>
          <a:stretch/>
        </p:blipFill>
        <p:spPr>
          <a:xfrm>
            <a:off x="1166811" y="3241964"/>
            <a:ext cx="3561053" cy="4987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6810704" y="1478569"/>
            <a:ext cx="297035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Row(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children: 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[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Icon(),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Icon(),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Icon(),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Spacer(),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	Icon(),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),</a:t>
            </a:r>
          </a:p>
        </p:txBody>
      </p:sp>
    </p:spTree>
    <p:extLst>
      <p:ext uri="{BB962C8B-B14F-4D97-AF65-F5344CB8AC3E}">
        <p14:creationId xmlns:p14="http://schemas.microsoft.com/office/powerpoint/2010/main" val="274218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779755"/>
            <a:ext cx="251754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3600" dirty="0"/>
              <a:t>Row Widget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78521"/>
            <a:ext cx="1078992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Row places its child widgets from left to right.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Useful for menus, icon + text combinations, buttons, and horizontal sections.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Important properties:</a:t>
            </a:r>
          </a:p>
          <a:p>
            <a:pPr lvl="1"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children – list of widgets arranged horizontally</a:t>
            </a:r>
          </a:p>
          <a:p>
            <a:pPr lvl="1"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mainAxisAlignment – controls horizontal distribution</a:t>
            </a:r>
          </a:p>
          <a:p>
            <a:pPr lvl="1"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crossAxisAlignment – controls vertical alignment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356" y="2881693"/>
            <a:ext cx="3124200" cy="1533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1233487"/>
            <a:ext cx="10601325" cy="43910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95337" y="665635"/>
            <a:ext cx="103280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The main axis is the primary direction, child widgets are laid out in a Row or Column.</a:t>
            </a:r>
          </a:p>
        </p:txBody>
      </p:sp>
    </p:spTree>
    <p:extLst>
      <p:ext uri="{BB962C8B-B14F-4D97-AF65-F5344CB8AC3E}">
        <p14:creationId xmlns:p14="http://schemas.microsoft.com/office/powerpoint/2010/main" val="187660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184877"/>
              </p:ext>
            </p:extLst>
          </p:nvPr>
        </p:nvGraphicFramePr>
        <p:xfrm>
          <a:off x="1431027" y="1775408"/>
          <a:ext cx="8229600" cy="4053840"/>
        </p:xfrm>
        <a:graphic>
          <a:graphicData uri="http://schemas.openxmlformats.org/drawingml/2006/table">
            <a:tbl>
              <a:tblPr/>
              <a:tblGrid>
                <a:gridCol w="2565786">
                  <a:extLst>
                    <a:ext uri="{9D8B030D-6E8A-4147-A177-3AD203B41FA5}">
                      <a16:colId xmlns:a16="http://schemas.microsoft.com/office/drawing/2014/main" val="4139883569"/>
                    </a:ext>
                  </a:extLst>
                </a:gridCol>
                <a:gridCol w="5663814">
                  <a:extLst>
                    <a:ext uri="{9D8B030D-6E8A-4147-A177-3AD203B41FA5}">
                      <a16:colId xmlns:a16="http://schemas.microsoft.com/office/drawing/2014/main" val="394984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2800" b="1" dirty="0">
                          <a:effectLst/>
                        </a:rPr>
                        <a:t>Value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70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CB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800" b="1">
                          <a:effectLst/>
                        </a:rPr>
                        <a:t>Behavior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0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808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b="1" dirty="0">
                          <a:effectLst/>
                        </a:rPr>
                        <a:t>start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70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effectLst/>
                        </a:rPr>
                        <a:t>Children align to the left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0D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46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b="1" dirty="0" err="1">
                          <a:effectLst/>
                        </a:rPr>
                        <a:t>center</a:t>
                      </a:r>
                      <a:endParaRPr lang="en-IN" sz="2800" b="1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 err="1">
                          <a:effectLst/>
                        </a:rPr>
                        <a:t>Center</a:t>
                      </a:r>
                      <a:r>
                        <a:rPr lang="en-IN" sz="2800" b="1" dirty="0">
                          <a:effectLst/>
                        </a:rPr>
                        <a:t> horizontally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977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b="1" dirty="0">
                          <a:effectLst/>
                        </a:rPr>
                        <a:t>end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0D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D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>
                          <a:effectLst/>
                        </a:rPr>
                        <a:t>Align to right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549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b="1" dirty="0" err="1">
                          <a:effectLst/>
                        </a:rPr>
                        <a:t>spaceBetween</a:t>
                      </a:r>
                      <a:endParaRPr lang="en-IN" sz="2800" b="1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0D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D1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>
                          <a:effectLst/>
                        </a:rPr>
                        <a:t>Space distributed between children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75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b="1" dirty="0" err="1">
                          <a:effectLst/>
                        </a:rPr>
                        <a:t>spaceAround</a:t>
                      </a:r>
                      <a:endParaRPr lang="en-IN" sz="2800" b="1" dirty="0"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>
                          <a:effectLst/>
                        </a:rPr>
                        <a:t>Equal space around children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D4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936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b="1">
                          <a:effectLst/>
                        </a:rPr>
                        <a:t>spaceEvenly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90D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7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>
                          <a:effectLst/>
                        </a:rPr>
                        <a:t>All spacing equal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5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D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32156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31027" y="1176935"/>
            <a:ext cx="49418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b="1" dirty="0"/>
              <a:t>mainAxisAlignment Options</a:t>
            </a:r>
          </a:p>
        </p:txBody>
      </p:sp>
    </p:spTree>
    <p:extLst>
      <p:ext uri="{BB962C8B-B14F-4D97-AF65-F5344CB8AC3E}">
        <p14:creationId xmlns:p14="http://schemas.microsoft.com/office/powerpoint/2010/main" val="2704951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36688" y="1103563"/>
            <a:ext cx="55510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 err="1"/>
              <a:t>crossAxisAlignment</a:t>
            </a:r>
            <a:r>
              <a:rPr lang="en-IN" sz="3600" b="1" dirty="0"/>
              <a:t> Options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308977"/>
              </p:ext>
            </p:extLst>
          </p:nvPr>
        </p:nvGraphicFramePr>
        <p:xfrm>
          <a:off x="1328568" y="2118649"/>
          <a:ext cx="7879977" cy="2895600"/>
        </p:xfrm>
        <a:graphic>
          <a:graphicData uri="http://schemas.openxmlformats.org/drawingml/2006/table">
            <a:tbl>
              <a:tblPr/>
              <a:tblGrid>
                <a:gridCol w="1426638">
                  <a:extLst>
                    <a:ext uri="{9D8B030D-6E8A-4147-A177-3AD203B41FA5}">
                      <a16:colId xmlns:a16="http://schemas.microsoft.com/office/drawing/2014/main" val="2975446049"/>
                    </a:ext>
                  </a:extLst>
                </a:gridCol>
                <a:gridCol w="6453339">
                  <a:extLst>
                    <a:ext uri="{9D8B030D-6E8A-4147-A177-3AD203B41FA5}">
                      <a16:colId xmlns:a16="http://schemas.microsoft.com/office/drawing/2014/main" val="24625276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2800" b="1">
                          <a:effectLst/>
                        </a:rPr>
                        <a:t>Value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0E8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F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E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800" b="1">
                          <a:effectLst/>
                        </a:rPr>
                        <a:t>Behavior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0F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E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F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09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 dirty="0">
                          <a:effectLst/>
                        </a:rPr>
                        <a:t>start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50E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F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EA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effectLst/>
                        </a:rPr>
                        <a:t>Align top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0F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F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F1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F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339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>
                          <a:effectLst/>
                        </a:rPr>
                        <a:t>center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0F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F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effectLst/>
                        </a:rPr>
                        <a:t>Center vertically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70F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F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F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F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008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>
                          <a:effectLst/>
                        </a:rPr>
                        <a:t>end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0F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F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effectLst/>
                        </a:rPr>
                        <a:t>Align bottom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0F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F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F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F8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443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800">
                          <a:effectLst/>
                        </a:rPr>
                        <a:t>stretch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0F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F8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C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Children expand vertically (if possible)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90F8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F8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F8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F8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62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384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82992" y="790282"/>
            <a:ext cx="880692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Main Axis vs Cross Axis</a:t>
            </a:r>
          </a:p>
          <a:p>
            <a:r>
              <a:rPr lang="en-US" sz="3200" dirty="0"/>
              <a:t>Main Axis → Vertical</a:t>
            </a:r>
          </a:p>
          <a:p>
            <a:endParaRPr lang="en-US" sz="3200" dirty="0"/>
          </a:p>
          <a:p>
            <a:r>
              <a:rPr lang="en-US" sz="3200" dirty="0"/>
              <a:t>Controls how children are aligned top-to-bottom.</a:t>
            </a:r>
          </a:p>
          <a:p>
            <a:endParaRPr lang="en-US" sz="3200" dirty="0"/>
          </a:p>
          <a:p>
            <a:r>
              <a:rPr lang="en-US" sz="3200" dirty="0"/>
              <a:t>Cross Axis → Horizontal</a:t>
            </a:r>
          </a:p>
          <a:p>
            <a:endParaRPr lang="en-US" sz="3200" dirty="0"/>
          </a:p>
          <a:p>
            <a:r>
              <a:rPr lang="en-US" sz="3200" dirty="0"/>
              <a:t>Controls how children are aligned left-to-right.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246493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0"/>
            <a:ext cx="117348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17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9808" y="575191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Row –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3843" y="1028752"/>
            <a:ext cx="10438349" cy="5029200"/>
          </a:xfrm>
          <a:prstGeom prst="roundRect">
            <a:avLst/>
          </a:prstGeom>
          <a:solidFill>
            <a:srgbClr val="EBF2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 sz="1800">
                <a:solidFill>
                  <a:srgbClr val="282828"/>
                </a:solidFill>
                <a:latin typeface="Consolas"/>
              </a:defRPr>
            </a:pPr>
            <a:r>
              <a:rPr sz="2800" dirty="0"/>
              <a:t>Row(</a:t>
            </a:r>
            <a:br>
              <a:rPr sz="2800" dirty="0"/>
            </a:br>
            <a:r>
              <a:rPr sz="2800" dirty="0"/>
              <a:t>  mainAxisAlignment: </a:t>
            </a:r>
            <a:r>
              <a:rPr sz="2800" dirty="0" err="1"/>
              <a:t>MainAxisAlignment.spaceEvenly</a:t>
            </a:r>
            <a:r>
              <a:rPr sz="2800" dirty="0"/>
              <a:t>,</a:t>
            </a:r>
            <a:br>
              <a:rPr sz="2800" dirty="0"/>
            </a:br>
            <a:r>
              <a:rPr sz="2800" dirty="0"/>
              <a:t>  children: [</a:t>
            </a:r>
            <a:br>
              <a:rPr sz="2800" dirty="0"/>
            </a:br>
            <a:r>
              <a:rPr sz="2800" dirty="0"/>
              <a:t>    Icon(</a:t>
            </a:r>
            <a:r>
              <a:rPr sz="2800" dirty="0" err="1"/>
              <a:t>Icons.home</a:t>
            </a:r>
            <a:r>
              <a:rPr sz="2800" dirty="0"/>
              <a:t>),</a:t>
            </a:r>
            <a:br>
              <a:rPr sz="2800" dirty="0"/>
            </a:br>
            <a:r>
              <a:rPr sz="2800" dirty="0"/>
              <a:t>    Text('Home'),</a:t>
            </a:r>
            <a:br>
              <a:rPr sz="2800" dirty="0"/>
            </a:br>
            <a:r>
              <a:rPr sz="2800" dirty="0"/>
              <a:t>    Icon(</a:t>
            </a:r>
            <a:r>
              <a:rPr sz="2800" dirty="0" err="1"/>
              <a:t>Icons.settings</a:t>
            </a:r>
            <a:r>
              <a:rPr sz="2800" dirty="0"/>
              <a:t>),</a:t>
            </a:r>
            <a:br>
              <a:rPr sz="2800" dirty="0"/>
            </a:br>
            <a:r>
              <a:rPr sz="2800" dirty="0"/>
              <a:t>  ],</a:t>
            </a:r>
            <a:br>
              <a:rPr sz="2800" dirty="0"/>
            </a:br>
            <a:r>
              <a:rPr sz="2800" dirty="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8DE46A-4A13-EE93-A948-1844EA065645}"/>
              </a:ext>
            </a:extLst>
          </p:cNvPr>
          <p:cNvSpPr txBox="1"/>
          <p:nvPr/>
        </p:nvSpPr>
        <p:spPr>
          <a:xfrm>
            <a:off x="1371601" y="302359"/>
            <a:ext cx="772885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'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package:flutter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material.dart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runApp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StatelessWidget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super.key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@override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Widget build(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BuildContext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MaterialApp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debugShowCheckedModeBanner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false,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home: Scaffold(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appBar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AppBar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title: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Text('Row Widget'),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),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110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86AD04-B7CF-6AF2-473B-A47A06CE9C54}"/>
              </a:ext>
            </a:extLst>
          </p:cNvPr>
          <p:cNvSpPr txBox="1"/>
          <p:nvPr/>
        </p:nvSpPr>
        <p:spPr>
          <a:xfrm>
            <a:off x="1412158" y="348288"/>
            <a:ext cx="609845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body: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child: Row(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mainAxisAlignment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MainAxisAlignment.spaceEvenly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children: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Icon(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Icons.home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Text('Home'),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Icon(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Icons.settings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],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),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),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),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AB6C8-4764-BDEC-6F5B-C57E90FD4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1" y="1244484"/>
            <a:ext cx="5029200" cy="35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00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Column Widget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931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200" dirty="0"/>
              <a:t>Column places its child widgets from top to bottom.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200" dirty="0"/>
              <a:t>Useful for forms, login pages, profile screens, and vertical menus.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200" dirty="0"/>
              <a:t>Important properties:</a:t>
            </a:r>
          </a:p>
          <a:p>
            <a:pPr lvl="1"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children – list of widgets arranged vertically</a:t>
            </a:r>
          </a:p>
          <a:p>
            <a:pPr lvl="1"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mainAxisAlignment – controls vertical distribution</a:t>
            </a:r>
          </a:p>
          <a:p>
            <a:pPr lvl="1"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crossAxisAlignment – controls horizontal alignment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025" y="2710741"/>
            <a:ext cx="2695575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1819275"/>
            <a:ext cx="1149667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30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481137"/>
            <a:ext cx="70866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75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3139" y="6400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Column –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881360" cy="5029200"/>
          </a:xfrm>
          <a:prstGeom prst="roundRect">
            <a:avLst/>
          </a:prstGeom>
          <a:solidFill>
            <a:srgbClr val="EBF2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 sz="1700">
                <a:solidFill>
                  <a:srgbClr val="282828"/>
                </a:solidFill>
                <a:latin typeface="Consolas"/>
              </a:defRPr>
            </a:pPr>
            <a:r>
              <a:rPr sz="2400" dirty="0"/>
              <a:t>Column(</a:t>
            </a:r>
            <a:br>
              <a:rPr sz="2400" dirty="0"/>
            </a:br>
            <a:r>
              <a:rPr sz="2400" dirty="0"/>
              <a:t>  mainAxisAlignment: </a:t>
            </a:r>
            <a:r>
              <a:rPr sz="2400" dirty="0" err="1"/>
              <a:t>MainAxisAlignment.center</a:t>
            </a:r>
            <a:r>
              <a:rPr sz="2400" dirty="0"/>
              <a:t>,</a:t>
            </a:r>
            <a:br>
              <a:rPr sz="2400" dirty="0"/>
            </a:br>
            <a:r>
              <a:rPr sz="2400" dirty="0"/>
              <a:t>  crossAxisAlignment: </a:t>
            </a:r>
            <a:r>
              <a:rPr sz="2400" dirty="0" err="1"/>
              <a:t>CrossAxisAlignment.center</a:t>
            </a:r>
            <a:r>
              <a:rPr sz="2400" dirty="0"/>
              <a:t>,</a:t>
            </a:r>
            <a:br>
              <a:rPr sz="2400" dirty="0"/>
            </a:br>
            <a:r>
              <a:rPr sz="2400" dirty="0"/>
              <a:t>  children: [</a:t>
            </a:r>
            <a:br>
              <a:rPr sz="2400" dirty="0"/>
            </a:br>
            <a:r>
              <a:rPr sz="2400" dirty="0"/>
              <a:t>    Text('Welcome to MGIT'),</a:t>
            </a:r>
            <a:br>
              <a:rPr sz="2400" dirty="0"/>
            </a:br>
            <a:r>
              <a:rPr sz="2400" dirty="0"/>
              <a:t>    Text('UI Design Flutter'),</a:t>
            </a:r>
            <a:br>
              <a:rPr sz="2400" dirty="0"/>
            </a:br>
            <a:r>
              <a:rPr sz="2400" dirty="0"/>
              <a:t>    </a:t>
            </a:r>
            <a:r>
              <a:rPr sz="2400" dirty="0" err="1"/>
              <a:t>ElevatedButton</a:t>
            </a:r>
            <a:r>
              <a:rPr sz="2400" dirty="0"/>
              <a:t>(</a:t>
            </a:r>
            <a:br>
              <a:rPr sz="2400" dirty="0"/>
            </a:br>
            <a:r>
              <a:rPr sz="2400" dirty="0"/>
              <a:t>      </a:t>
            </a:r>
            <a:r>
              <a:rPr sz="2400" dirty="0" err="1"/>
              <a:t>onPressed</a:t>
            </a:r>
            <a:r>
              <a:rPr sz="2400" dirty="0"/>
              <a:t>: () {},</a:t>
            </a:r>
            <a:br>
              <a:rPr sz="2400" dirty="0"/>
            </a:br>
            <a:r>
              <a:rPr sz="2400" dirty="0"/>
              <a:t>      child: Text('Start'),</a:t>
            </a:r>
            <a:br>
              <a:rPr sz="2400" dirty="0"/>
            </a:br>
            <a:r>
              <a:rPr sz="2400" dirty="0"/>
              <a:t>    ),</a:t>
            </a:r>
            <a:br>
              <a:rPr sz="2400" dirty="0"/>
            </a:br>
            <a:r>
              <a:rPr sz="2400" dirty="0"/>
              <a:t>  ],</a:t>
            </a:r>
            <a:br>
              <a:rPr sz="2400" dirty="0"/>
            </a:br>
            <a:r>
              <a:rPr sz="2400" dirty="0"/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F70064-63FE-BEF0-4B91-1E7435ADF4FE}"/>
              </a:ext>
            </a:extLst>
          </p:cNvPr>
          <p:cNvSpPr txBox="1"/>
          <p:nvPr/>
        </p:nvSpPr>
        <p:spPr>
          <a:xfrm>
            <a:off x="598714" y="381000"/>
            <a:ext cx="77288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'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package:flutter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material.dart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main()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runApp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StatelessWidget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super.key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@override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Widget build(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BuildContext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context)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MaterialApp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debugShowCheckedModeBanner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false,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home: Scaffold(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appBar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AppBar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title: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Text('Column Widget'),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),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8E7FD3-ADC3-BA5E-AEF3-98A1E3C1D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14" y="1168284"/>
            <a:ext cx="5399314" cy="45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1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3EF176-0465-8830-94F6-0339F0EBC4E3}"/>
              </a:ext>
            </a:extLst>
          </p:cNvPr>
          <p:cNvSpPr txBox="1"/>
          <p:nvPr/>
        </p:nvSpPr>
        <p:spPr>
          <a:xfrm>
            <a:off x="1043448" y="415297"/>
            <a:ext cx="6098458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body: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child: Column(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mainAxisAlignment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MainAxisAlignment.center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crossAxisAlignment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CrossAxisAlignment.center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children: [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Text('Welcome to MGIT'),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Text('UI Design Flutter'),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ElevatedButton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onPressed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print('Start button clicked');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},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child: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Text('Start'),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),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],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),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),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),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B95F6-2F9A-483E-9E1F-979E6493A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14" y="1168284"/>
            <a:ext cx="5399314" cy="45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33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2412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MainAxisAlignment and CrossAxisAlignment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59339"/>
            <a:ext cx="107899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2800" dirty="0"/>
              <a:t>mainAxisAlignment controls alignment along the widget's main direction.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2800" dirty="0"/>
              <a:t>For Row: main axis = horizontal.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2800" dirty="0"/>
              <a:t>For Column: main axis = vertical.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2800" dirty="0"/>
              <a:t>crossAxisAlignment controls alignment perpendicular to the main axis.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2800" dirty="0"/>
              <a:t>Common values: start, center, end, </a:t>
            </a:r>
            <a:r>
              <a:rPr sz="2800" dirty="0" err="1"/>
              <a:t>spaceBetween</a:t>
            </a:r>
            <a:r>
              <a:rPr sz="2800" dirty="0"/>
              <a:t>, </a:t>
            </a:r>
            <a:r>
              <a:rPr sz="2800" dirty="0" err="1"/>
              <a:t>spaceAround</a:t>
            </a:r>
            <a:r>
              <a:rPr sz="2800" dirty="0"/>
              <a:t>, </a:t>
            </a:r>
            <a:r>
              <a:rPr sz="2800" dirty="0" err="1"/>
              <a:t>spaceEvenly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8231" y="6400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Stack Widget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2162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2800" dirty="0"/>
              <a:t>Stack places widgets one above another.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2800" dirty="0"/>
              <a:t>The first child is at the back; later children appear above it.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2800" dirty="0"/>
              <a:t>Useful for image overlays, badges, profile pictures and floating labels.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2800" dirty="0"/>
              <a:t>Positioned can be used to control the location of a child inside a Stack.</a:t>
            </a:r>
          </a:p>
        </p:txBody>
      </p:sp>
      <p:pic>
        <p:nvPicPr>
          <p:cNvPr id="5" name="Picture 2" descr="https://miro.medium.com/max/2158/1*nBy6N5JO_FDGRkF9pZDE2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94" b="15567"/>
          <a:stretch/>
        </p:blipFill>
        <p:spPr bwMode="auto">
          <a:xfrm>
            <a:off x="4056993" y="3396570"/>
            <a:ext cx="3513083" cy="293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7823" y="634089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Stack –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76324" y="1228449"/>
            <a:ext cx="8450242" cy="5029200"/>
          </a:xfrm>
          <a:prstGeom prst="roundRect">
            <a:avLst/>
          </a:prstGeom>
          <a:solidFill>
            <a:srgbClr val="EBF2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 sz="1700">
                <a:solidFill>
                  <a:srgbClr val="282828"/>
                </a:solidFill>
                <a:latin typeface="Consolas"/>
              </a:defRPr>
            </a:pPr>
            <a:r>
              <a:rPr sz="2400" dirty="0"/>
              <a:t>Stack(</a:t>
            </a:r>
            <a:br>
              <a:rPr sz="2400" dirty="0"/>
            </a:br>
            <a:r>
              <a:rPr sz="2400" dirty="0"/>
              <a:t>  children: [</a:t>
            </a:r>
            <a:br>
              <a:rPr sz="2400" dirty="0"/>
            </a:br>
            <a:r>
              <a:rPr sz="2400" dirty="0"/>
              <a:t>    </a:t>
            </a:r>
            <a:r>
              <a:rPr sz="2400" dirty="0" err="1"/>
              <a:t>Image.network</a:t>
            </a:r>
            <a:r>
              <a:rPr sz="2400" dirty="0"/>
              <a:t>('</a:t>
            </a:r>
            <a:r>
              <a:rPr sz="2400" dirty="0" err="1"/>
              <a:t>image_url</a:t>
            </a:r>
            <a:r>
              <a:rPr sz="2400" dirty="0"/>
              <a:t>'),</a:t>
            </a:r>
            <a:br>
              <a:rPr sz="2400" dirty="0"/>
            </a:br>
            <a:r>
              <a:rPr sz="2400" dirty="0"/>
              <a:t>    Positioned(</a:t>
            </a:r>
            <a:br>
              <a:rPr sz="2400" dirty="0"/>
            </a:br>
            <a:r>
              <a:rPr sz="2400" dirty="0"/>
              <a:t>      bottom: 10,</a:t>
            </a:r>
            <a:br>
              <a:rPr sz="2400" dirty="0"/>
            </a:br>
            <a:r>
              <a:rPr sz="2400" dirty="0"/>
              <a:t>      left: 10,</a:t>
            </a:r>
            <a:br>
              <a:rPr sz="2400" dirty="0"/>
            </a:br>
            <a:r>
              <a:rPr sz="2400" dirty="0"/>
              <a:t>      child: Text(</a:t>
            </a:r>
            <a:br>
              <a:rPr sz="2400" dirty="0"/>
            </a:br>
            <a:r>
              <a:rPr sz="2400" dirty="0"/>
              <a:t>        'MGIT',</a:t>
            </a:r>
            <a:br>
              <a:rPr sz="2400" dirty="0"/>
            </a:br>
            <a:r>
              <a:rPr sz="2400" dirty="0"/>
              <a:t>        style: TextStyle(color: </a:t>
            </a:r>
            <a:r>
              <a:rPr sz="2400" dirty="0" err="1"/>
              <a:t>Colors.white</a:t>
            </a:r>
            <a:r>
              <a:rPr sz="2400" dirty="0"/>
              <a:t>),</a:t>
            </a:r>
            <a:br>
              <a:rPr sz="2400" dirty="0"/>
            </a:br>
            <a:r>
              <a:rPr sz="2400" dirty="0"/>
              <a:t>      ),</a:t>
            </a:r>
            <a:br>
              <a:rPr sz="2400" dirty="0"/>
            </a:br>
            <a:r>
              <a:rPr sz="2400" dirty="0"/>
              <a:t>    ),</a:t>
            </a:r>
            <a:br>
              <a:rPr sz="2400" dirty="0"/>
            </a:br>
            <a:r>
              <a:rPr sz="2400" dirty="0"/>
              <a:t>  ],</a:t>
            </a:r>
            <a:br>
              <a:rPr sz="2400" dirty="0"/>
            </a:br>
            <a:r>
              <a:rPr sz="2400" dirty="0"/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56C9DA-42B0-A3B0-8FF9-8C85C0568B42}"/>
              </a:ext>
            </a:extLst>
          </p:cNvPr>
          <p:cNvSpPr txBox="1"/>
          <p:nvPr/>
        </p:nvSpPr>
        <p:spPr>
          <a:xfrm>
            <a:off x="566057" y="86486"/>
            <a:ext cx="440871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'</a:t>
            </a:r>
            <a:r>
              <a:rPr lang="en-IN" dirty="0" err="1"/>
              <a:t>package:flutter</a:t>
            </a:r>
            <a:r>
              <a:rPr lang="en-IN" dirty="0"/>
              <a:t>/</a:t>
            </a:r>
            <a:r>
              <a:rPr lang="en-IN" dirty="0" err="1"/>
              <a:t>material.dart</a:t>
            </a:r>
            <a:r>
              <a:rPr lang="en-IN" dirty="0"/>
              <a:t>';</a:t>
            </a:r>
          </a:p>
          <a:p>
            <a:r>
              <a:rPr lang="en-IN" dirty="0"/>
              <a:t>void main() {</a:t>
            </a:r>
          </a:p>
          <a:p>
            <a:r>
              <a:rPr lang="en-IN" dirty="0"/>
              <a:t>  </a:t>
            </a:r>
            <a:r>
              <a:rPr lang="en-IN" dirty="0" err="1"/>
              <a:t>runApp</a:t>
            </a:r>
            <a:r>
              <a:rPr lang="en-IN" dirty="0"/>
              <a:t>(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MyApp</a:t>
            </a:r>
            <a:r>
              <a:rPr lang="en-IN" dirty="0"/>
              <a:t>());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class </a:t>
            </a:r>
            <a:r>
              <a:rPr lang="en-IN" dirty="0" err="1"/>
              <a:t>MyApp</a:t>
            </a:r>
            <a:r>
              <a:rPr lang="en-IN" dirty="0"/>
              <a:t> extends </a:t>
            </a:r>
            <a:r>
              <a:rPr lang="en-IN" dirty="0" err="1"/>
              <a:t>StatelessWidget</a:t>
            </a:r>
            <a:r>
              <a:rPr lang="en-IN" dirty="0"/>
              <a:t> {</a:t>
            </a:r>
          </a:p>
          <a:p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MyApp</a:t>
            </a:r>
            <a:r>
              <a:rPr lang="en-IN" dirty="0"/>
              <a:t>({</a:t>
            </a:r>
            <a:r>
              <a:rPr lang="en-IN" dirty="0" err="1"/>
              <a:t>super.key</a:t>
            </a:r>
            <a:r>
              <a:rPr lang="en-IN" dirty="0"/>
              <a:t>});</a:t>
            </a:r>
          </a:p>
          <a:p>
            <a:endParaRPr lang="en-IN" dirty="0"/>
          </a:p>
          <a:p>
            <a:r>
              <a:rPr lang="en-IN" dirty="0"/>
              <a:t>  @override</a:t>
            </a:r>
          </a:p>
          <a:p>
            <a:r>
              <a:rPr lang="en-IN" dirty="0"/>
              <a:t>  Widget build(</a:t>
            </a:r>
            <a:r>
              <a:rPr lang="en-IN" dirty="0" err="1"/>
              <a:t>BuildContext</a:t>
            </a:r>
            <a:r>
              <a:rPr lang="en-IN" dirty="0"/>
              <a:t> context) {</a:t>
            </a:r>
          </a:p>
          <a:p>
            <a:r>
              <a:rPr lang="en-IN" dirty="0"/>
              <a:t>    return </a:t>
            </a:r>
            <a:r>
              <a:rPr lang="en-IN" dirty="0" err="1"/>
              <a:t>MaterialApp</a:t>
            </a:r>
            <a:r>
              <a:rPr lang="en-IN" dirty="0"/>
              <a:t>(</a:t>
            </a:r>
          </a:p>
          <a:p>
            <a:r>
              <a:rPr lang="en-IN" dirty="0"/>
              <a:t>      home: Scaffold(</a:t>
            </a:r>
          </a:p>
          <a:p>
            <a:r>
              <a:rPr lang="en-IN" dirty="0"/>
              <a:t>        </a:t>
            </a:r>
            <a:r>
              <a:rPr lang="en-IN" dirty="0" err="1"/>
              <a:t>appBar</a:t>
            </a:r>
            <a:r>
              <a:rPr lang="en-IN" dirty="0"/>
              <a:t>: </a:t>
            </a:r>
            <a:r>
              <a:rPr lang="en-IN" dirty="0" err="1"/>
              <a:t>AppBar</a:t>
            </a:r>
            <a:r>
              <a:rPr lang="en-IN" dirty="0"/>
              <a:t>(</a:t>
            </a:r>
          </a:p>
          <a:p>
            <a:r>
              <a:rPr lang="en-IN" dirty="0"/>
              <a:t>          title: </a:t>
            </a:r>
            <a:r>
              <a:rPr lang="en-IN" dirty="0" err="1"/>
              <a:t>const</a:t>
            </a:r>
            <a:r>
              <a:rPr lang="en-IN" dirty="0"/>
              <a:t> Text('Stack Widget'),</a:t>
            </a:r>
          </a:p>
          <a:p>
            <a:r>
              <a:rPr lang="en-IN" dirty="0"/>
              <a:t>        ),</a:t>
            </a:r>
          </a:p>
          <a:p>
            <a:r>
              <a:rPr lang="en-IN" dirty="0"/>
              <a:t>        body: </a:t>
            </a:r>
            <a:r>
              <a:rPr lang="en-IN" dirty="0" err="1"/>
              <a:t>Center</a:t>
            </a:r>
            <a:r>
              <a:rPr lang="en-IN" dirty="0"/>
              <a:t>(</a:t>
            </a:r>
          </a:p>
          <a:p>
            <a:r>
              <a:rPr lang="en-IN" dirty="0"/>
              <a:t>          child: Stack(</a:t>
            </a:r>
          </a:p>
          <a:p>
            <a:r>
              <a:rPr lang="en-IN" dirty="0"/>
              <a:t>            children: [</a:t>
            </a:r>
          </a:p>
          <a:p>
            <a:r>
              <a:rPr lang="en-IN" dirty="0"/>
              <a:t>              </a:t>
            </a:r>
            <a:r>
              <a:rPr lang="en-IN" dirty="0" err="1"/>
              <a:t>Image.network</a:t>
            </a:r>
            <a:r>
              <a:rPr lang="en-IN" dirty="0"/>
              <a:t>(</a:t>
            </a:r>
          </a:p>
          <a:p>
            <a:r>
              <a:rPr lang="en-IN" dirty="0"/>
              <a:t>                'https://picsum.photos/300/200',</a:t>
            </a:r>
          </a:p>
          <a:p>
            <a:r>
              <a:rPr lang="en-IN" dirty="0"/>
              <a:t>                width: 300,</a:t>
            </a:r>
          </a:p>
          <a:p>
            <a:r>
              <a:rPr lang="en-IN" dirty="0"/>
              <a:t>                height: 200,</a:t>
            </a:r>
          </a:p>
          <a:p>
            <a:r>
              <a:rPr lang="en-IN" dirty="0"/>
              <a:t>                fit: </a:t>
            </a:r>
            <a:r>
              <a:rPr lang="en-IN" dirty="0" err="1"/>
              <a:t>BoxFit.cover</a:t>
            </a:r>
            <a:r>
              <a:rPr lang="en-IN" dirty="0"/>
              <a:t>,</a:t>
            </a:r>
          </a:p>
          <a:p>
            <a:r>
              <a:rPr lang="en-IN" dirty="0"/>
              <a:t>              ),</a:t>
            </a:r>
          </a:p>
          <a:p>
            <a:r>
              <a:rPr lang="en-IN" dirty="0"/>
              <a:t>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EFD10-1B64-3C1D-7E30-5FD7B66DA0C0}"/>
              </a:ext>
            </a:extLst>
          </p:cNvPr>
          <p:cNvSpPr txBox="1"/>
          <p:nvPr/>
        </p:nvSpPr>
        <p:spPr>
          <a:xfrm>
            <a:off x="6878018" y="110945"/>
            <a:ext cx="4408712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/>
              <a:t>const</a:t>
            </a:r>
            <a:r>
              <a:rPr lang="en-IN" sz="2400" dirty="0"/>
              <a:t> Positioned(</a:t>
            </a:r>
          </a:p>
          <a:p>
            <a:r>
              <a:rPr lang="en-IN" sz="2400" dirty="0"/>
              <a:t>                bottom: 10,</a:t>
            </a:r>
          </a:p>
          <a:p>
            <a:r>
              <a:rPr lang="en-IN" sz="2400" dirty="0"/>
              <a:t>                left: 10,</a:t>
            </a:r>
          </a:p>
          <a:p>
            <a:r>
              <a:rPr lang="en-IN" sz="2400" dirty="0"/>
              <a:t>                child: Text(</a:t>
            </a:r>
          </a:p>
          <a:p>
            <a:r>
              <a:rPr lang="en-IN" sz="2400" dirty="0"/>
              <a:t>                  'MGIT',</a:t>
            </a:r>
          </a:p>
          <a:p>
            <a:r>
              <a:rPr lang="en-IN" sz="2400" dirty="0"/>
              <a:t>                  style: TextStyle(</a:t>
            </a:r>
          </a:p>
          <a:p>
            <a:r>
              <a:rPr lang="en-IN" sz="2400" dirty="0"/>
              <a:t>                    </a:t>
            </a:r>
            <a:r>
              <a:rPr lang="en-IN" sz="2400" dirty="0" err="1"/>
              <a:t>color</a:t>
            </a:r>
            <a:r>
              <a:rPr lang="en-IN" sz="2400" dirty="0"/>
              <a:t>: </a:t>
            </a:r>
            <a:r>
              <a:rPr lang="en-IN" sz="2400" dirty="0" err="1"/>
              <a:t>Colors.white</a:t>
            </a:r>
            <a:r>
              <a:rPr lang="en-IN" sz="2400" dirty="0"/>
              <a:t>,</a:t>
            </a:r>
          </a:p>
          <a:p>
            <a:r>
              <a:rPr lang="en-IN" sz="2400" dirty="0"/>
              <a:t>                    </a:t>
            </a:r>
            <a:r>
              <a:rPr lang="en-IN" sz="2400" dirty="0" err="1"/>
              <a:t>fontSize</a:t>
            </a:r>
            <a:r>
              <a:rPr lang="en-IN" sz="2400" dirty="0"/>
              <a:t>: 24,</a:t>
            </a:r>
          </a:p>
          <a:p>
            <a:r>
              <a:rPr lang="en-IN" sz="2400" dirty="0"/>
              <a:t>                    </a:t>
            </a:r>
            <a:r>
              <a:rPr lang="en-IN" sz="2400" dirty="0" err="1"/>
              <a:t>fontWeight</a:t>
            </a:r>
            <a:r>
              <a:rPr lang="en-IN" sz="2400" dirty="0"/>
              <a:t>: </a:t>
            </a:r>
            <a:r>
              <a:rPr lang="en-IN" sz="2400" dirty="0" err="1"/>
              <a:t>FontWeight.bold</a:t>
            </a:r>
            <a:r>
              <a:rPr lang="en-IN" sz="2400" dirty="0"/>
              <a:t>,</a:t>
            </a:r>
          </a:p>
          <a:p>
            <a:r>
              <a:rPr lang="en-IN" sz="2400" dirty="0"/>
              <a:t>                  ),</a:t>
            </a:r>
          </a:p>
          <a:p>
            <a:r>
              <a:rPr lang="en-IN" sz="2400" dirty="0"/>
              <a:t>                ),</a:t>
            </a:r>
          </a:p>
          <a:p>
            <a:r>
              <a:rPr lang="en-IN" sz="2400" dirty="0"/>
              <a:t>              ),</a:t>
            </a:r>
          </a:p>
          <a:p>
            <a:r>
              <a:rPr lang="en-IN" sz="2400" dirty="0"/>
              <a:t>            ],</a:t>
            </a:r>
          </a:p>
          <a:p>
            <a:r>
              <a:rPr lang="en-IN" sz="2400" dirty="0"/>
              <a:t>          ),</a:t>
            </a:r>
          </a:p>
          <a:p>
            <a:r>
              <a:rPr lang="en-IN" sz="2400" dirty="0"/>
              <a:t>        ),</a:t>
            </a:r>
          </a:p>
          <a:p>
            <a:r>
              <a:rPr lang="en-IN" sz="2400" dirty="0"/>
              <a:t>      ),</a:t>
            </a:r>
          </a:p>
          <a:p>
            <a:r>
              <a:rPr lang="en-IN" sz="2400" dirty="0"/>
              <a:t>    );</a:t>
            </a:r>
          </a:p>
          <a:p>
            <a:r>
              <a:rPr lang="en-IN" sz="2400" dirty="0"/>
              <a:t>  }</a:t>
            </a:r>
          </a:p>
          <a:p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8060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1CB9E-494D-699D-121A-A3C4C639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172" y="729343"/>
            <a:ext cx="7271657" cy="539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87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6320" y="937997"/>
            <a:ext cx="72972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3200" dirty="0"/>
              <a:t>Combined Layout – Row + Column +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284" y="1973368"/>
            <a:ext cx="10789920" cy="343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200" dirty="0"/>
              <a:t>Real applications normally combine multiple layout widgets.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200" dirty="0"/>
              <a:t>Example structure:</a:t>
            </a:r>
          </a:p>
          <a:p>
            <a:pPr lvl="1"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Column – main vertical structure</a:t>
            </a:r>
          </a:p>
          <a:p>
            <a:pPr lvl="1"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Row – horizontal group of actions</a:t>
            </a:r>
          </a:p>
          <a:p>
            <a:pPr lvl="1">
              <a:spcAft>
                <a:spcPts val="9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Stack – image with text/icon overlay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200" dirty="0"/>
              <a:t>Practice: design a simple student profile screen using all three.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FD90F3-0291-9465-9F44-5265245689F7}"/>
              </a:ext>
            </a:extLst>
          </p:cNvPr>
          <p:cNvSpPr txBox="1"/>
          <p:nvPr/>
        </p:nvSpPr>
        <p:spPr>
          <a:xfrm>
            <a:off x="537340" y="132202"/>
            <a:ext cx="398810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import '</a:t>
            </a:r>
            <a:r>
              <a:rPr lang="en-IN" sz="2000" dirty="0" err="1"/>
              <a:t>package:flutter</a:t>
            </a:r>
            <a:r>
              <a:rPr lang="en-IN" sz="2000" dirty="0"/>
              <a:t>/</a:t>
            </a:r>
            <a:r>
              <a:rPr lang="en-IN" sz="2000" dirty="0" err="1"/>
              <a:t>material.dart</a:t>
            </a:r>
            <a:r>
              <a:rPr lang="en-IN" sz="2000" dirty="0"/>
              <a:t>';</a:t>
            </a:r>
          </a:p>
          <a:p>
            <a:endParaRPr lang="en-IN" sz="2000" dirty="0"/>
          </a:p>
          <a:p>
            <a:r>
              <a:rPr lang="en-IN" sz="2000" dirty="0"/>
              <a:t>void main() {</a:t>
            </a:r>
          </a:p>
          <a:p>
            <a:r>
              <a:rPr lang="en-IN" sz="2000" dirty="0"/>
              <a:t>  </a:t>
            </a:r>
            <a:r>
              <a:rPr lang="en-IN" sz="2000" dirty="0" err="1"/>
              <a:t>runApp</a:t>
            </a:r>
            <a:r>
              <a:rPr lang="en-IN" sz="2000" dirty="0"/>
              <a:t>(</a:t>
            </a:r>
            <a:r>
              <a:rPr lang="en-IN" sz="2000" dirty="0" err="1"/>
              <a:t>const</a:t>
            </a:r>
            <a:r>
              <a:rPr lang="en-IN" sz="2000" dirty="0"/>
              <a:t> </a:t>
            </a:r>
            <a:r>
              <a:rPr lang="en-IN" sz="2000" dirty="0" err="1"/>
              <a:t>MyApp</a:t>
            </a:r>
            <a:r>
              <a:rPr lang="en-IN" sz="2000" dirty="0"/>
              <a:t>());</a:t>
            </a:r>
          </a:p>
          <a:p>
            <a:r>
              <a:rPr lang="en-IN" sz="2000" dirty="0"/>
              <a:t>}</a:t>
            </a:r>
          </a:p>
          <a:p>
            <a:r>
              <a:rPr lang="en-IN" sz="2000" dirty="0"/>
              <a:t>class </a:t>
            </a:r>
            <a:r>
              <a:rPr lang="en-IN" sz="2000" dirty="0" err="1"/>
              <a:t>MyApp</a:t>
            </a:r>
            <a:r>
              <a:rPr lang="en-IN" sz="2000" dirty="0"/>
              <a:t> extends </a:t>
            </a:r>
            <a:r>
              <a:rPr lang="en-IN" sz="2000" dirty="0" err="1"/>
              <a:t>StatelessWidget</a:t>
            </a:r>
            <a:r>
              <a:rPr lang="en-IN" sz="2000" dirty="0"/>
              <a:t> {</a:t>
            </a:r>
          </a:p>
          <a:p>
            <a:r>
              <a:rPr lang="en-IN" sz="2000" dirty="0"/>
              <a:t>  </a:t>
            </a:r>
            <a:r>
              <a:rPr lang="en-IN" sz="2000" dirty="0" err="1"/>
              <a:t>const</a:t>
            </a:r>
            <a:r>
              <a:rPr lang="en-IN" sz="2000" dirty="0"/>
              <a:t> </a:t>
            </a:r>
            <a:r>
              <a:rPr lang="en-IN" sz="2000" dirty="0" err="1"/>
              <a:t>MyApp</a:t>
            </a:r>
            <a:r>
              <a:rPr lang="en-IN" sz="2000" dirty="0"/>
              <a:t>({</a:t>
            </a:r>
            <a:r>
              <a:rPr lang="en-IN" sz="2000" dirty="0" err="1"/>
              <a:t>super.key</a:t>
            </a:r>
            <a:r>
              <a:rPr lang="en-IN" sz="2000" dirty="0"/>
              <a:t>});</a:t>
            </a:r>
          </a:p>
          <a:p>
            <a:r>
              <a:rPr lang="en-IN" sz="2000" dirty="0"/>
              <a:t>  @override</a:t>
            </a:r>
          </a:p>
          <a:p>
            <a:r>
              <a:rPr lang="en-IN" sz="2000" dirty="0"/>
              <a:t>  Widget build(</a:t>
            </a:r>
            <a:r>
              <a:rPr lang="en-IN" sz="2000" dirty="0" err="1"/>
              <a:t>BuildContext</a:t>
            </a:r>
            <a:r>
              <a:rPr lang="en-IN" sz="2000" dirty="0"/>
              <a:t> context) {</a:t>
            </a:r>
          </a:p>
          <a:p>
            <a:r>
              <a:rPr lang="en-IN" sz="2000" dirty="0"/>
              <a:t>    return </a:t>
            </a:r>
            <a:r>
              <a:rPr lang="en-IN" sz="2000" dirty="0" err="1"/>
              <a:t>MaterialApp</a:t>
            </a:r>
            <a:r>
              <a:rPr lang="en-IN" sz="2000" dirty="0"/>
              <a:t>(</a:t>
            </a:r>
          </a:p>
          <a:p>
            <a:r>
              <a:rPr lang="en-IN" sz="2000" dirty="0"/>
              <a:t>      home: Scaffold(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appBar</a:t>
            </a:r>
            <a:r>
              <a:rPr lang="en-IN" sz="2000" dirty="0"/>
              <a:t>: </a:t>
            </a:r>
            <a:r>
              <a:rPr lang="en-IN" sz="2000" dirty="0" err="1"/>
              <a:t>AppBar</a:t>
            </a:r>
            <a:r>
              <a:rPr lang="en-IN" sz="2000" dirty="0"/>
              <a:t>(</a:t>
            </a:r>
          </a:p>
          <a:p>
            <a:r>
              <a:rPr lang="en-IN" sz="2000" dirty="0"/>
              <a:t>          title: </a:t>
            </a:r>
            <a:r>
              <a:rPr lang="en-IN" sz="2000" dirty="0" err="1"/>
              <a:t>const</a:t>
            </a:r>
            <a:r>
              <a:rPr lang="en-IN" sz="2000" dirty="0"/>
              <a:t> Text('Combined Layout'),</a:t>
            </a:r>
          </a:p>
          <a:p>
            <a:r>
              <a:rPr lang="en-IN" sz="2000" dirty="0"/>
              <a:t>        ),</a:t>
            </a:r>
          </a:p>
          <a:p>
            <a:r>
              <a:rPr lang="en-IN" sz="2000" dirty="0"/>
              <a:t>        body: Column(</a:t>
            </a:r>
          </a:p>
          <a:p>
            <a:r>
              <a:rPr lang="en-IN" sz="2000" dirty="0"/>
              <a:t>          children: [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E87C5-4C1B-8D26-9220-0339740FF3E5}"/>
              </a:ext>
            </a:extLst>
          </p:cNvPr>
          <p:cNvSpPr txBox="1"/>
          <p:nvPr/>
        </p:nvSpPr>
        <p:spPr>
          <a:xfrm>
            <a:off x="6096000" y="132202"/>
            <a:ext cx="438471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// Stack: Text over Image</a:t>
            </a:r>
          </a:p>
          <a:p>
            <a:r>
              <a:rPr lang="en-IN" dirty="0"/>
              <a:t>            Stack(</a:t>
            </a:r>
          </a:p>
          <a:p>
            <a:r>
              <a:rPr lang="en-IN" dirty="0"/>
              <a:t>              children: [</a:t>
            </a:r>
          </a:p>
          <a:p>
            <a:r>
              <a:rPr lang="en-IN" dirty="0"/>
              <a:t>                </a:t>
            </a:r>
            <a:r>
              <a:rPr lang="en-IN" dirty="0" err="1"/>
              <a:t>Image.network</a:t>
            </a:r>
            <a:r>
              <a:rPr lang="en-IN" dirty="0"/>
              <a:t>(</a:t>
            </a:r>
          </a:p>
          <a:p>
            <a:r>
              <a:rPr lang="en-IN" dirty="0"/>
              <a:t>                  'https://picsum.photos/400/200',</a:t>
            </a:r>
          </a:p>
          <a:p>
            <a:r>
              <a:rPr lang="en-IN" dirty="0"/>
              <a:t>                  width: </a:t>
            </a:r>
            <a:r>
              <a:rPr lang="en-IN" dirty="0" err="1"/>
              <a:t>double.infinity</a:t>
            </a:r>
            <a:r>
              <a:rPr lang="en-IN" dirty="0"/>
              <a:t>,</a:t>
            </a:r>
          </a:p>
          <a:p>
            <a:r>
              <a:rPr lang="en-IN" dirty="0"/>
              <a:t>                  height: 200,</a:t>
            </a:r>
          </a:p>
          <a:p>
            <a:r>
              <a:rPr lang="en-IN" dirty="0"/>
              <a:t>                  fit: </a:t>
            </a:r>
            <a:r>
              <a:rPr lang="en-IN" dirty="0" err="1"/>
              <a:t>BoxFit.cover</a:t>
            </a:r>
            <a:r>
              <a:rPr lang="en-IN" dirty="0"/>
              <a:t>,</a:t>
            </a:r>
          </a:p>
          <a:p>
            <a:r>
              <a:rPr lang="en-IN" dirty="0"/>
              <a:t>                ),</a:t>
            </a:r>
          </a:p>
          <a:p>
            <a:r>
              <a:rPr lang="en-IN" dirty="0"/>
              <a:t>                </a:t>
            </a:r>
            <a:r>
              <a:rPr lang="en-IN" dirty="0" err="1"/>
              <a:t>const</a:t>
            </a:r>
            <a:r>
              <a:rPr lang="en-IN" dirty="0"/>
              <a:t> Positioned(</a:t>
            </a:r>
          </a:p>
          <a:p>
            <a:r>
              <a:rPr lang="en-IN" dirty="0"/>
              <a:t>                  bottom: 10,</a:t>
            </a:r>
          </a:p>
          <a:p>
            <a:r>
              <a:rPr lang="en-IN" dirty="0"/>
              <a:t>                  left: 10,</a:t>
            </a:r>
          </a:p>
          <a:p>
            <a:r>
              <a:rPr lang="en-IN" dirty="0"/>
              <a:t>                  child: Text(</a:t>
            </a:r>
          </a:p>
          <a:p>
            <a:r>
              <a:rPr lang="en-IN" dirty="0"/>
              <a:t>                    'MGIT',</a:t>
            </a:r>
          </a:p>
          <a:p>
            <a:r>
              <a:rPr lang="en-IN" dirty="0"/>
              <a:t>                    style: TextStyle(</a:t>
            </a:r>
          </a:p>
          <a:p>
            <a:r>
              <a:rPr lang="en-IN" dirty="0"/>
              <a:t>                      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Colors.white</a:t>
            </a:r>
            <a:r>
              <a:rPr lang="en-IN" dirty="0"/>
              <a:t>,</a:t>
            </a:r>
          </a:p>
          <a:p>
            <a:r>
              <a:rPr lang="en-IN" dirty="0"/>
              <a:t>                      </a:t>
            </a:r>
            <a:r>
              <a:rPr lang="en-IN" dirty="0" err="1"/>
              <a:t>fontSize</a:t>
            </a:r>
            <a:r>
              <a:rPr lang="en-IN" dirty="0"/>
              <a:t>: 24,</a:t>
            </a:r>
          </a:p>
          <a:p>
            <a:r>
              <a:rPr lang="en-IN" dirty="0"/>
              <a:t>                      </a:t>
            </a:r>
            <a:r>
              <a:rPr lang="en-IN" dirty="0" err="1"/>
              <a:t>fontWeight</a:t>
            </a:r>
            <a:r>
              <a:rPr lang="en-IN" dirty="0"/>
              <a:t>: </a:t>
            </a:r>
            <a:r>
              <a:rPr lang="en-IN" dirty="0" err="1"/>
              <a:t>FontWeight.bold</a:t>
            </a:r>
            <a:r>
              <a:rPr lang="en-IN" dirty="0"/>
              <a:t>,</a:t>
            </a:r>
          </a:p>
          <a:p>
            <a:r>
              <a:rPr lang="en-IN" dirty="0"/>
              <a:t>                    ),</a:t>
            </a:r>
          </a:p>
          <a:p>
            <a:r>
              <a:rPr lang="en-IN" dirty="0"/>
              <a:t>                  ),</a:t>
            </a:r>
          </a:p>
          <a:p>
            <a:r>
              <a:rPr lang="en-IN" dirty="0"/>
              <a:t>                ),</a:t>
            </a:r>
          </a:p>
          <a:p>
            <a:r>
              <a:rPr lang="en-IN" dirty="0"/>
              <a:t>              ],</a:t>
            </a:r>
          </a:p>
          <a:p>
            <a:r>
              <a:rPr lang="en-IN" dirty="0"/>
              <a:t>            ),</a:t>
            </a:r>
          </a:p>
          <a:p>
            <a:r>
              <a:rPr lang="en-IN" dirty="0"/>
              <a:t>          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SizedBox</a:t>
            </a:r>
            <a:r>
              <a:rPr lang="en-IN" dirty="0"/>
              <a:t>(height: 20),</a:t>
            </a:r>
          </a:p>
        </p:txBody>
      </p:sp>
    </p:spTree>
    <p:extLst>
      <p:ext uri="{BB962C8B-B14F-4D97-AF65-F5344CB8AC3E}">
        <p14:creationId xmlns:p14="http://schemas.microsoft.com/office/powerpoint/2010/main" val="673174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84BEF1-0407-B87B-C042-AB95A7DABEF5}"/>
              </a:ext>
            </a:extLst>
          </p:cNvPr>
          <p:cNvSpPr txBox="1"/>
          <p:nvPr/>
        </p:nvSpPr>
        <p:spPr>
          <a:xfrm>
            <a:off x="249716" y="639053"/>
            <a:ext cx="649168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// Column: Text arranged vertically</a:t>
            </a:r>
          </a:p>
          <a:p>
            <a:r>
              <a:rPr lang="en-IN" sz="2400" dirty="0"/>
              <a:t>            </a:t>
            </a:r>
            <a:r>
              <a:rPr lang="en-IN" sz="2400" dirty="0" err="1"/>
              <a:t>const</a:t>
            </a:r>
            <a:r>
              <a:rPr lang="en-IN" sz="2400" dirty="0"/>
              <a:t> Column(</a:t>
            </a:r>
          </a:p>
          <a:p>
            <a:r>
              <a:rPr lang="en-IN" sz="2400" dirty="0"/>
              <a:t>              children: [</a:t>
            </a:r>
          </a:p>
          <a:p>
            <a:r>
              <a:rPr lang="en-IN" sz="2400" dirty="0"/>
              <a:t>                Text(</a:t>
            </a:r>
          </a:p>
          <a:p>
            <a:r>
              <a:rPr lang="en-IN" sz="2400" dirty="0"/>
              <a:t>                  'Welcome to MGIT',</a:t>
            </a:r>
          </a:p>
          <a:p>
            <a:r>
              <a:rPr lang="en-IN" sz="2400" dirty="0"/>
              <a:t>                  style: TextStyle(</a:t>
            </a:r>
          </a:p>
          <a:p>
            <a:r>
              <a:rPr lang="en-IN" sz="2400" dirty="0"/>
              <a:t>                    </a:t>
            </a:r>
            <a:r>
              <a:rPr lang="en-IN" sz="2400" dirty="0" err="1"/>
              <a:t>fontSize</a:t>
            </a:r>
            <a:r>
              <a:rPr lang="en-IN" sz="2400" dirty="0"/>
              <a:t>: 22,</a:t>
            </a:r>
          </a:p>
          <a:p>
            <a:r>
              <a:rPr lang="en-IN" sz="2400" dirty="0"/>
              <a:t>                    </a:t>
            </a:r>
            <a:r>
              <a:rPr lang="en-IN" sz="2400" dirty="0" err="1"/>
              <a:t>fontWeight</a:t>
            </a:r>
            <a:r>
              <a:rPr lang="en-IN" sz="2400" dirty="0"/>
              <a:t>: </a:t>
            </a:r>
            <a:r>
              <a:rPr lang="en-IN" sz="2400" dirty="0" err="1"/>
              <a:t>FontWeight.bold</a:t>
            </a:r>
            <a:r>
              <a:rPr lang="en-IN" sz="2400" dirty="0"/>
              <a:t>,</a:t>
            </a:r>
          </a:p>
          <a:p>
            <a:r>
              <a:rPr lang="en-IN" sz="2400" dirty="0"/>
              <a:t>                  ),</a:t>
            </a:r>
          </a:p>
          <a:p>
            <a:r>
              <a:rPr lang="en-IN" sz="2400" dirty="0"/>
              <a:t>                ),</a:t>
            </a:r>
          </a:p>
          <a:p>
            <a:r>
              <a:rPr lang="en-IN" sz="2400" dirty="0"/>
              <a:t>                Text('UI Design using Flutter'),</a:t>
            </a:r>
          </a:p>
          <a:p>
            <a:r>
              <a:rPr lang="en-IN" sz="2400" dirty="0"/>
              <a:t>              ],</a:t>
            </a:r>
          </a:p>
          <a:p>
            <a:r>
              <a:rPr lang="en-IN" sz="2400" dirty="0"/>
              <a:t>            ),</a:t>
            </a:r>
          </a:p>
          <a:p>
            <a:endParaRPr lang="en-IN" sz="2400" dirty="0"/>
          </a:p>
          <a:p>
            <a:r>
              <a:rPr lang="en-IN" sz="2400" dirty="0"/>
              <a:t>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A2C05-FE8D-4466-9507-80C2CC28A4D2}"/>
              </a:ext>
            </a:extLst>
          </p:cNvPr>
          <p:cNvSpPr txBox="1"/>
          <p:nvPr/>
        </p:nvSpPr>
        <p:spPr>
          <a:xfrm>
            <a:off x="5938092" y="615599"/>
            <a:ext cx="6004192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/>
              <a:t>const</a:t>
            </a:r>
            <a:r>
              <a:rPr lang="en-IN" sz="2400" dirty="0"/>
              <a:t> </a:t>
            </a:r>
            <a:r>
              <a:rPr lang="en-IN" sz="2400" dirty="0" err="1"/>
              <a:t>SizedBox</a:t>
            </a:r>
            <a:r>
              <a:rPr lang="en-IN" sz="2400" dirty="0"/>
              <a:t>(height: 20),</a:t>
            </a:r>
          </a:p>
          <a:p>
            <a:endParaRPr lang="en-IN" sz="2400" dirty="0"/>
          </a:p>
          <a:p>
            <a:r>
              <a:rPr lang="en-IN" sz="2400" dirty="0"/>
              <a:t>            // Row: Widgets arranged horizontally</a:t>
            </a:r>
          </a:p>
          <a:p>
            <a:r>
              <a:rPr lang="en-IN" sz="2400" dirty="0"/>
              <a:t>            Row(</a:t>
            </a:r>
          </a:p>
          <a:p>
            <a:r>
              <a:rPr lang="en-IN" sz="2400" dirty="0"/>
              <a:t>              </a:t>
            </a:r>
            <a:r>
              <a:rPr lang="en-IN" sz="2400" dirty="0" err="1"/>
              <a:t>mainAxisAlignment</a:t>
            </a:r>
            <a:r>
              <a:rPr lang="en-IN" sz="2400" dirty="0"/>
              <a:t>: </a:t>
            </a:r>
            <a:r>
              <a:rPr lang="en-IN" sz="2400" dirty="0" err="1"/>
              <a:t>MainAxisAlignment.spaceEvenly</a:t>
            </a:r>
            <a:r>
              <a:rPr lang="en-IN" sz="2400" dirty="0"/>
              <a:t>,</a:t>
            </a:r>
          </a:p>
          <a:p>
            <a:r>
              <a:rPr lang="en-IN" sz="2400" dirty="0"/>
              <a:t>              children: [</a:t>
            </a:r>
          </a:p>
          <a:p>
            <a:r>
              <a:rPr lang="en-IN" sz="2400" dirty="0"/>
              <a:t>                </a:t>
            </a:r>
            <a:r>
              <a:rPr lang="en-IN" sz="2400" dirty="0" err="1"/>
              <a:t>const</a:t>
            </a:r>
            <a:r>
              <a:rPr lang="en-IN" sz="2400" dirty="0"/>
              <a:t> Icon(</a:t>
            </a:r>
            <a:r>
              <a:rPr lang="en-IN" sz="2400" dirty="0" err="1"/>
              <a:t>Icons.home</a:t>
            </a:r>
            <a:r>
              <a:rPr lang="en-IN" sz="2400" dirty="0"/>
              <a:t>),</a:t>
            </a:r>
          </a:p>
          <a:p>
            <a:r>
              <a:rPr lang="en-IN" sz="2400" dirty="0"/>
              <a:t>                </a:t>
            </a:r>
            <a:r>
              <a:rPr lang="en-IN" sz="2400" dirty="0" err="1"/>
              <a:t>const</a:t>
            </a:r>
            <a:r>
              <a:rPr lang="en-IN" sz="2400" dirty="0"/>
              <a:t> Icon(</a:t>
            </a:r>
            <a:r>
              <a:rPr lang="en-IN" sz="2400" dirty="0" err="1"/>
              <a:t>Icons.school</a:t>
            </a:r>
            <a:r>
              <a:rPr lang="en-IN" sz="2400" dirty="0"/>
              <a:t>),</a:t>
            </a:r>
          </a:p>
          <a:p>
            <a:r>
              <a:rPr lang="en-IN" sz="2400" dirty="0"/>
              <a:t>                </a:t>
            </a:r>
            <a:r>
              <a:rPr lang="en-IN" sz="2400" dirty="0" err="1"/>
              <a:t>ElevatedButton</a:t>
            </a:r>
            <a:r>
              <a:rPr lang="en-IN" sz="2400" dirty="0"/>
              <a:t>(</a:t>
            </a:r>
          </a:p>
          <a:p>
            <a:r>
              <a:rPr lang="en-IN" sz="2400" dirty="0"/>
              <a:t>                  </a:t>
            </a:r>
            <a:r>
              <a:rPr lang="en-IN" sz="2400" dirty="0" err="1"/>
              <a:t>onPressed</a:t>
            </a:r>
            <a:r>
              <a:rPr lang="en-IN" sz="2400" dirty="0"/>
              <a:t>: () {},</a:t>
            </a:r>
          </a:p>
          <a:p>
            <a:r>
              <a:rPr lang="en-IN" sz="2400" dirty="0"/>
              <a:t>                  child: </a:t>
            </a:r>
            <a:r>
              <a:rPr lang="en-IN" sz="2400" dirty="0" err="1"/>
              <a:t>const</a:t>
            </a:r>
            <a:r>
              <a:rPr lang="en-IN" sz="2400" dirty="0"/>
              <a:t> Text('Start'),</a:t>
            </a:r>
          </a:p>
          <a:p>
            <a:r>
              <a:rPr lang="en-IN" sz="2400" dirty="0"/>
              <a:t>                ),</a:t>
            </a:r>
          </a:p>
          <a:p>
            <a:r>
              <a:rPr lang="en-IN" sz="2400" dirty="0"/>
              <a:t>              ],</a:t>
            </a:r>
          </a:p>
          <a:p>
            <a:r>
              <a:rPr lang="en-IN" sz="2400" dirty="0"/>
              <a:t>            ),</a:t>
            </a:r>
          </a:p>
          <a:p>
            <a:r>
              <a:rPr lang="en-IN" sz="2400" dirty="0"/>
              <a:t>          ],</a:t>
            </a:r>
          </a:p>
          <a:p>
            <a:r>
              <a:rPr lang="en-IN" sz="2400" dirty="0"/>
              <a:t>        ),</a:t>
            </a:r>
          </a:p>
          <a:p>
            <a:r>
              <a:rPr lang="en-IN" sz="2400" dirty="0"/>
              <a:t>      ),</a:t>
            </a:r>
          </a:p>
          <a:p>
            <a:r>
              <a:rPr lang="en-IN" sz="2400" dirty="0"/>
              <a:t>    );</a:t>
            </a:r>
          </a:p>
          <a:p>
            <a:r>
              <a:rPr lang="en-IN" sz="2400" dirty="0"/>
              <a:t>  }</a:t>
            </a:r>
          </a:p>
          <a:p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2234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53C6E-F18E-F37E-AAE3-5B90E9693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821" y="1168284"/>
            <a:ext cx="5988358" cy="45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46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280" y="937260"/>
            <a:ext cx="601857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3600" dirty="0"/>
              <a:t>Experiment 2(b) – Lab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99" y="1541944"/>
            <a:ext cx="11304639" cy="3993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Create a student profile UI.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Use Column for the main screen.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Use Stack for profile image + status/edit icon.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Use Row for name, department and action buttons.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Apply alignment properties and spacing.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Run the application and verify the layout on the emulator.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9175"/>
            <a:ext cx="656064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3200" dirty="0"/>
              <a:t>Experiment 5(b) – State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3538"/>
            <a:ext cx="86489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72C4"/>
                </a:solidFill>
              </a:defRPr>
            </a:pPr>
            <a:r>
              <a:rPr sz="2800" dirty="0"/>
              <a:t>Implement state management using </a:t>
            </a:r>
            <a:r>
              <a:rPr sz="2800" dirty="0" err="1"/>
              <a:t>setState</a:t>
            </a:r>
            <a:r>
              <a:rPr sz="2800" dirty="0"/>
              <a:t> and 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6762"/>
            <a:ext cx="10789920" cy="431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State is data that can change while an application is running.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Examples: counter value, selected item, login status, form values.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When state changes, the UI may need to be rebuilt.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Flutter provides </a:t>
            </a:r>
            <a:r>
              <a:rPr sz="3600" dirty="0" err="1"/>
              <a:t>setState</a:t>
            </a:r>
            <a:r>
              <a:rPr sz="3600" dirty="0"/>
              <a:t>() for local state and Provider for shared/application state.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2133" y="676951"/>
            <a:ext cx="22361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4000" dirty="0" err="1"/>
              <a:t>setState</a:t>
            </a:r>
            <a:r>
              <a:rPr sz="4000" dirty="0"/>
              <a:t>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115568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 err="1"/>
              <a:t>setState</a:t>
            </a:r>
            <a:r>
              <a:rPr sz="3600" dirty="0"/>
              <a:t>() is used inside a </a:t>
            </a:r>
            <a:r>
              <a:rPr sz="3600" dirty="0" err="1"/>
              <a:t>StatefulWidget's</a:t>
            </a:r>
            <a:r>
              <a:rPr sz="3600" dirty="0"/>
              <a:t> State class.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It tells Flutter that the state has changed and the affected UI should rebuild.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The state-changing code is placed inside </a:t>
            </a:r>
            <a:r>
              <a:rPr sz="3600" dirty="0" err="1"/>
              <a:t>setState</a:t>
            </a:r>
            <a:r>
              <a:rPr sz="3600" dirty="0"/>
              <a:t>(() { ... }).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sz="3600" dirty="0"/>
              <a:t>Best suited for simple, local state.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Counter using setState()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720" y="822960"/>
            <a:ext cx="10881360" cy="5650992"/>
          </a:xfrm>
          <a:prstGeom prst="roundRect">
            <a:avLst/>
          </a:prstGeom>
          <a:solidFill>
            <a:srgbClr val="EBF2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numCol="2" rtlCol="0" anchor="ctr"/>
          <a:lstStyle/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CounterPage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StatefulWidget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const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CounterPage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super.key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@override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State&lt;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CounterPage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createState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=&gt; _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CounterPageState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CounterPageState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State&lt;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CounterPage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{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 count = 0;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282828"/>
                </a:solidFill>
                <a:latin typeface="Consola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@override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Widget build(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BuildContext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context) {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Scaffold(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body: Center(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child: Column(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mainAxisAlignment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MainAxisAlignment.center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children: [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Text('Count: $count'),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ElevatedButton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onPressed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() {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(() {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count++;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});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},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child: Text('Increment'),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),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],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),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),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83C129-E479-3746-55F4-09DBAB60ABDC}"/>
              </a:ext>
            </a:extLst>
          </p:cNvPr>
          <p:cNvSpPr txBox="1"/>
          <p:nvPr/>
        </p:nvSpPr>
        <p:spPr>
          <a:xfrm>
            <a:off x="837282" y="1031097"/>
            <a:ext cx="450589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'</a:t>
            </a:r>
            <a:r>
              <a:rPr lang="en-IN" dirty="0" err="1"/>
              <a:t>package:flutter</a:t>
            </a:r>
            <a:r>
              <a:rPr lang="en-IN" dirty="0"/>
              <a:t>/</a:t>
            </a:r>
            <a:r>
              <a:rPr lang="en-IN" dirty="0" err="1"/>
              <a:t>material.dart</a:t>
            </a:r>
            <a:r>
              <a:rPr lang="en-IN" dirty="0"/>
              <a:t>';</a:t>
            </a:r>
          </a:p>
          <a:p>
            <a:endParaRPr lang="en-IN" dirty="0"/>
          </a:p>
          <a:p>
            <a:r>
              <a:rPr lang="en-IN" dirty="0"/>
              <a:t>void main() {</a:t>
            </a:r>
          </a:p>
          <a:p>
            <a:r>
              <a:rPr lang="en-IN" dirty="0"/>
              <a:t>  </a:t>
            </a:r>
            <a:r>
              <a:rPr lang="en-IN" dirty="0" err="1"/>
              <a:t>runApp</a:t>
            </a:r>
            <a:r>
              <a:rPr lang="en-IN" dirty="0"/>
              <a:t>(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MyApp</a:t>
            </a:r>
            <a:r>
              <a:rPr lang="en-IN" dirty="0"/>
              <a:t>());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MyApp</a:t>
            </a:r>
            <a:r>
              <a:rPr lang="en-IN" dirty="0"/>
              <a:t> extends </a:t>
            </a:r>
            <a:r>
              <a:rPr lang="en-IN" dirty="0" err="1"/>
              <a:t>StatelessWidget</a:t>
            </a:r>
            <a:r>
              <a:rPr lang="en-IN" dirty="0"/>
              <a:t> {</a:t>
            </a:r>
          </a:p>
          <a:p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MyApp</a:t>
            </a:r>
            <a:r>
              <a:rPr lang="en-IN" dirty="0"/>
              <a:t>({</a:t>
            </a:r>
            <a:r>
              <a:rPr lang="en-IN" dirty="0" err="1"/>
              <a:t>super.key</a:t>
            </a:r>
            <a:r>
              <a:rPr lang="en-IN" dirty="0"/>
              <a:t>});</a:t>
            </a:r>
          </a:p>
          <a:p>
            <a:endParaRPr lang="en-IN" dirty="0"/>
          </a:p>
          <a:p>
            <a:r>
              <a:rPr lang="en-IN" dirty="0"/>
              <a:t>  @override</a:t>
            </a:r>
          </a:p>
          <a:p>
            <a:r>
              <a:rPr lang="en-IN" dirty="0"/>
              <a:t>  Widget build(</a:t>
            </a:r>
            <a:r>
              <a:rPr lang="en-IN" dirty="0" err="1"/>
              <a:t>BuildContext</a:t>
            </a:r>
            <a:r>
              <a:rPr lang="en-IN" dirty="0"/>
              <a:t> context) {</a:t>
            </a:r>
          </a:p>
          <a:p>
            <a:r>
              <a:rPr lang="en-IN" dirty="0"/>
              <a:t>    return </a:t>
            </a:r>
            <a:r>
              <a:rPr lang="en-IN" dirty="0" err="1"/>
              <a:t>MaterialApp</a:t>
            </a:r>
            <a:r>
              <a:rPr lang="en-IN" dirty="0"/>
              <a:t>(</a:t>
            </a:r>
          </a:p>
          <a:p>
            <a:r>
              <a:rPr lang="en-IN" dirty="0"/>
              <a:t>      </a:t>
            </a:r>
            <a:r>
              <a:rPr lang="en-IN" dirty="0" err="1"/>
              <a:t>debugShowCheckedModeBanner</a:t>
            </a:r>
            <a:r>
              <a:rPr lang="en-IN" dirty="0"/>
              <a:t>: false,</a:t>
            </a:r>
          </a:p>
          <a:p>
            <a:r>
              <a:rPr lang="en-IN" dirty="0"/>
              <a:t>      home: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CounterPage</a:t>
            </a:r>
            <a:r>
              <a:rPr lang="en-IN" dirty="0"/>
              <a:t>(),</a:t>
            </a:r>
          </a:p>
          <a:p>
            <a:r>
              <a:rPr lang="en-IN" dirty="0"/>
              <a:t>    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A52AE-B8CA-88B2-C662-2E8B146FDA9A}"/>
              </a:ext>
            </a:extLst>
          </p:cNvPr>
          <p:cNvSpPr txBox="1"/>
          <p:nvPr/>
        </p:nvSpPr>
        <p:spPr>
          <a:xfrm>
            <a:off x="6246564" y="1169597"/>
            <a:ext cx="564063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CounterPage</a:t>
            </a:r>
            <a:r>
              <a:rPr lang="en-IN" dirty="0"/>
              <a:t> extends </a:t>
            </a:r>
            <a:r>
              <a:rPr lang="en-IN" dirty="0" err="1"/>
              <a:t>StatefulWidget</a:t>
            </a:r>
            <a:r>
              <a:rPr lang="en-IN" dirty="0"/>
              <a:t> {</a:t>
            </a:r>
          </a:p>
          <a:p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CounterPage</a:t>
            </a:r>
            <a:r>
              <a:rPr lang="en-IN" dirty="0"/>
              <a:t>({</a:t>
            </a:r>
            <a:r>
              <a:rPr lang="en-IN" dirty="0" err="1"/>
              <a:t>super.key</a:t>
            </a:r>
            <a:r>
              <a:rPr lang="en-IN" dirty="0"/>
              <a:t>});</a:t>
            </a:r>
          </a:p>
          <a:p>
            <a:endParaRPr lang="en-IN" dirty="0"/>
          </a:p>
          <a:p>
            <a:r>
              <a:rPr lang="en-IN" dirty="0"/>
              <a:t>  @override</a:t>
            </a:r>
          </a:p>
          <a:p>
            <a:r>
              <a:rPr lang="en-IN" dirty="0"/>
              <a:t>  State&lt;</a:t>
            </a:r>
            <a:r>
              <a:rPr lang="en-IN" dirty="0" err="1"/>
              <a:t>CounterPage</a:t>
            </a:r>
            <a:r>
              <a:rPr lang="en-IN" dirty="0"/>
              <a:t>&gt; </a:t>
            </a:r>
            <a:r>
              <a:rPr lang="en-IN" dirty="0" err="1"/>
              <a:t>createState</a:t>
            </a:r>
            <a:r>
              <a:rPr lang="en-IN" dirty="0"/>
              <a:t>() =&gt; _</a:t>
            </a:r>
            <a:r>
              <a:rPr lang="en-IN" dirty="0" err="1"/>
              <a:t>CounterPageState</a:t>
            </a:r>
            <a:r>
              <a:rPr lang="en-IN" dirty="0"/>
              <a:t>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_</a:t>
            </a:r>
            <a:r>
              <a:rPr lang="en-IN" dirty="0" err="1"/>
              <a:t>CounterPageState</a:t>
            </a:r>
            <a:r>
              <a:rPr lang="en-IN" dirty="0"/>
              <a:t> extends State&lt;</a:t>
            </a:r>
            <a:r>
              <a:rPr lang="en-IN" dirty="0" err="1"/>
              <a:t>CounterPage</a:t>
            </a:r>
            <a:r>
              <a:rPr lang="en-IN" dirty="0"/>
              <a:t>&gt; {</a:t>
            </a:r>
          </a:p>
          <a:p>
            <a:r>
              <a:rPr lang="en-IN" dirty="0"/>
              <a:t>  int count = 0;</a:t>
            </a:r>
          </a:p>
          <a:p>
            <a:endParaRPr lang="en-IN" dirty="0"/>
          </a:p>
          <a:p>
            <a:r>
              <a:rPr lang="en-IN" dirty="0"/>
              <a:t>  @override</a:t>
            </a:r>
          </a:p>
          <a:p>
            <a:r>
              <a:rPr lang="en-IN" dirty="0"/>
              <a:t>  Widget build(</a:t>
            </a:r>
            <a:r>
              <a:rPr lang="en-IN" dirty="0" err="1"/>
              <a:t>BuildContext</a:t>
            </a:r>
            <a:r>
              <a:rPr lang="en-IN" dirty="0"/>
              <a:t> context) {</a:t>
            </a:r>
          </a:p>
          <a:p>
            <a:r>
              <a:rPr lang="en-IN" dirty="0"/>
              <a:t>    return Scaffold(</a:t>
            </a:r>
          </a:p>
          <a:p>
            <a:r>
              <a:rPr lang="en-IN" dirty="0"/>
              <a:t>      </a:t>
            </a:r>
            <a:r>
              <a:rPr lang="en-IN" dirty="0" err="1"/>
              <a:t>appBar</a:t>
            </a:r>
            <a:r>
              <a:rPr lang="en-IN" dirty="0"/>
              <a:t>: </a:t>
            </a:r>
            <a:r>
              <a:rPr lang="en-IN" dirty="0" err="1"/>
              <a:t>AppBar</a:t>
            </a:r>
            <a:r>
              <a:rPr lang="en-IN" dirty="0"/>
              <a:t>(</a:t>
            </a:r>
          </a:p>
          <a:p>
            <a:r>
              <a:rPr lang="en-IN" dirty="0"/>
              <a:t>        title: </a:t>
            </a:r>
            <a:r>
              <a:rPr lang="en-IN" dirty="0" err="1"/>
              <a:t>const</a:t>
            </a:r>
            <a:r>
              <a:rPr lang="en-IN" dirty="0"/>
              <a:t> Text('Counter App'),</a:t>
            </a:r>
          </a:p>
          <a:p>
            <a:r>
              <a:rPr lang="en-IN" dirty="0"/>
              <a:t>      ),</a:t>
            </a:r>
          </a:p>
        </p:txBody>
      </p:sp>
    </p:spTree>
    <p:extLst>
      <p:ext uri="{BB962C8B-B14F-4D97-AF65-F5344CB8AC3E}">
        <p14:creationId xmlns:p14="http://schemas.microsoft.com/office/powerpoint/2010/main" val="1984599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F461DF-697A-CF48-FC37-6A7A9F1A9DFC}"/>
              </a:ext>
            </a:extLst>
          </p:cNvPr>
          <p:cNvSpPr txBox="1"/>
          <p:nvPr/>
        </p:nvSpPr>
        <p:spPr>
          <a:xfrm>
            <a:off x="1751682" y="1862094"/>
            <a:ext cx="39550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body: </a:t>
            </a:r>
            <a:r>
              <a:rPr lang="en-IN" dirty="0" err="1"/>
              <a:t>Center</a:t>
            </a:r>
            <a:r>
              <a:rPr lang="en-IN" dirty="0"/>
              <a:t>(</a:t>
            </a:r>
          </a:p>
          <a:p>
            <a:r>
              <a:rPr lang="en-IN" dirty="0"/>
              <a:t>        child: Column(</a:t>
            </a:r>
          </a:p>
          <a:p>
            <a:r>
              <a:rPr lang="en-IN" dirty="0"/>
              <a:t>          </a:t>
            </a:r>
            <a:r>
              <a:rPr lang="en-IN" dirty="0" err="1"/>
              <a:t>mainAxisAlignment</a:t>
            </a:r>
            <a:r>
              <a:rPr lang="en-IN" dirty="0"/>
              <a:t>: </a:t>
            </a:r>
            <a:r>
              <a:rPr lang="en-IN" dirty="0" err="1"/>
              <a:t>MainAxisAlignment.center</a:t>
            </a:r>
            <a:r>
              <a:rPr lang="en-IN" dirty="0"/>
              <a:t>,</a:t>
            </a:r>
          </a:p>
          <a:p>
            <a:r>
              <a:rPr lang="en-IN" dirty="0"/>
              <a:t>          children: [</a:t>
            </a:r>
          </a:p>
          <a:p>
            <a:r>
              <a:rPr lang="en-IN" dirty="0"/>
              <a:t>            Text(</a:t>
            </a:r>
          </a:p>
          <a:p>
            <a:r>
              <a:rPr lang="en-IN" dirty="0"/>
              <a:t>              'Count: $count',</a:t>
            </a:r>
          </a:p>
          <a:p>
            <a:r>
              <a:rPr lang="en-IN" dirty="0"/>
              <a:t>              style: </a:t>
            </a:r>
            <a:r>
              <a:rPr lang="en-IN" dirty="0" err="1"/>
              <a:t>const</a:t>
            </a:r>
            <a:r>
              <a:rPr lang="en-IN" dirty="0"/>
              <a:t> TextStyle(</a:t>
            </a:r>
          </a:p>
          <a:p>
            <a:r>
              <a:rPr lang="en-IN" dirty="0"/>
              <a:t>                </a:t>
            </a:r>
            <a:r>
              <a:rPr lang="en-IN" dirty="0" err="1"/>
              <a:t>fontSize</a:t>
            </a:r>
            <a:r>
              <a:rPr lang="en-IN" dirty="0"/>
              <a:t>: 30,</a:t>
            </a:r>
          </a:p>
          <a:p>
            <a:r>
              <a:rPr lang="en-IN" dirty="0"/>
              <a:t>                </a:t>
            </a:r>
            <a:r>
              <a:rPr lang="en-IN" dirty="0" err="1"/>
              <a:t>fontWeight</a:t>
            </a:r>
            <a:r>
              <a:rPr lang="en-IN" dirty="0"/>
              <a:t>: </a:t>
            </a:r>
            <a:r>
              <a:rPr lang="en-IN" dirty="0" err="1"/>
              <a:t>FontWeight.bold</a:t>
            </a:r>
            <a:r>
              <a:rPr lang="en-IN" dirty="0"/>
              <a:t>,</a:t>
            </a:r>
          </a:p>
          <a:p>
            <a:r>
              <a:rPr lang="en-IN" dirty="0"/>
              <a:t>              ),</a:t>
            </a:r>
          </a:p>
          <a:p>
            <a:r>
              <a:rPr lang="en-IN" dirty="0"/>
              <a:t>            ),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FEDF5-20BD-0BA6-248A-9C02DF5470F5}"/>
              </a:ext>
            </a:extLst>
          </p:cNvPr>
          <p:cNvSpPr txBox="1"/>
          <p:nvPr/>
        </p:nvSpPr>
        <p:spPr>
          <a:xfrm>
            <a:off x="7689772" y="1169597"/>
            <a:ext cx="37787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SizedBox</a:t>
            </a:r>
            <a:r>
              <a:rPr lang="en-IN" dirty="0"/>
              <a:t>(height: 20),</a:t>
            </a:r>
          </a:p>
          <a:p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ElevatedButton</a:t>
            </a:r>
            <a:r>
              <a:rPr lang="en-IN" dirty="0"/>
              <a:t>(</a:t>
            </a:r>
          </a:p>
          <a:p>
            <a:r>
              <a:rPr lang="en-IN" dirty="0"/>
              <a:t>              </a:t>
            </a:r>
            <a:r>
              <a:rPr lang="en-IN" dirty="0" err="1"/>
              <a:t>onPressed</a:t>
            </a:r>
            <a:r>
              <a:rPr lang="en-IN" dirty="0"/>
              <a:t>: () {</a:t>
            </a:r>
          </a:p>
          <a:p>
            <a:r>
              <a:rPr lang="en-IN" dirty="0"/>
              <a:t>                </a:t>
            </a:r>
            <a:r>
              <a:rPr lang="en-IN" dirty="0" err="1"/>
              <a:t>setState</a:t>
            </a:r>
            <a:r>
              <a:rPr lang="en-IN" dirty="0"/>
              <a:t>(() {</a:t>
            </a:r>
          </a:p>
          <a:p>
            <a:r>
              <a:rPr lang="en-IN" dirty="0"/>
              <a:t>                  count++;</a:t>
            </a:r>
          </a:p>
          <a:p>
            <a:r>
              <a:rPr lang="en-IN" dirty="0"/>
              <a:t>                });</a:t>
            </a:r>
          </a:p>
          <a:p>
            <a:r>
              <a:rPr lang="en-IN" dirty="0"/>
              <a:t>              },</a:t>
            </a:r>
          </a:p>
          <a:p>
            <a:r>
              <a:rPr lang="en-IN" dirty="0"/>
              <a:t>              child: </a:t>
            </a:r>
            <a:r>
              <a:rPr lang="en-IN" dirty="0" err="1"/>
              <a:t>const</a:t>
            </a:r>
            <a:r>
              <a:rPr lang="en-IN" dirty="0"/>
              <a:t> Text('Increment'),</a:t>
            </a:r>
          </a:p>
          <a:p>
            <a:r>
              <a:rPr lang="en-IN" dirty="0"/>
              <a:t>            ),</a:t>
            </a:r>
          </a:p>
          <a:p>
            <a:r>
              <a:rPr lang="en-IN" dirty="0"/>
              <a:t>          ],</a:t>
            </a:r>
          </a:p>
          <a:p>
            <a:r>
              <a:rPr lang="en-IN" dirty="0"/>
              <a:t>        ),</a:t>
            </a:r>
          </a:p>
          <a:p>
            <a:r>
              <a:rPr lang="en-IN" dirty="0"/>
              <a:t>      ),</a:t>
            </a:r>
          </a:p>
          <a:p>
            <a:r>
              <a:rPr lang="en-IN" dirty="0"/>
              <a:t>    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3383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10F69-4E26-A15B-8DAA-37F2E869B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821" y="1158758"/>
            <a:ext cx="5988358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18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How setState()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1. User performs an action.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2. Event handler changes the state.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3. setState() notifies Flutter that the state changed.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4. Flutter rebuilds the relevant widget.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5. Updated value appears on the screen.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Flow: User Action → State Change → setState() → Rebuild UI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Why Provider?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setState() is convenient for small, local state.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As applications grow, state may be needed by multiple widgets.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Provider helps expose shared state to widgets without passing values through many widget constructors.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Provider commonly works with ChangeNotifier and notifyListeners().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Provider – Main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3257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 err="1"/>
              <a:t>ChangeNotifier</a:t>
            </a:r>
            <a:r>
              <a:rPr dirty="0"/>
              <a:t> – class that holds changeable application state.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 err="1"/>
              <a:t>notifyListeners</a:t>
            </a:r>
            <a:r>
              <a:rPr dirty="0"/>
              <a:t>() – informs listening widgets that state changed.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 err="1"/>
              <a:t>ChangeNotifierProvider</a:t>
            </a:r>
            <a:r>
              <a:rPr dirty="0"/>
              <a:t> – makes the state available to descendant widgets.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Consumer – rebuilds a widget when the provided state changes.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 err="1"/>
              <a:t>Provider.of</a:t>
            </a:r>
            <a:r>
              <a:rPr dirty="0"/>
              <a:t>&lt;T&gt;(context) – accesses the provided object.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Provider – Counter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881360" cy="5029200"/>
          </a:xfrm>
          <a:prstGeom prst="roundRect">
            <a:avLst/>
          </a:prstGeom>
          <a:solidFill>
            <a:srgbClr val="EBF2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 sz="1800">
                <a:solidFill>
                  <a:srgbClr val="282828"/>
                </a:solidFill>
                <a:latin typeface="Consolas"/>
              </a:defRPr>
            </a:pPr>
            <a:r>
              <a:rPr dirty="0"/>
              <a:t>import '</a:t>
            </a:r>
            <a:r>
              <a:rPr dirty="0" err="1"/>
              <a:t>package:flutter</a:t>
            </a:r>
            <a:r>
              <a:rPr dirty="0"/>
              <a:t>/</a:t>
            </a:r>
            <a:r>
              <a:rPr dirty="0" err="1"/>
              <a:t>material.dart</a:t>
            </a:r>
            <a:r>
              <a:rPr dirty="0"/>
              <a:t>';</a:t>
            </a:r>
            <a:br>
              <a:rPr dirty="0"/>
            </a:br>
            <a:br>
              <a:rPr dirty="0"/>
            </a:br>
            <a:r>
              <a:rPr dirty="0"/>
              <a:t>class </a:t>
            </a:r>
            <a:r>
              <a:rPr dirty="0" err="1"/>
              <a:t>CounterModel</a:t>
            </a:r>
            <a:r>
              <a:rPr dirty="0"/>
              <a:t> extends </a:t>
            </a:r>
            <a:r>
              <a:rPr dirty="0" err="1"/>
              <a:t>ChangeNotifier</a:t>
            </a:r>
            <a:r>
              <a:rPr dirty="0"/>
              <a:t> {</a:t>
            </a:r>
            <a:br>
              <a:rPr dirty="0"/>
            </a:br>
            <a:r>
              <a:rPr dirty="0"/>
              <a:t>  int count = 0;</a:t>
            </a:r>
            <a:br>
              <a:rPr dirty="0"/>
            </a:br>
            <a:br>
              <a:rPr dirty="0"/>
            </a:br>
            <a:r>
              <a:rPr dirty="0"/>
              <a:t>  void increment() {</a:t>
            </a:r>
            <a:br>
              <a:rPr dirty="0"/>
            </a:br>
            <a:r>
              <a:rPr dirty="0"/>
              <a:t>    count++;</a:t>
            </a:r>
            <a:br>
              <a:rPr dirty="0"/>
            </a:br>
            <a:r>
              <a:rPr dirty="0"/>
              <a:t>    </a:t>
            </a:r>
            <a:r>
              <a:rPr dirty="0" err="1"/>
              <a:t>notifyListeners</a:t>
            </a:r>
            <a:r>
              <a:rPr dirty="0"/>
              <a:t>();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Provider – Supplying the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720" y="822960"/>
            <a:ext cx="10881360" cy="5029200"/>
          </a:xfrm>
          <a:prstGeom prst="roundRect">
            <a:avLst/>
          </a:prstGeom>
          <a:solidFill>
            <a:srgbClr val="EBF2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 sz="1700">
                <a:solidFill>
                  <a:srgbClr val="282828"/>
                </a:solidFill>
                <a:latin typeface="Consolas"/>
              </a:defRPr>
            </a:pPr>
            <a:r>
              <a:rPr dirty="0" err="1"/>
              <a:t>ChangeNotifierProvider</a:t>
            </a:r>
            <a:r>
              <a:rPr dirty="0"/>
              <a:t>(</a:t>
            </a:r>
            <a:br>
              <a:rPr dirty="0"/>
            </a:br>
            <a:r>
              <a:rPr dirty="0"/>
              <a:t>  create: (_) =&gt; </a:t>
            </a:r>
            <a:r>
              <a:rPr dirty="0" err="1"/>
              <a:t>CounterModel</a:t>
            </a:r>
            <a:r>
              <a:rPr dirty="0"/>
              <a:t>(),</a:t>
            </a:r>
            <a:br>
              <a:rPr dirty="0"/>
            </a:br>
            <a:r>
              <a:rPr dirty="0"/>
              <a:t>  child: </a:t>
            </a:r>
            <a:r>
              <a:rPr dirty="0" err="1"/>
              <a:t>MyApp</a:t>
            </a:r>
            <a:r>
              <a:rPr dirty="0"/>
              <a:t>(),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class </a:t>
            </a:r>
            <a:r>
              <a:rPr dirty="0" err="1"/>
              <a:t>MyApp</a:t>
            </a:r>
            <a:r>
              <a:rPr dirty="0"/>
              <a:t> extends </a:t>
            </a:r>
            <a:r>
              <a:rPr dirty="0" err="1"/>
              <a:t>StatelessWidget</a:t>
            </a:r>
            <a:r>
              <a:rPr dirty="0"/>
              <a:t> {</a:t>
            </a:r>
            <a:br>
              <a:rPr dirty="0"/>
            </a:br>
            <a:r>
              <a:rPr dirty="0"/>
              <a:t>  @override</a:t>
            </a:r>
            <a:br>
              <a:rPr dirty="0"/>
            </a:br>
            <a:r>
              <a:rPr dirty="0"/>
              <a:t>  Widget build(</a:t>
            </a:r>
            <a:r>
              <a:rPr dirty="0" err="1"/>
              <a:t>BuildContext</a:t>
            </a:r>
            <a:r>
              <a:rPr dirty="0"/>
              <a:t> context) {</a:t>
            </a:r>
            <a:br>
              <a:rPr dirty="0"/>
            </a:br>
            <a:r>
              <a:rPr dirty="0"/>
              <a:t>    return </a:t>
            </a:r>
            <a:r>
              <a:rPr dirty="0" err="1"/>
              <a:t>MaterialApp</a:t>
            </a:r>
            <a:r>
              <a:rPr dirty="0"/>
              <a:t>(</a:t>
            </a:r>
            <a:br>
              <a:rPr dirty="0"/>
            </a:br>
            <a:r>
              <a:rPr dirty="0"/>
              <a:t>      home: </a:t>
            </a:r>
            <a:r>
              <a:rPr dirty="0" err="1"/>
              <a:t>CounterPage</a:t>
            </a:r>
            <a:r>
              <a:rPr dirty="0"/>
              <a:t>(),</a:t>
            </a:r>
            <a:br>
              <a:rPr dirty="0"/>
            </a:br>
            <a:r>
              <a:rPr dirty="0"/>
              <a:t>    );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Provider – Reading the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9574" y="1301533"/>
            <a:ext cx="10881360" cy="5029200"/>
          </a:xfrm>
          <a:prstGeom prst="roundRect">
            <a:avLst/>
          </a:prstGeom>
          <a:solidFill>
            <a:srgbClr val="EBF2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 sz="1700">
                <a:solidFill>
                  <a:srgbClr val="282828"/>
                </a:solidFill>
                <a:latin typeface="Consolas"/>
              </a:defRPr>
            </a:pPr>
            <a:r>
              <a:rPr dirty="0"/>
              <a:t>Consumer&lt;</a:t>
            </a:r>
            <a:r>
              <a:rPr dirty="0" err="1"/>
              <a:t>CounterModel</a:t>
            </a:r>
            <a:r>
              <a:rPr dirty="0"/>
              <a:t>&gt;(</a:t>
            </a:r>
            <a:br>
              <a:rPr dirty="0"/>
            </a:br>
            <a:r>
              <a:rPr dirty="0"/>
              <a:t>  builder: (context, counter, child) {</a:t>
            </a:r>
            <a:br>
              <a:rPr dirty="0"/>
            </a:br>
            <a:r>
              <a:rPr dirty="0"/>
              <a:t>    return Column(</a:t>
            </a:r>
            <a:br>
              <a:rPr dirty="0"/>
            </a:br>
            <a:r>
              <a:rPr dirty="0"/>
              <a:t>      children: [</a:t>
            </a:r>
            <a:br>
              <a:rPr dirty="0"/>
            </a:br>
            <a:r>
              <a:rPr dirty="0"/>
              <a:t>        Text('Count: ${</a:t>
            </a:r>
            <a:r>
              <a:rPr dirty="0" err="1"/>
              <a:t>counter.count</a:t>
            </a:r>
            <a:r>
              <a:rPr dirty="0"/>
              <a:t>}'),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ElevatedButton</a:t>
            </a:r>
            <a:r>
              <a:rPr dirty="0"/>
              <a:t>(</a:t>
            </a:r>
            <a:br>
              <a:rPr dirty="0"/>
            </a:br>
            <a:r>
              <a:rPr dirty="0"/>
              <a:t>          </a:t>
            </a:r>
            <a:r>
              <a:rPr dirty="0" err="1"/>
              <a:t>onPressed</a:t>
            </a:r>
            <a:r>
              <a:rPr dirty="0"/>
              <a:t>: </a:t>
            </a:r>
            <a:r>
              <a:rPr dirty="0" err="1"/>
              <a:t>counter.increment</a:t>
            </a:r>
            <a:r>
              <a:rPr dirty="0"/>
              <a:t>,</a:t>
            </a:r>
            <a:br>
              <a:rPr dirty="0"/>
            </a:br>
            <a:r>
              <a:rPr dirty="0"/>
              <a:t>          child: Text('Increment'),</a:t>
            </a:r>
            <a:br>
              <a:rPr dirty="0"/>
            </a:br>
            <a:r>
              <a:rPr dirty="0"/>
              <a:t>        ),</a:t>
            </a:r>
            <a:br>
              <a:rPr dirty="0"/>
            </a:br>
            <a:r>
              <a:rPr dirty="0"/>
              <a:t>      ],</a:t>
            </a:r>
            <a:br>
              <a:rPr dirty="0"/>
            </a:br>
            <a:r>
              <a:rPr dirty="0"/>
              <a:t>    );</a:t>
            </a:r>
            <a:br>
              <a:rPr dirty="0"/>
            </a:br>
            <a:r>
              <a:rPr dirty="0"/>
              <a:t>  },</a:t>
            </a:r>
            <a:br>
              <a:rPr dirty="0"/>
            </a:b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setState() vs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setState(): simple and local state management.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Provider: useful when state is shared by multiple widgets.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setState(): state normally belongs to one StatefulWidget.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Provider: separates state/model logic from UI and allows dependent widgets to listen.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Choose the simplest approach that fits the application.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Experiment 5(b) – Lab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Part A: Create a counter application using StatefulWidget and setState().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Part B: Create the same counter application using Provider.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Use ChangeNotifier to store the counter value.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Call notifyListeners() after changing the value.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Use Consumer to display the updated value.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t>Compare the two implementations.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472C4"/>
                </a:solidFill>
              </a:defRPr>
            </a:pPr>
            <a:r>
              <a:t>UI DESIGN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Understand Row, Column and Stack layout structures.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Use mainAxisAlignment and crossAxisAlignment appropriately.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Combine multiple layout widgets to build a UI.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Understand state and why state management is required.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Implement local state using </a:t>
            </a:r>
            <a:r>
              <a:rPr dirty="0" err="1"/>
              <a:t>setState</a:t>
            </a:r>
            <a:r>
              <a:rPr dirty="0"/>
              <a:t>().</a:t>
            </a:r>
          </a:p>
          <a:p>
            <a:pPr>
              <a:spcAft>
                <a:spcPts val="9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Implement shared state using Provider and </a:t>
            </a:r>
            <a:r>
              <a:rPr dirty="0" err="1"/>
              <a:t>ChangeNotifier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Output – Row Widget</a:t>
            </a:r>
          </a:p>
        </p:txBody>
      </p:sp>
      <p:pic>
        <p:nvPicPr>
          <p:cNvPr id="3" name="Picture 2" descr="01_row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143000"/>
            <a:ext cx="8229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Expected output: children arranged horizontally.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Output – Column Widget</a:t>
            </a:r>
          </a:p>
        </p:txBody>
      </p:sp>
      <p:pic>
        <p:nvPicPr>
          <p:cNvPr id="3" name="Picture 2" descr="02_column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143000"/>
            <a:ext cx="8229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Expected output: children arranged vertically.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Output – Stack Widget</a:t>
            </a:r>
          </a:p>
        </p:txBody>
      </p:sp>
      <p:pic>
        <p:nvPicPr>
          <p:cNvPr id="3" name="Picture 2" descr="03_stack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143000"/>
            <a:ext cx="8229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Expected output: text is displayed over the image.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Output – Combined Row + Column + Stack</a:t>
            </a:r>
          </a:p>
        </p:txBody>
      </p:sp>
      <p:pic>
        <p:nvPicPr>
          <p:cNvPr id="3" name="Picture 2" descr="04_combined_layou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143000"/>
            <a:ext cx="8229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Expected output: a simple student profile UI using all three layouts.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Output – setState() Counter (Initial)</a:t>
            </a:r>
          </a:p>
        </p:txBody>
      </p:sp>
      <p:pic>
        <p:nvPicPr>
          <p:cNvPr id="3" name="Picture 2" descr="05_setstate_coun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143000"/>
            <a:ext cx="8229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Initial output: Count = 0.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Output – setState() Counter (After Click)</a:t>
            </a:r>
          </a:p>
        </p:txBody>
      </p:sp>
      <p:pic>
        <p:nvPicPr>
          <p:cNvPr id="3" name="Picture 2" descr="06_setstate_coun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143000"/>
            <a:ext cx="8229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After pressing Increment: Count changes to 1 and the UI rebuilds.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Output – Provider Counter</a:t>
            </a:r>
          </a:p>
        </p:txBody>
      </p:sp>
      <p:pic>
        <p:nvPicPr>
          <p:cNvPr id="3" name="Picture 2" descr="07_provider_coun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143000"/>
            <a:ext cx="8229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Expected output: Provider-managed counter showing the updated value.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1BF6E-498A-AA77-D50A-05B32DF5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Step-by-Step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033F9-1FED-605D-57B7-8C383E0FE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 1</a:t>
            </a:r>
            <a:r>
              <a:rPr lang="en-US" dirty="0"/>
              <a:t>: Add your image to project </a:t>
            </a:r>
            <a:r>
              <a:rPr lang="en-US" dirty="0" err="1"/>
              <a:t>folderInside</a:t>
            </a:r>
            <a:r>
              <a:rPr lang="en-US" dirty="0"/>
              <a:t> your Flutter project directory:</a:t>
            </a:r>
          </a:p>
          <a:p>
            <a:r>
              <a:rPr lang="en-US" dirty="0"/>
              <a:t>Navigate to: </a:t>
            </a:r>
          </a:p>
          <a:p>
            <a:r>
              <a:rPr lang="en-US" dirty="0" err="1"/>
              <a:t>your_project_name</a:t>
            </a:r>
            <a:r>
              <a:rPr lang="en-US" dirty="0"/>
              <a:t>/assets/images/</a:t>
            </a:r>
          </a:p>
          <a:p>
            <a:r>
              <a:rPr lang="en-US" dirty="0"/>
              <a:t>If assets or images folders do not exist, create them.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11528-E898-6AEF-42BC-688BCAEFCB62}"/>
              </a:ext>
            </a:extLst>
          </p:cNvPr>
          <p:cNvSpPr txBox="1"/>
          <p:nvPr/>
        </p:nvSpPr>
        <p:spPr>
          <a:xfrm>
            <a:off x="1905827" y="4329645"/>
            <a:ext cx="70890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your_project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└── assets/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└── images/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└── bg.jpg     ← (your background image here)</a:t>
            </a:r>
          </a:p>
        </p:txBody>
      </p:sp>
    </p:spTree>
    <p:extLst>
      <p:ext uri="{BB962C8B-B14F-4D97-AF65-F5344CB8AC3E}">
        <p14:creationId xmlns:p14="http://schemas.microsoft.com/office/powerpoint/2010/main" val="33392150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7848-72C8-E256-9B32-E94D06E0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Update </a:t>
            </a:r>
            <a:r>
              <a:rPr lang="en-US" dirty="0" err="1"/>
              <a:t>pubspec.yaml</a:t>
            </a:r>
            <a:r>
              <a:rPr lang="en-US" dirty="0"/>
              <a:t>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55760-0480-3B0C-6230-74C70790F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b="1" dirty="0" err="1">
                <a:solidFill>
                  <a:srgbClr val="FF0000"/>
                </a:solidFill>
              </a:rPr>
              <a:t>pubspec.yaml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/>
              <a:t>add</a:t>
            </a:r>
            <a:r>
              <a:rPr lang="en-US" dirty="0"/>
              <a:t> this </a:t>
            </a:r>
            <a:r>
              <a:rPr lang="en-US" b="1" dirty="0">
                <a:solidFill>
                  <a:srgbClr val="FF0000"/>
                </a:solidFill>
              </a:rPr>
              <a:t>under flutter: section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IN" dirty="0"/>
              <a:t>flutter:</a:t>
            </a:r>
          </a:p>
          <a:p>
            <a:pPr marL="0" indent="0">
              <a:buNone/>
            </a:pPr>
            <a:r>
              <a:rPr lang="en-IN" dirty="0"/>
              <a:t>  assets:</a:t>
            </a:r>
          </a:p>
          <a:p>
            <a:pPr marL="0" indent="0">
              <a:buNone/>
            </a:pPr>
            <a:r>
              <a:rPr lang="en-IN" dirty="0"/>
              <a:t>    - assets/images/bg.jpg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9BDDE-BBEA-4E5B-54D3-0A9591048038}"/>
              </a:ext>
            </a:extLst>
          </p:cNvPr>
          <p:cNvSpPr txBox="1"/>
          <p:nvPr/>
        </p:nvSpPr>
        <p:spPr>
          <a:xfrm>
            <a:off x="1736863" y="4328996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flutter: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assets: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- assets/images/bg.jpg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6A9EA-CD1F-2B38-CF1B-C86F8C1FB273}"/>
              </a:ext>
            </a:extLst>
          </p:cNvPr>
          <p:cNvSpPr txBox="1"/>
          <p:nvPr/>
        </p:nvSpPr>
        <p:spPr>
          <a:xfrm>
            <a:off x="6895271" y="3270729"/>
            <a:ext cx="48627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Indentation is correct (use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spaces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file is saved after editing.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 dependencies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-its update pub file</a:t>
            </a:r>
          </a:p>
        </p:txBody>
      </p:sp>
    </p:spTree>
    <p:extLst>
      <p:ext uri="{BB962C8B-B14F-4D97-AF65-F5344CB8AC3E}">
        <p14:creationId xmlns:p14="http://schemas.microsoft.com/office/powerpoint/2010/main" val="263791574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2957</Words>
  <Application>Microsoft Office PowerPoint</Application>
  <PresentationFormat>Widescreen</PresentationFormat>
  <Paragraphs>503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55</vt:i4>
      </vt:variant>
    </vt:vector>
  </HeadingPairs>
  <TitlesOfParts>
    <vt:vector size="65" baseType="lpstr">
      <vt:lpstr>Arial</vt:lpstr>
      <vt:lpstr>Calibri</vt:lpstr>
      <vt:lpstr>Calibri Light</vt:lpstr>
      <vt:lpstr>Times New Roman</vt:lpstr>
      <vt:lpstr>Tw Cen MT</vt:lpstr>
      <vt:lpstr>Tw Cen MT Condensed</vt:lpstr>
      <vt:lpstr>Wingdings 3</vt:lpstr>
      <vt:lpstr>Office Theme</vt:lpstr>
      <vt:lpstr>Integral</vt:lpstr>
      <vt:lpstr>1_Office Theme</vt:lpstr>
      <vt:lpstr>PowerPoint Presentation</vt:lpstr>
      <vt:lpstr>Image widget</vt:lpstr>
      <vt:lpstr>Text widget</vt:lpstr>
      <vt:lpstr>Container widget</vt:lpstr>
      <vt:lpstr>PowerPoint Presentation</vt:lpstr>
      <vt:lpstr>Row widget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Step-by-Step Instructions</vt:lpstr>
      <vt:lpstr>Step 2: Update pubspec.yaml 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V Subba Ramaiah</cp:lastModifiedBy>
  <cp:revision>38</cp:revision>
  <dcterms:created xsi:type="dcterms:W3CDTF">2013-01-27T09:14:16Z</dcterms:created>
  <dcterms:modified xsi:type="dcterms:W3CDTF">2026-08-25T03:20:25Z</dcterms:modified>
  <cp:category/>
</cp:coreProperties>
</file>