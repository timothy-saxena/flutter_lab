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sldIdLst>
    <p:sldId id="256" r:id="rId4"/>
    <p:sldId id="309" r:id="rId5"/>
    <p:sldId id="313" r:id="rId6"/>
    <p:sldId id="314" r:id="rId7"/>
    <p:sldId id="315" r:id="rId8"/>
    <p:sldId id="258" r:id="rId9"/>
    <p:sldId id="259" r:id="rId10"/>
    <p:sldId id="311" r:id="rId11"/>
    <p:sldId id="260" r:id="rId12"/>
    <p:sldId id="261" r:id="rId13"/>
    <p:sldId id="257" r:id="rId14"/>
    <p:sldId id="310" r:id="rId15"/>
    <p:sldId id="263" r:id="rId16"/>
    <p:sldId id="264" r:id="rId17"/>
    <p:sldId id="265" r:id="rId18"/>
    <p:sldId id="266" r:id="rId19"/>
    <p:sldId id="267" r:id="rId20"/>
    <p:sldId id="268" r:id="rId21"/>
    <p:sldId id="312" r:id="rId22"/>
    <p:sldId id="316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317" r:id="rId31"/>
    <p:sldId id="318" r:id="rId32"/>
    <p:sldId id="319" r:id="rId33"/>
    <p:sldId id="320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2" autoAdjust="0"/>
    <p:restoredTop sz="94660"/>
  </p:normalViewPr>
  <p:slideViewPr>
    <p:cSldViewPr snapToGrid="0">
      <p:cViewPr varScale="1">
        <p:scale>
          <a:sx n="88" d="100"/>
          <a:sy n="88" d="100"/>
        </p:scale>
        <p:origin x="120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presProps" Target="pres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8EB75-5EEB-4524-B532-B01A52477325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8C399-2401-41EE-BC38-C5F3E362F0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6088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8EB75-5EEB-4524-B532-B01A52477325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8C399-2401-41EE-BC38-C5F3E362F0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056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8EB75-5EEB-4524-B532-B01A52477325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8C399-2401-41EE-BC38-C5F3E362F0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1682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8EB75-5EEB-4524-B532-B01A52477325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8C399-2401-41EE-BC38-C5F3E362F0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6662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8EB75-5EEB-4524-B532-B01A52477325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8C399-2401-41EE-BC38-C5F3E362F0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00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8EB75-5EEB-4524-B532-B01A52477325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8C399-2401-41EE-BC38-C5F3E362F0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4530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8EB75-5EEB-4524-B532-B01A52477325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8C399-2401-41EE-BC38-C5F3E362F0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3932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8EB75-5EEB-4524-B532-B01A52477325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8C399-2401-41EE-BC38-C5F3E362F0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3119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8EB75-5EEB-4524-B532-B01A52477325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8C399-2401-41EE-BC38-C5F3E362F0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7726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8EB75-5EEB-4524-B532-B01A52477325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8C399-2401-41EE-BC38-C5F3E362F0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5507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8EB75-5EEB-4524-B532-B01A52477325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8C399-2401-41EE-BC38-C5F3E362F0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6497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1DDF9-445A-4BCB-9C7E-6D82992819F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8/16/2026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E1AFF-0CE3-4C50-A1A6-D5C54E39A5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28878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1DDF9-445A-4BCB-9C7E-6D82992819F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8/16/2026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E1AFF-0CE3-4C50-A1A6-D5C54E39A5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18202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1DDF9-445A-4BCB-9C7E-6D82992819F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8/16/2026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E1AFF-0CE3-4C50-A1A6-D5C54E39A5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4644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1DDF9-445A-4BCB-9C7E-6D82992819F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8/16/2026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E1AFF-0CE3-4C50-A1A6-D5C54E39A5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62772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1DDF9-445A-4BCB-9C7E-6D82992819F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8/16/2026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E1AFF-0CE3-4C50-A1A6-D5C54E39A5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67116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1DDF9-445A-4BCB-9C7E-6D82992819F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8/16/2026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E1AFF-0CE3-4C50-A1A6-D5C54E39A5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78146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1DDF9-445A-4BCB-9C7E-6D82992819F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8/16/2026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E1AFF-0CE3-4C50-A1A6-D5C54E39A5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21329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1DDF9-445A-4BCB-9C7E-6D82992819F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8/16/2026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E1AFF-0CE3-4C50-A1A6-D5C54E39A5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859814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1DDF9-445A-4BCB-9C7E-6D82992819F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8/16/2026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E1AFF-0CE3-4C50-A1A6-D5C54E39A5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99545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1DDF9-445A-4BCB-9C7E-6D82992819F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8/16/2026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E1AFF-0CE3-4C50-A1A6-D5C54E39A5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8816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1DDF9-445A-4BCB-9C7E-6D82992819F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8/16/2026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E1AFF-0CE3-4C50-A1A6-D5C54E39A5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641506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A4605-7A84-D21C-B42A-3C1028A674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93764-75F0-6182-D424-A6ED7EA911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10BDA-F3AB-4398-4A6A-082F9A81B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C46F39-2249-48DE-8DB2-3B110C2A8E40}" type="datetimeFigureOut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16-08-2026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D60026-9794-1C60-A4C6-6A1E3D71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0C4FC5-9351-3187-D2AC-B2662967D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47A207-9A94-4BCE-8CB5-64729FD700F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57673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0275D-D86B-066A-CA72-AD3EC08B2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7183BD-2793-62A3-1945-76C490C460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3EAC3E-38D7-518F-26BE-CCA080A3C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C46F39-2249-48DE-8DB2-3B110C2A8E40}" type="datetimeFigureOut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16-08-2026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A16F04-F1B6-9CD4-C80B-6DD705195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A7086-2EA2-DBF6-D763-B18B763D2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47A207-9A94-4BCE-8CB5-64729FD700F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32315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E4D6C-BD8C-39F2-9121-1043863B3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D381D4-496C-4A57-68F6-585609C258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BC356-354F-D465-3A63-0AE726FAA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C46F39-2249-48DE-8DB2-3B110C2A8E40}" type="datetimeFigureOut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16-08-2026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7265F-A8F2-1D15-CB57-A552622B1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9933D-2DBC-EBBA-CA19-CAF2A761A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47A207-9A94-4BCE-8CB5-64729FD700F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141322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A5006-7FC0-F6C5-4115-7F321034B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D656A-3D70-C1A4-BF53-C825B3A870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97316E-C9C0-A165-8C3F-C250EB23CA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CF5398-82F7-94C4-1816-F06765D6D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C46F39-2249-48DE-8DB2-3B110C2A8E40}" type="datetimeFigureOut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16-08-2026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6BE424-D61C-3DC1-9D8B-52F7B6F3D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AEF4C6-FE12-0975-F035-914D563AC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47A207-9A94-4BCE-8CB5-64729FD700F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70840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6A48F-968B-2E0B-9D1A-A7FC86653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CC3FE3-A78E-8308-3B21-41538247C4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FF8A23-AD31-5782-D529-9928FA94C5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A2CAE8-EC75-C2E6-CB6F-114C30CE73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452EFC-9B8B-2620-F5D8-FB5F96B35B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D365E4-A821-A330-FA2A-55408A240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C46F39-2249-48DE-8DB2-3B110C2A8E40}" type="datetimeFigureOut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16-08-2026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ECE734-46CC-D720-18B3-C42F71B67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11D1C0-9B15-2A94-A1D4-A3AE63975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47A207-9A94-4BCE-8CB5-64729FD700F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13897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DD74F-4561-19C1-23F0-68D761DF5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D95CAA-E987-FC57-B9BA-F90DD0697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C46F39-2249-48DE-8DB2-3B110C2A8E40}" type="datetimeFigureOut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16-08-2026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1F4B3F-F968-E6F1-882D-DDBDA5D17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A03944-4B1B-AAE7-F287-B21756A5B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47A207-9A94-4BCE-8CB5-64729FD700F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397878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58FE6A-2F98-059B-0339-25067869C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C46F39-2249-48DE-8DB2-3B110C2A8E40}" type="datetimeFigureOut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16-08-2026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7C7DB7-96B4-4741-47F2-011FD8DC0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4E14D0-DD45-E725-87B6-A00A9BA70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47A207-9A94-4BCE-8CB5-64729FD700F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835104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7E753-BD35-19F6-F1E0-2E9CEAABD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ECA11-DA02-BC1A-F99B-0310A73C81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C327EA-8C7F-188A-E751-7ED3AF934A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474526-3867-AD9D-00FF-EB6D25916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C46F39-2249-48DE-8DB2-3B110C2A8E40}" type="datetimeFigureOut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16-08-2026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631550-93D7-73BD-DF5B-956EA1602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F0C625-5005-228B-0446-DA6BDB7E0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47A207-9A94-4BCE-8CB5-64729FD700F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581783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4AAE3-9FEB-40FC-12CC-8207F33F2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302BEB-AFA9-97AB-7774-E3A988765B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D585E9-A2E0-AB43-9CF0-5DBB60F633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D64573-BB2A-9CD3-3267-F0AD260B9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C46F39-2249-48DE-8DB2-3B110C2A8E40}" type="datetimeFigureOut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16-08-2026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41D0FE-BB42-7D98-7E2F-FD75BC46A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0C0984-DFA6-D9CC-044C-1944F9F21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47A207-9A94-4BCE-8CB5-64729FD700F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023145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74A09-838B-C413-8524-A70086120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5E1B13-CEDB-EBB6-6B06-36EB31AC6E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C9900-39F8-0F10-1D83-2E3214AA0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C46F39-2249-48DE-8DB2-3B110C2A8E40}" type="datetimeFigureOut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16-08-2026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2813F2-0113-03B0-F83F-91FB55A8B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D23352-C145-7844-FDF9-20B7054ED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47A207-9A94-4BCE-8CB5-64729FD700F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105599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D4DDFD-5038-EBE3-D135-444C45F895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EFFC15-C416-3A3F-8DDC-235FD00665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B08F25-CEE6-01EB-45B8-3A010C644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C46F39-2249-48DE-8DB2-3B110C2A8E40}" type="datetimeFigureOut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16-08-2026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85BE84-0EF0-3BF6-58BE-7C0AAC253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7D2DC-95CE-CA45-EA30-D2DBC92EB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47A207-9A94-4BCE-8CB5-64729FD700F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0277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C8EB75-5EEB-4524-B532-B01A52477325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18C399-2401-41EE-BC38-C5F3E362F0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3828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81DDF9-445A-4BCB-9C7E-6D82992819F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8/16/2026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4E1AFF-0CE3-4C50-A1A6-D5C54E39A5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97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621088-8D70-1F6B-C9E6-F57AE8998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49FBD5-938A-2406-E56A-AD05B66A6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BD504F-B752-2971-A497-0AC2CF9E22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C46F39-2249-48DE-8DB2-3B110C2A8E40}" type="datetimeFigureOut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16-08-2026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123E7C-921B-1731-D68D-F6393EA79F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C8B6A-6463-F331-0F15-C865773A62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47A207-9A94-4BCE-8CB5-64729FD700F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6029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Widgets 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Dr. V. Subba Ramaiah</a:t>
            </a:r>
          </a:p>
          <a:p>
            <a:r>
              <a:rPr lang="en-US" dirty="0" smtClean="0"/>
              <a:t>Asst. Prof., Dep. Of CSE</a:t>
            </a:r>
          </a:p>
          <a:p>
            <a:r>
              <a:rPr lang="en-US" dirty="0" smtClean="0"/>
              <a:t>MGIT, Hyd.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8577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a widget?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A </a:t>
            </a:r>
            <a:r>
              <a:rPr lang="en-US" b="1" dirty="0" smtClean="0"/>
              <a:t>Widget</a:t>
            </a:r>
            <a:r>
              <a:rPr lang="en-US" dirty="0" smtClean="0"/>
              <a:t> is a description of part of the user interface.</a:t>
            </a:r>
          </a:p>
          <a:p>
            <a:pPr algn="just"/>
            <a:r>
              <a:rPr lang="en-US" dirty="0" smtClean="0"/>
              <a:t>Everything in Flutter is a widget.</a:t>
            </a:r>
          </a:p>
          <a:p>
            <a:pPr algn="just"/>
            <a:r>
              <a:rPr lang="en-US" dirty="0" smtClean="0"/>
              <a:t>Primary component of any flutter application. </a:t>
            </a:r>
          </a:p>
          <a:p>
            <a:pPr algn="just"/>
            <a:r>
              <a:rPr lang="en-US" dirty="0" smtClean="0"/>
              <a:t>Acts as a UI for the user to interact with the application.</a:t>
            </a:r>
          </a:p>
          <a:p>
            <a:pPr algn="just"/>
            <a:r>
              <a:rPr lang="en-US" b="1" dirty="0" smtClean="0"/>
              <a:t>building block of the user interface (UI)</a:t>
            </a:r>
          </a:p>
          <a:p>
            <a:pPr algn="just"/>
            <a:r>
              <a:rPr lang="en-US" dirty="0" smtClean="0"/>
              <a:t>Think of widgets like </a:t>
            </a:r>
            <a:r>
              <a:rPr lang="en-US" b="1" dirty="0" smtClean="0"/>
              <a:t>Lego pieces</a:t>
            </a:r>
            <a:r>
              <a:rPr lang="en-US" dirty="0" smtClean="0"/>
              <a:t> — each one does a small job,</a:t>
            </a:r>
            <a:br>
              <a:rPr lang="en-US" dirty="0" smtClean="0"/>
            </a:br>
            <a:r>
              <a:rPr lang="en-US" dirty="0" smtClean="0"/>
              <a:t>and you combine them to build your full app.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9176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E85CB-B44C-007B-7144-1117C87AC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15497"/>
            <a:ext cx="10515600" cy="1325563"/>
          </a:xfrm>
        </p:spPr>
        <p:txBody>
          <a:bodyPr/>
          <a:lstStyle/>
          <a:p>
            <a:r>
              <a:rPr lang="en-US" b="1" dirty="0" smtClean="0"/>
              <a:t>Purpose </a:t>
            </a:r>
            <a:r>
              <a:rPr lang="en-US" b="1" dirty="0"/>
              <a:t>of a Widget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C6FC4-22F3-4A85-DD10-103D186DEE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Widgets are used to:</a:t>
            </a:r>
          </a:p>
          <a:p>
            <a:r>
              <a:rPr lang="en-US" dirty="0"/>
              <a:t>Build the </a:t>
            </a:r>
            <a:r>
              <a:rPr lang="en-US" b="1" dirty="0"/>
              <a:t>UI layout</a:t>
            </a:r>
            <a:r>
              <a:rPr lang="en-US" dirty="0"/>
              <a:t>.</a:t>
            </a:r>
          </a:p>
          <a:p>
            <a:r>
              <a:rPr lang="en-US" dirty="0"/>
              <a:t>Manage the </a:t>
            </a:r>
            <a:r>
              <a:rPr lang="en-US" b="1" dirty="0"/>
              <a:t>state</a:t>
            </a:r>
            <a:r>
              <a:rPr lang="en-US" dirty="0"/>
              <a:t> (data that changes on screen).</a:t>
            </a:r>
          </a:p>
          <a:p>
            <a:r>
              <a:rPr lang="en-US" dirty="0"/>
              <a:t>Handle </a:t>
            </a:r>
            <a:r>
              <a:rPr lang="en-US" b="1" dirty="0"/>
              <a:t>user interactions</a:t>
            </a:r>
            <a:r>
              <a:rPr lang="en-US" dirty="0"/>
              <a:t> (like button taps).</a:t>
            </a:r>
          </a:p>
          <a:p>
            <a:r>
              <a:rPr lang="en-US" dirty="0"/>
              <a:t>Apply </a:t>
            </a:r>
            <a:r>
              <a:rPr lang="en-US" b="1" dirty="0"/>
              <a:t>styling and themes</a:t>
            </a:r>
            <a:r>
              <a:rPr lang="en-US" dirty="0"/>
              <a:t>.</a:t>
            </a:r>
          </a:p>
          <a:p>
            <a:r>
              <a:rPr lang="en-US" dirty="0"/>
              <a:t>In short: a </a:t>
            </a:r>
            <a:r>
              <a:rPr lang="en-US" b="1" dirty="0"/>
              <a:t>widget tells Flutter what to draw</a:t>
            </a:r>
            <a:r>
              <a:rPr lang="en-US" dirty="0"/>
              <a:t> and </a:t>
            </a:r>
            <a:r>
              <a:rPr lang="en-US" b="1" dirty="0"/>
              <a:t>how to behave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6747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0CF64-CC69-59EB-1414-01DD52708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Why </a:t>
            </a:r>
            <a:r>
              <a:rPr lang="en-US" b="1" dirty="0"/>
              <a:t>we need Widgets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7C6FC6-B39D-DD1B-7B9D-A97FB1A15E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Without widgets, you’d have to write raw layout code (like Android XML or iOS Storyboards).</a:t>
            </a:r>
            <a:br>
              <a:rPr lang="en-IN" dirty="0"/>
            </a:br>
            <a:r>
              <a:rPr lang="en-IN" dirty="0"/>
              <a:t>Flutter widgets make UI development:</a:t>
            </a:r>
          </a:p>
          <a:p>
            <a:r>
              <a:rPr lang="en-IN" b="1" dirty="0"/>
              <a:t>Declarative</a:t>
            </a:r>
            <a:r>
              <a:rPr lang="en-IN" dirty="0"/>
              <a:t> (you describe </a:t>
            </a:r>
            <a:r>
              <a:rPr lang="en-IN" i="1" dirty="0"/>
              <a:t>what</a:t>
            </a:r>
            <a:r>
              <a:rPr lang="en-IN" dirty="0"/>
              <a:t> you want, Flutter handles </a:t>
            </a:r>
            <a:r>
              <a:rPr lang="en-IN" i="1" dirty="0"/>
              <a:t>how</a:t>
            </a:r>
            <a:r>
              <a:rPr lang="en-IN" dirty="0"/>
              <a:t>).</a:t>
            </a:r>
          </a:p>
          <a:p>
            <a:r>
              <a:rPr lang="en-IN" b="1" dirty="0"/>
              <a:t>Faster</a:t>
            </a:r>
            <a:r>
              <a:rPr lang="en-IN" dirty="0"/>
              <a:t> (hot reload).</a:t>
            </a:r>
          </a:p>
          <a:p>
            <a:r>
              <a:rPr lang="en-IN" b="1" dirty="0"/>
              <a:t>Consistent</a:t>
            </a:r>
            <a:r>
              <a:rPr lang="en-IN" dirty="0"/>
              <a:t> (same look across Android, iOS, Web).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7576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9BC1A-4CB9-5FAA-B3D5-E9E5871C2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Types </a:t>
            </a:r>
            <a:r>
              <a:rPr lang="en-US" b="1" dirty="0"/>
              <a:t>of Widgets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A4B6D-27CD-149C-98F5-16F6D6BD82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Flutter widgets are mainly divided into </a:t>
            </a:r>
            <a:r>
              <a:rPr lang="en-US" b="1" dirty="0"/>
              <a:t>two types: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9A0398B-05A5-C18A-2392-742A4F55996F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38200" y="2669450"/>
          <a:ext cx="10515600" cy="2834640"/>
        </p:xfrm>
        <a:graphic>
          <a:graphicData uri="http://schemas.openxmlformats.org/drawingml/2006/table">
            <a:tbl>
              <a:tblPr/>
              <a:tblGrid>
                <a:gridCol w="3266661">
                  <a:extLst>
                    <a:ext uri="{9D8B030D-6E8A-4147-A177-3AD203B41FA5}">
                      <a16:colId xmlns:a16="http://schemas.microsoft.com/office/drawing/2014/main" val="1191370807"/>
                    </a:ext>
                  </a:extLst>
                </a:gridCol>
                <a:gridCol w="3329609">
                  <a:extLst>
                    <a:ext uri="{9D8B030D-6E8A-4147-A177-3AD203B41FA5}">
                      <a16:colId xmlns:a16="http://schemas.microsoft.com/office/drawing/2014/main" val="1688360726"/>
                    </a:ext>
                  </a:extLst>
                </a:gridCol>
                <a:gridCol w="3919330">
                  <a:extLst>
                    <a:ext uri="{9D8B030D-6E8A-4147-A177-3AD203B41FA5}">
                      <a16:colId xmlns:a16="http://schemas.microsoft.com/office/drawing/2014/main" val="30267060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>
                          <a:solidFill>
                            <a:schemeClr val="accent2"/>
                          </a:solidFill>
                        </a:rPr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>
                          <a:solidFill>
                            <a:schemeClr val="accent2"/>
                          </a:solidFill>
                        </a:rPr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>
                          <a:solidFill>
                            <a:schemeClr val="accent2"/>
                          </a:solidFill>
                        </a:rPr>
                        <a:t>When to 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9699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/>
                        <a:t>Stateless Widget</a:t>
                      </a:r>
                      <a:endParaRPr lang="en-IN" sz="2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UI </a:t>
                      </a:r>
                      <a:r>
                        <a:rPr lang="en-US" sz="2800" b="1" dirty="0"/>
                        <a:t>does not change</a:t>
                      </a:r>
                      <a:r>
                        <a:rPr lang="en-US" sz="2800" dirty="0"/>
                        <a:t> over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For static content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61941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/>
                        <a:t>Stateful Widget</a:t>
                      </a:r>
                      <a:endParaRPr lang="en-IN" sz="2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UI </a:t>
                      </a:r>
                      <a:r>
                        <a:rPr lang="en-US" sz="2800" b="1"/>
                        <a:t>changes</a:t>
                      </a:r>
                      <a:r>
                        <a:rPr lang="en-US" sz="2800"/>
                        <a:t> when data or user input changes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For dynamic or interactive screens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42383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1639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Stateful and Stateless Widgets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0" i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widget is either stateful or stateless. </a:t>
            </a:r>
            <a:r>
              <a:rPr lang="en-US" b="1" i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a widget can change—when a user interacts with it, for example—it's stateful.</a:t>
            </a:r>
            <a:r>
              <a:rPr lang="en-US" b="0" i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algn="just"/>
            <a:r>
              <a:rPr lang="en-US" b="1" i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stateless widget never changes</a:t>
            </a:r>
            <a:r>
              <a:rPr lang="en-US" b="0" i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Icon , </a:t>
            </a:r>
            <a:r>
              <a:rPr lang="en-US" b="0" i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IconButton</a:t>
            </a:r>
            <a:r>
              <a:rPr lang="en-US" b="0" i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, and Text are examples of stateless widgets.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032171" y="3863182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b="1" dirty="0" smtClean="0"/>
              <a:t> 	       Flutter Widgets</a:t>
            </a:r>
          </a:p>
          <a:p>
            <a:r>
              <a:rPr lang="en-IN" b="1" dirty="0" smtClean="0"/>
              <a:t>                                       │</a:t>
            </a:r>
          </a:p>
          <a:p>
            <a:r>
              <a:rPr lang="en-IN" b="1" dirty="0" smtClean="0"/>
              <a:t>             ┌───────────┴───────────┐</a:t>
            </a:r>
          </a:p>
          <a:p>
            <a:r>
              <a:rPr lang="en-IN" b="1" dirty="0" smtClean="0"/>
              <a:t>            ↓                                                 ↓</a:t>
            </a:r>
          </a:p>
          <a:p>
            <a:r>
              <a:rPr lang="en-IN" b="1" dirty="0" smtClean="0"/>
              <a:t>      </a:t>
            </a:r>
            <a:r>
              <a:rPr lang="en-IN" b="1" dirty="0" err="1" smtClean="0"/>
              <a:t>StatelessWidget</a:t>
            </a:r>
            <a:r>
              <a:rPr lang="en-IN" b="1" dirty="0" smtClean="0"/>
              <a:t>                </a:t>
            </a:r>
            <a:r>
              <a:rPr lang="en-IN" b="1" dirty="0" err="1" smtClean="0"/>
              <a:t>StatefulWidget</a:t>
            </a:r>
            <a:endParaRPr lang="en-IN" b="1" dirty="0" smtClean="0"/>
          </a:p>
          <a:p>
            <a:r>
              <a:rPr lang="en-IN" b="1" dirty="0" smtClean="0"/>
              <a:t>             │                                              │</a:t>
            </a:r>
          </a:p>
          <a:p>
            <a:r>
              <a:rPr lang="en-IN" b="1" dirty="0" smtClean="0"/>
              <a:t>       Fixed UI                                Dynamic UI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574942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5D59B-1152-9EB5-7313-88C5DB493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Examples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7317F3-7C98-7DCD-B40F-5D558A74D4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1600200"/>
            <a:ext cx="9144000" cy="5257800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b="0" i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tateless widgets are </a:t>
            </a:r>
            <a:r>
              <a:rPr lang="en-US" b="1" i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text, icons, icon buttons, and raised buttons</a:t>
            </a:r>
            <a:r>
              <a:rPr lang="en-US" b="0" i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b="0" i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stateful widget is dynamic: for example, it can change its appearance in response to events triggered by user interactions or when it receives data. </a:t>
            </a:r>
            <a:r>
              <a:rPr lang="en-US" b="1" i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Checkbox , Radio , Slider , </a:t>
            </a:r>
            <a:r>
              <a:rPr lang="en-US" b="1" i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InkWell</a:t>
            </a:r>
            <a:r>
              <a:rPr lang="en-US" b="1" i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, Form , and </a:t>
            </a:r>
            <a:r>
              <a:rPr lang="en-US" b="1" i="0" dirty="0" err="1">
                <a:solidFill>
                  <a:srgbClr val="2021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TextField</a:t>
            </a:r>
            <a:r>
              <a:rPr lang="en-US" b="0" i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are examples of stateful widgets.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632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6905641"/>
              </p:ext>
            </p:extLst>
          </p:nvPr>
        </p:nvGraphicFramePr>
        <p:xfrm>
          <a:off x="1415142" y="990598"/>
          <a:ext cx="9296400" cy="4152743"/>
        </p:xfrm>
        <a:graphic>
          <a:graphicData uri="http://schemas.openxmlformats.org/drawingml/2006/table">
            <a:tbl>
              <a:tblPr/>
              <a:tblGrid>
                <a:gridCol w="3098800">
                  <a:extLst>
                    <a:ext uri="{9D8B030D-6E8A-4147-A177-3AD203B41FA5}">
                      <a16:colId xmlns:a16="http://schemas.microsoft.com/office/drawing/2014/main" val="539243666"/>
                    </a:ext>
                  </a:extLst>
                </a:gridCol>
                <a:gridCol w="3098800">
                  <a:extLst>
                    <a:ext uri="{9D8B030D-6E8A-4147-A177-3AD203B41FA5}">
                      <a16:colId xmlns:a16="http://schemas.microsoft.com/office/drawing/2014/main" val="3991517027"/>
                    </a:ext>
                  </a:extLst>
                </a:gridCol>
                <a:gridCol w="3098800">
                  <a:extLst>
                    <a:ext uri="{9D8B030D-6E8A-4147-A177-3AD203B41FA5}">
                      <a16:colId xmlns:a16="http://schemas.microsoft.com/office/drawing/2014/main" val="3713089238"/>
                    </a:ext>
                  </a:extLst>
                </a:gridCol>
              </a:tblGrid>
              <a:tr h="593249">
                <a:tc>
                  <a:txBody>
                    <a:bodyPr/>
                    <a:lstStyle/>
                    <a:p>
                      <a:r>
                        <a:rPr lang="en-IN" b="1" dirty="0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 err="1"/>
                        <a:t>StatelessWidget</a:t>
                      </a:r>
                      <a:endParaRPr lang="en-IN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 err="1"/>
                        <a:t>StatefulWidget</a:t>
                      </a:r>
                      <a:endParaRPr lang="en-IN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2465089"/>
                  </a:ext>
                </a:extLst>
              </a:tr>
              <a:tr h="593249">
                <a:tc>
                  <a:txBody>
                    <a:bodyPr/>
                    <a:lstStyle/>
                    <a:p>
                      <a:r>
                        <a:rPr lang="en-IN"/>
                        <a:t>State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No mutable state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Has mutable state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6956201"/>
                  </a:ext>
                </a:extLst>
              </a:tr>
              <a:tr h="593249">
                <a:tc>
                  <a:txBody>
                    <a:bodyPr/>
                    <a:lstStyle/>
                    <a:p>
                      <a:r>
                        <a:rPr lang="en-IN"/>
                        <a:t>UI changes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Generally based on inputs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Can change during runtime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5929418"/>
                  </a:ext>
                </a:extLst>
              </a:tr>
              <a:tr h="593249">
                <a:tc>
                  <a:txBody>
                    <a:bodyPr/>
                    <a:lstStyle/>
                    <a:p>
                      <a:r>
                        <a:rPr lang="en-IN" dirty="0" err="1"/>
                        <a:t>setState</a:t>
                      </a:r>
                      <a:r>
                        <a:rPr lang="en-IN" dirty="0"/>
                        <a:t>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1892191"/>
                  </a:ext>
                </a:extLst>
              </a:tr>
              <a:tr h="593249">
                <a:tc>
                  <a:txBody>
                    <a:bodyPr/>
                    <a:lstStyle/>
                    <a:p>
                      <a:r>
                        <a:rPr lang="en-IN" dirty="0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Text, Icon, static UI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Counter, Checkbox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8594502"/>
                  </a:ext>
                </a:extLst>
              </a:tr>
              <a:tr h="593249">
                <a:tc>
                  <a:txBody>
                    <a:bodyPr/>
                    <a:lstStyle/>
                    <a:p>
                      <a:r>
                        <a:rPr lang="en-IN"/>
                        <a:t>Complexity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Simple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More complex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8383194"/>
                  </a:ext>
                </a:extLst>
              </a:tr>
              <a:tr h="593249">
                <a:tc>
                  <a:txBody>
                    <a:bodyPr/>
                    <a:lstStyle/>
                    <a:p>
                      <a:r>
                        <a:rPr lang="en-IN"/>
                        <a:t>State object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Not separate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Separate State object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2556026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415142" y="5220678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 smtClean="0"/>
              <a:t>Stateless = UI doesn't manage changing state</a:t>
            </a:r>
          </a:p>
          <a:p>
            <a:endParaRPr lang="en-IN" dirty="0" smtClean="0"/>
          </a:p>
          <a:p>
            <a:r>
              <a:rPr lang="en-IN" dirty="0" err="1" smtClean="0"/>
              <a:t>Stateful</a:t>
            </a:r>
            <a:r>
              <a:rPr lang="en-IN" dirty="0" smtClean="0"/>
              <a:t> = UI manages changing state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6332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Why do we need stateless widget in flutter? - Stack Overflow">
            <a:extLst>
              <a:ext uri="{FF2B5EF4-FFF2-40B4-BE49-F238E27FC236}">
                <a16:creationId xmlns:a16="http://schemas.microsoft.com/office/drawing/2014/main" id="{A3BCD20E-2D3E-47A5-DC60-051862038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674914"/>
            <a:ext cx="9144000" cy="5094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7167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Flutter: Stateful Widgets vs Stateless Widgets | by Yogita Kumar | Level Up  Coding">
            <a:extLst>
              <a:ext uri="{FF2B5EF4-FFF2-40B4-BE49-F238E27FC236}">
                <a16:creationId xmlns:a16="http://schemas.microsoft.com/office/drawing/2014/main" id="{617212F9-D920-656D-74CC-66F10A4652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718456"/>
            <a:ext cx="9144000" cy="5268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43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900112"/>
            <a:ext cx="10515601" cy="505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5303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Basic Structure of a Flutter Application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3600" dirty="0" smtClean="0"/>
              <a:t>import '</a:t>
            </a:r>
            <a:r>
              <a:rPr lang="en-IN" sz="3600" dirty="0" err="1" smtClean="0"/>
              <a:t>package:flutter</a:t>
            </a:r>
            <a:r>
              <a:rPr lang="en-IN" sz="3600" dirty="0" smtClean="0"/>
              <a:t>/</a:t>
            </a:r>
            <a:r>
              <a:rPr lang="en-IN" sz="3600" dirty="0" err="1" smtClean="0"/>
              <a:t>material.dart</a:t>
            </a:r>
            <a:r>
              <a:rPr lang="en-IN" sz="3600" dirty="0" smtClean="0"/>
              <a:t>';</a:t>
            </a:r>
          </a:p>
          <a:p>
            <a:pPr marL="0" indent="0">
              <a:buNone/>
            </a:pPr>
            <a:r>
              <a:rPr lang="en-IN" sz="3600" dirty="0" smtClean="0"/>
              <a:t>void main() {  </a:t>
            </a:r>
          </a:p>
          <a:p>
            <a:pPr marL="0" indent="0">
              <a:buNone/>
            </a:pPr>
            <a:r>
              <a:rPr lang="en-IN" sz="3600" dirty="0" err="1" smtClean="0"/>
              <a:t>runApp</a:t>
            </a:r>
            <a:r>
              <a:rPr lang="en-IN" sz="3600" dirty="0" smtClean="0"/>
              <a:t>(</a:t>
            </a:r>
            <a:r>
              <a:rPr lang="en-IN" sz="3600" dirty="0" err="1" smtClean="0"/>
              <a:t>MyApp</a:t>
            </a:r>
            <a:r>
              <a:rPr lang="en-IN" sz="3600" dirty="0" smtClean="0"/>
              <a:t>());</a:t>
            </a:r>
          </a:p>
          <a:p>
            <a:pPr marL="0" indent="0">
              <a:buNone/>
            </a:pPr>
            <a:r>
              <a:rPr lang="en-IN" sz="3600" dirty="0" smtClean="0"/>
              <a:t>}</a:t>
            </a:r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r>
              <a:rPr lang="en-US" sz="3600" dirty="0" err="1" smtClean="0"/>
              <a:t>runApp</a:t>
            </a:r>
            <a:r>
              <a:rPr lang="en-US" sz="3600" dirty="0" smtClean="0"/>
              <a:t>() takes the root widget and displays it on the screen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1244728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packages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IN" dirty="0"/>
              <a:t>import '</a:t>
            </a:r>
            <a:r>
              <a:rPr lang="en-IN" dirty="0" err="1"/>
              <a:t>package:flutter</a:t>
            </a:r>
            <a:r>
              <a:rPr lang="en-IN" dirty="0"/>
              <a:t>/</a:t>
            </a:r>
            <a:r>
              <a:rPr lang="en-IN" dirty="0" err="1"/>
              <a:t>material.dart</a:t>
            </a:r>
            <a:r>
              <a:rPr lang="en-IN" dirty="0"/>
              <a:t>';</a:t>
            </a:r>
          </a:p>
          <a:p>
            <a:pPr marL="514350" indent="-514350">
              <a:buAutoNum type="arabicPeriod"/>
            </a:pPr>
            <a:r>
              <a:rPr lang="en-US" dirty="0"/>
              <a:t>Purpose: </a:t>
            </a:r>
            <a:r>
              <a:rPr lang="en-US" dirty="0">
                <a:solidFill>
                  <a:srgbClr val="FF0000"/>
                </a:solidFill>
              </a:rPr>
              <a:t>Loads the Flutter Material Design library</a:t>
            </a:r>
            <a:r>
              <a:rPr lang="en-US" dirty="0"/>
              <a:t>, which contains widgets like </a:t>
            </a:r>
            <a:r>
              <a:rPr lang="en-US" dirty="0">
                <a:solidFill>
                  <a:srgbClr val="0070C0"/>
                </a:solidFill>
              </a:rPr>
              <a:t>MaterialApp, Scaffold, </a:t>
            </a:r>
            <a:r>
              <a:rPr lang="en-US" dirty="0" err="1">
                <a:solidFill>
                  <a:srgbClr val="0070C0"/>
                </a:solidFill>
              </a:rPr>
              <a:t>AppBar</a:t>
            </a:r>
            <a:r>
              <a:rPr lang="en-US" dirty="0">
                <a:solidFill>
                  <a:srgbClr val="0070C0"/>
                </a:solidFill>
              </a:rPr>
              <a:t>, Text</a:t>
            </a:r>
            <a:r>
              <a:rPr lang="en-US" dirty="0"/>
              <a:t>, etc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519AA8-4D51-4018-5C04-9197AF60F2CD}"/>
              </a:ext>
            </a:extLst>
          </p:cNvPr>
          <p:cNvSpPr txBox="1"/>
          <p:nvPr/>
        </p:nvSpPr>
        <p:spPr>
          <a:xfrm>
            <a:off x="733008" y="3806687"/>
            <a:ext cx="1024973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MaterialApp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→ provides theme and overall app structure.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Scaffold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→ gives you a full page layout.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AppBar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→ shows the top bar with title.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Text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→ displays your content.</a:t>
            </a:r>
            <a:endParaRPr kumimoji="0" lang="en-IN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7989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53BFB-0807-E447-62CD-B269C2114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8154"/>
            <a:ext cx="10515600" cy="1325563"/>
          </a:xfrm>
        </p:spPr>
        <p:txBody>
          <a:bodyPr/>
          <a:lstStyle/>
          <a:p>
            <a:r>
              <a:rPr lang="en-IN" dirty="0" smtClean="0"/>
              <a:t> </a:t>
            </a:r>
            <a:r>
              <a:rPr lang="en-IN" dirty="0" err="1" smtClean="0"/>
              <a:t>MaterialApp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549EEF-A63A-3FA8-C6B3-D1F4908849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Use / Purpose</a:t>
            </a:r>
          </a:p>
          <a:p>
            <a:r>
              <a:rPr lang="en-US" b="1" dirty="0"/>
              <a:t>Main root widget</a:t>
            </a:r>
            <a:r>
              <a:rPr lang="en-US" dirty="0"/>
              <a:t> for Material Design apps.</a:t>
            </a:r>
          </a:p>
          <a:p>
            <a:r>
              <a:rPr lang="en-US" dirty="0" smtClean="0"/>
              <a:t>Sets </a:t>
            </a:r>
            <a:r>
              <a:rPr lang="en-US" dirty="0"/>
              <a:t>up </a:t>
            </a:r>
            <a:r>
              <a:rPr lang="en-US" b="1" dirty="0"/>
              <a:t>themes</a:t>
            </a:r>
            <a:r>
              <a:rPr lang="en-US" dirty="0"/>
              <a:t>, </a:t>
            </a:r>
            <a:r>
              <a:rPr lang="en-US" b="1" dirty="0"/>
              <a:t>routes</a:t>
            </a:r>
            <a:r>
              <a:rPr lang="en-US" dirty="0"/>
              <a:t>, </a:t>
            </a:r>
            <a:r>
              <a:rPr lang="en-US" b="1" dirty="0"/>
              <a:t>navigation</a:t>
            </a:r>
            <a:r>
              <a:rPr lang="en-US" dirty="0"/>
              <a:t>, and </a:t>
            </a:r>
            <a:r>
              <a:rPr lang="en-US" b="1" dirty="0"/>
              <a:t>title bar</a:t>
            </a:r>
            <a:r>
              <a:rPr lang="en-US" dirty="0"/>
              <a:t>.</a:t>
            </a:r>
          </a:p>
          <a:p>
            <a:r>
              <a:rPr lang="en-US" dirty="0"/>
              <a:t>Provides the base structure and styling (colors, fonts, transitions) following Google’s Material Design system.</a:t>
            </a:r>
          </a:p>
          <a:p>
            <a:pPr marL="0" indent="0">
              <a:buNone/>
            </a:pPr>
            <a:r>
              <a:rPr lang="en-US" b="1" dirty="0" smtClean="0"/>
              <a:t>Why </a:t>
            </a:r>
            <a:r>
              <a:rPr lang="en-US" b="1" dirty="0"/>
              <a:t>we need </a:t>
            </a:r>
          </a:p>
          <a:p>
            <a:r>
              <a:rPr lang="en-US" dirty="0"/>
              <a:t>Without MaterialApp, widgets like Scaffold, </a:t>
            </a:r>
            <a:r>
              <a:rPr lang="en-US" dirty="0" err="1"/>
              <a:t>AppBar</a:t>
            </a:r>
            <a:r>
              <a:rPr lang="en-US" dirty="0"/>
              <a:t>, and </a:t>
            </a:r>
            <a:r>
              <a:rPr lang="en-US" dirty="0" err="1"/>
              <a:t>TextTheme</a:t>
            </a:r>
            <a:r>
              <a:rPr lang="en-US" dirty="0"/>
              <a:t> won’t have access to Material styling.</a:t>
            </a:r>
          </a:p>
          <a:p>
            <a:r>
              <a:rPr lang="en-US" dirty="0" smtClean="0"/>
              <a:t>Gives </a:t>
            </a:r>
            <a:r>
              <a:rPr lang="en-US" dirty="0"/>
              <a:t>your app a </a:t>
            </a:r>
            <a:r>
              <a:rPr lang="en-US" b="1" dirty="0"/>
              <a:t>consistent look and feel</a:t>
            </a:r>
            <a:r>
              <a:rPr lang="en-US" dirty="0"/>
              <a:t> across platforms.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8807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4F6B79F-4FB3-4265-46BA-C5D722066D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9523910"/>
              </p:ext>
            </p:extLst>
          </p:nvPr>
        </p:nvGraphicFramePr>
        <p:xfrm>
          <a:off x="589720" y="1710856"/>
          <a:ext cx="11257721" cy="4450080"/>
        </p:xfrm>
        <a:graphic>
          <a:graphicData uri="http://schemas.openxmlformats.org/drawingml/2006/table">
            <a:tbl>
              <a:tblPr/>
              <a:tblGrid>
                <a:gridCol w="4151244">
                  <a:extLst>
                    <a:ext uri="{9D8B030D-6E8A-4147-A177-3AD203B41FA5}">
                      <a16:colId xmlns:a16="http://schemas.microsoft.com/office/drawing/2014/main" val="12096613"/>
                    </a:ext>
                  </a:extLst>
                </a:gridCol>
                <a:gridCol w="7106477">
                  <a:extLst>
                    <a:ext uri="{9D8B030D-6E8A-4147-A177-3AD203B41FA5}">
                      <a16:colId xmlns:a16="http://schemas.microsoft.com/office/drawing/2014/main" val="3696129558"/>
                    </a:ext>
                  </a:extLst>
                </a:gridCol>
              </a:tblGrid>
              <a:tr h="46213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Property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6274355"/>
                  </a:ext>
                </a:extLst>
              </a:tr>
              <a:tr h="4621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home</a:t>
                      </a:r>
                      <a:endParaRPr lang="en-IN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/>
                        <a:t>The </a:t>
                      </a:r>
                      <a:r>
                        <a:rPr lang="en-US" sz="3200" dirty="0">
                          <a:solidFill>
                            <a:srgbClr val="FF0000"/>
                          </a:solidFill>
                        </a:rPr>
                        <a:t>default screen widget </a:t>
                      </a:r>
                      <a:r>
                        <a:rPr lang="en-US" sz="3200" dirty="0"/>
                        <a:t>of your app.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7689551"/>
                  </a:ext>
                </a:extLst>
              </a:tr>
              <a:tr h="4621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title</a:t>
                      </a:r>
                      <a:endParaRPr lang="en-IN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/>
                        <a:t>App title (used by Android/iOS task manager).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0709472"/>
                  </a:ext>
                </a:extLst>
              </a:tr>
              <a:tr h="4621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theme</a:t>
                      </a:r>
                      <a:endParaRPr lang="en-IN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/>
                        <a:t>Defines </a:t>
                      </a:r>
                      <a:r>
                        <a:rPr lang="en-IN" sz="3200" dirty="0" err="1"/>
                        <a:t>colors</a:t>
                      </a:r>
                      <a:r>
                        <a:rPr lang="en-IN" sz="3200" dirty="0"/>
                        <a:t>, fonts, and styles.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695517"/>
                  </a:ext>
                </a:extLst>
              </a:tr>
              <a:tr h="4621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routes</a:t>
                      </a:r>
                      <a:endParaRPr lang="en-IN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/>
                        <a:t>Named routes (for navigation).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8299673"/>
                  </a:ext>
                </a:extLst>
              </a:tr>
              <a:tr h="4621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b="1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debugShowCheckedModeBanner</a:t>
                      </a:r>
                      <a:endParaRPr lang="en-IN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/>
                        <a:t>Hides debug banner.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9980974"/>
                  </a:ext>
                </a:extLst>
              </a:tr>
            </a:tbl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E630E9B9-7F5A-DE80-6A29-41A832582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720" y="1071095"/>
            <a:ext cx="10515600" cy="976368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 </a:t>
            </a:r>
            <a:r>
              <a:rPr lang="en-IN" b="1" dirty="0" err="1" smtClean="0"/>
              <a:t>MaterialApp</a:t>
            </a:r>
            <a:r>
              <a:rPr lang="en-IN" b="1" dirty="0" smtClean="0"/>
              <a:t> </a:t>
            </a:r>
            <a:r>
              <a:rPr lang="en-IN" b="1" dirty="0"/>
              <a:t>- Key Properties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6565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717A75B0-E321-E933-1C9B-415292EB98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34732" y="873274"/>
            <a:ext cx="7619394" cy="40010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import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package:flutter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/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material.dart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void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main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(){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runApp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2196F3"/>
                </a:solidFill>
                <a:effectLst/>
                <a:latin typeface="JetBrains Mono"/>
              </a:rPr>
              <a:t>MaterialApp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home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: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2196F3"/>
                </a:solidFill>
                <a:effectLst/>
                <a:latin typeface="JetBrains Mono"/>
              </a:rPr>
              <a:t>Text</a:t>
            </a: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“MGIT"</a:t>
            </a: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),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));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}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/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1120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Entry point 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void main() </a:t>
            </a:r>
          </a:p>
          <a:p>
            <a:pPr marL="0" indent="0">
              <a:buNone/>
            </a:pPr>
            <a:r>
              <a:rPr lang="en-IN" dirty="0"/>
              <a:t>{ </a:t>
            </a:r>
          </a:p>
          <a:p>
            <a:pPr marL="0" indent="0">
              <a:buNone/>
            </a:pPr>
            <a:r>
              <a:rPr lang="en-IN" dirty="0" err="1"/>
              <a:t>runApp</a:t>
            </a:r>
            <a:r>
              <a:rPr lang="en-IN" dirty="0"/>
              <a:t>(</a:t>
            </a:r>
            <a:r>
              <a:rPr lang="en-IN" dirty="0" err="1"/>
              <a:t>MyApp</a:t>
            </a:r>
            <a:r>
              <a:rPr lang="en-IN" dirty="0"/>
              <a:t>()); 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main() is the </a:t>
            </a:r>
            <a:r>
              <a:rPr lang="en-IN" b="1" dirty="0">
                <a:solidFill>
                  <a:srgbClr val="0070C0"/>
                </a:solidFill>
              </a:rPr>
              <a:t>starting point of every Dart/Flutter </a:t>
            </a:r>
            <a:r>
              <a:rPr lang="en-IN" dirty="0"/>
              <a:t>program.</a:t>
            </a:r>
          </a:p>
          <a:p>
            <a:pPr marL="0" indent="0">
              <a:buNone/>
            </a:pPr>
            <a:r>
              <a:rPr lang="en-IN" dirty="0" err="1"/>
              <a:t>runApp</a:t>
            </a:r>
            <a:r>
              <a:rPr lang="en-IN" dirty="0"/>
              <a:t>() tells Flutter which </a:t>
            </a:r>
            <a:r>
              <a:rPr lang="en-IN" b="1" dirty="0">
                <a:solidFill>
                  <a:srgbClr val="0070C0"/>
                </a:solidFill>
              </a:rPr>
              <a:t>widget to display first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dirty="0" err="1"/>
              <a:t>MyApp</a:t>
            </a:r>
            <a:r>
              <a:rPr lang="en-IN" dirty="0"/>
              <a:t>() is a </a:t>
            </a:r>
            <a:r>
              <a:rPr lang="en-IN" b="1" dirty="0">
                <a:solidFill>
                  <a:srgbClr val="0070C0"/>
                </a:solidFill>
              </a:rPr>
              <a:t>custom widget </a:t>
            </a:r>
            <a:r>
              <a:rPr lang="en-IN" dirty="0"/>
              <a:t>(your app), defined below.</a:t>
            </a:r>
          </a:p>
        </p:txBody>
      </p:sp>
    </p:spTree>
    <p:extLst>
      <p:ext uri="{BB962C8B-B14F-4D97-AF65-F5344CB8AC3E}">
        <p14:creationId xmlns:p14="http://schemas.microsoft.com/office/powerpoint/2010/main" val="678385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BA85F-CFD7-64EA-37AA-C4A677AAA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IN" dirty="0" smtClean="0"/>
              <a:t>Scaffold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9C10D-FA10-BCDE-0F5F-5BFB42E58B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9054"/>
            <a:ext cx="10515600" cy="4351338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/>
              <a:t>Use / Purpose</a:t>
            </a:r>
          </a:p>
          <a:p>
            <a:r>
              <a:rPr lang="en-US" dirty="0"/>
              <a:t>Provides a </a:t>
            </a:r>
            <a:r>
              <a:rPr lang="en-US" b="1" dirty="0"/>
              <a:t>basic visual layout structure</a:t>
            </a:r>
            <a:r>
              <a:rPr lang="en-US" dirty="0"/>
              <a:t> for your screen (page).</a:t>
            </a:r>
          </a:p>
          <a:p>
            <a:r>
              <a:rPr lang="en-US" dirty="0"/>
              <a:t>Gives a ready-made framework that includes:</a:t>
            </a:r>
          </a:p>
          <a:p>
            <a:pPr lvl="1"/>
            <a:r>
              <a:rPr lang="en-US" dirty="0"/>
              <a:t>App bar</a:t>
            </a:r>
          </a:p>
          <a:p>
            <a:pPr lvl="1"/>
            <a:r>
              <a:rPr lang="en-US" dirty="0"/>
              <a:t>Body</a:t>
            </a:r>
          </a:p>
          <a:p>
            <a:pPr lvl="1"/>
            <a:r>
              <a:rPr lang="en-US" dirty="0"/>
              <a:t>Floating action button</a:t>
            </a:r>
          </a:p>
          <a:p>
            <a:pPr lvl="1"/>
            <a:r>
              <a:rPr lang="en-US" dirty="0"/>
              <a:t>Drawer (side menu)</a:t>
            </a:r>
          </a:p>
          <a:p>
            <a:pPr lvl="1"/>
            <a:r>
              <a:rPr lang="en-US" dirty="0"/>
              <a:t>Bottom navigation bar</a:t>
            </a:r>
          </a:p>
          <a:p>
            <a:pPr marL="0" indent="0">
              <a:buNone/>
            </a:pPr>
            <a:r>
              <a:rPr lang="en-US" b="1" dirty="0" smtClean="0"/>
              <a:t>Why </a:t>
            </a:r>
            <a:r>
              <a:rPr lang="en-US" b="1" dirty="0"/>
              <a:t>we need </a:t>
            </a:r>
          </a:p>
          <a:p>
            <a:r>
              <a:rPr lang="en-US" dirty="0"/>
              <a:t>Without Scaffold, you’d have to manually handle screen layout and safe areas.</a:t>
            </a:r>
          </a:p>
          <a:p>
            <a:r>
              <a:rPr lang="en-US" dirty="0" smtClean="0"/>
              <a:t>Handles </a:t>
            </a:r>
            <a:r>
              <a:rPr lang="en-US" dirty="0"/>
              <a:t>system UI features automatically (like status bar padding, background color, etc.).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780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5587" y="620486"/>
            <a:ext cx="6600825" cy="5464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166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6645322"/>
              </p:ext>
            </p:extLst>
          </p:nvPr>
        </p:nvGraphicFramePr>
        <p:xfrm>
          <a:off x="783770" y="1033751"/>
          <a:ext cx="10395857" cy="5470101"/>
        </p:xfrm>
        <a:graphic>
          <a:graphicData uri="http://schemas.openxmlformats.org/drawingml/2006/table">
            <a:tbl>
              <a:tblPr/>
              <a:tblGrid>
                <a:gridCol w="4166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29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943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dirty="0" smtClean="0"/>
                        <a:t>Scaffold – Key Properties</a:t>
                      </a:r>
                    </a:p>
                    <a:p>
                      <a:r>
                        <a:rPr lang="en-IN" sz="2400" b="1" dirty="0" smtClean="0">
                          <a:solidFill>
                            <a:schemeClr val="tx1"/>
                          </a:solidFill>
                        </a:rPr>
                        <a:t>Property</a:t>
                      </a:r>
                      <a:endParaRPr lang="en-IN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>
                          <a:solidFill>
                            <a:schemeClr val="tx1"/>
                          </a:solidFill>
                        </a:rPr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434">
                <a:tc>
                  <a:txBody>
                    <a:bodyPr/>
                    <a:lstStyle/>
                    <a:p>
                      <a:r>
                        <a:rPr lang="en-IN" sz="2400" b="0" dirty="0" err="1">
                          <a:solidFill>
                            <a:schemeClr val="tx1"/>
                          </a:solidFill>
                        </a:rPr>
                        <a:t>appBar</a:t>
                      </a:r>
                      <a:endParaRPr lang="en-IN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Adds a top bar </a:t>
                      </a:r>
                      <a:r>
                        <a:rPr lang="en-US" sz="2400" b="0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sz="2400" b="0" dirty="0" smtClean="0"/>
                        <a:t>title, icons, actions.</a:t>
                      </a:r>
                      <a:r>
                        <a:rPr lang="en-US" sz="2400" b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etc.)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9434">
                <a:tc>
                  <a:txBody>
                    <a:bodyPr/>
                    <a:lstStyle/>
                    <a:p>
                      <a:r>
                        <a:rPr lang="en-IN" sz="2400" b="0" dirty="0">
                          <a:solidFill>
                            <a:schemeClr val="tx1"/>
                          </a:solidFill>
                        </a:rPr>
                        <a:t>body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0" dirty="0">
                          <a:solidFill>
                            <a:schemeClr val="tx1"/>
                          </a:solidFill>
                        </a:rPr>
                        <a:t>Main screen </a:t>
                      </a:r>
                      <a:r>
                        <a:rPr lang="en-IN" sz="2400" b="0" dirty="0" smtClean="0">
                          <a:solidFill>
                            <a:schemeClr val="tx1"/>
                          </a:solidFill>
                        </a:rPr>
                        <a:t>content of the screen</a:t>
                      </a:r>
                      <a:endParaRPr lang="en-IN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9434">
                <a:tc>
                  <a:txBody>
                    <a:bodyPr/>
                    <a:lstStyle/>
                    <a:p>
                      <a:r>
                        <a:rPr lang="en-IN" sz="2400" b="0" dirty="0" err="1">
                          <a:solidFill>
                            <a:schemeClr val="tx1"/>
                          </a:solidFill>
                        </a:rPr>
                        <a:t>backgroundColor</a:t>
                      </a:r>
                      <a:endParaRPr lang="en-IN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Set the </a:t>
                      </a:r>
                      <a:r>
                        <a:rPr lang="en-US" sz="2400" b="0" dirty="0" smtClean="0">
                          <a:solidFill>
                            <a:schemeClr val="tx1"/>
                          </a:solidFill>
                        </a:rPr>
                        <a:t>background 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color of the screen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9434">
                <a:tc>
                  <a:txBody>
                    <a:bodyPr/>
                    <a:lstStyle/>
                    <a:p>
                      <a:r>
                        <a:rPr lang="en-IN" sz="2400" b="0" dirty="0" err="1">
                          <a:solidFill>
                            <a:schemeClr val="tx1"/>
                          </a:solidFill>
                        </a:rPr>
                        <a:t>floatingActionButton</a:t>
                      </a:r>
                      <a:endParaRPr lang="en-IN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Shows a circular button usually used for main 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9434">
                <a:tc>
                  <a:txBody>
                    <a:bodyPr/>
                    <a:lstStyle/>
                    <a:p>
                      <a:r>
                        <a:rPr lang="en-IN" sz="2400" b="0" dirty="0">
                          <a:solidFill>
                            <a:schemeClr val="tx1"/>
                          </a:solidFill>
                        </a:rPr>
                        <a:t>drawer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Adds a left-side sliding menu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9434">
                <a:tc>
                  <a:txBody>
                    <a:bodyPr/>
                    <a:lstStyle/>
                    <a:p>
                      <a:r>
                        <a:rPr lang="en-IN" sz="2400" b="0" dirty="0" err="1">
                          <a:solidFill>
                            <a:schemeClr val="tx1"/>
                          </a:solidFill>
                        </a:rPr>
                        <a:t>bottomNavigationBar</a:t>
                      </a:r>
                      <a:endParaRPr lang="en-IN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Adds a bottom bar for navigation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55502">
                <a:tc>
                  <a:txBody>
                    <a:bodyPr/>
                    <a:lstStyle/>
                    <a:p>
                      <a:r>
                        <a:rPr lang="en-IN" sz="2400" b="0" dirty="0" err="1">
                          <a:solidFill>
                            <a:schemeClr val="tx1"/>
                          </a:solidFill>
                        </a:rPr>
                        <a:t>persistentFooterButtons</a:t>
                      </a:r>
                      <a:endParaRPr lang="en-IN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Adds buttons at the bottom that stay fixed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21509">
                <a:tc>
                  <a:txBody>
                    <a:bodyPr/>
                    <a:lstStyle/>
                    <a:p>
                      <a:r>
                        <a:rPr lang="en-IN" sz="2400" b="0" dirty="0" err="1">
                          <a:solidFill>
                            <a:schemeClr val="tx1"/>
                          </a:solidFill>
                        </a:rPr>
                        <a:t>resizeToAvoidBottomInset</a:t>
                      </a:r>
                      <a:endParaRPr lang="en-IN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Handles screen resize when keyboard appears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10855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31296-0BC1-AFD7-1139-CFA213F2F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688AE3-2595-5F70-1CB4-078F48F3D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Scaffold(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 err="1"/>
              <a:t>appBar</a:t>
            </a:r>
            <a:r>
              <a:rPr lang="en-IN" dirty="0"/>
              <a:t>: AppBar(title: Text('Home')),</a:t>
            </a:r>
          </a:p>
          <a:p>
            <a:pPr marL="0" indent="0">
              <a:buNone/>
            </a:pPr>
            <a:r>
              <a:rPr lang="en-IN" dirty="0"/>
              <a:t>  body: </a:t>
            </a:r>
            <a:r>
              <a:rPr lang="en-IN" dirty="0" err="1"/>
              <a:t>Center</a:t>
            </a:r>
            <a:r>
              <a:rPr lang="en-IN" dirty="0"/>
              <a:t>(child: Text('Welcome!')),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 err="1"/>
              <a:t>floatingActionButton</a:t>
            </a:r>
            <a:r>
              <a:rPr lang="en-IN" dirty="0"/>
              <a:t>: </a:t>
            </a:r>
            <a:r>
              <a:rPr lang="en-IN" dirty="0" err="1"/>
              <a:t>FloatingActionButton</a:t>
            </a:r>
            <a:r>
              <a:rPr lang="en-IN" dirty="0"/>
              <a:t>(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onPressed</a:t>
            </a:r>
            <a:r>
              <a:rPr lang="en-IN" dirty="0"/>
              <a:t>: () {},</a:t>
            </a:r>
          </a:p>
          <a:p>
            <a:pPr marL="0" indent="0">
              <a:buNone/>
            </a:pPr>
            <a:r>
              <a:rPr lang="en-IN" dirty="0"/>
              <a:t>    child: Icon(</a:t>
            </a:r>
            <a:r>
              <a:rPr lang="en-IN" dirty="0" err="1"/>
              <a:t>Icons.add</a:t>
            </a:r>
            <a:r>
              <a:rPr lang="en-IN" dirty="0"/>
              <a:t>),</a:t>
            </a:r>
          </a:p>
          <a:p>
            <a:pPr marL="0" indent="0">
              <a:buNone/>
            </a:pPr>
            <a:r>
              <a:rPr lang="en-IN" dirty="0"/>
              <a:t>  ),</a:t>
            </a:r>
          </a:p>
          <a:p>
            <a:pPr marL="0" indent="0">
              <a:buNone/>
            </a:pPr>
            <a:r>
              <a:rPr lang="en-IN" dirty="0"/>
              <a:t>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5005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39170-E21D-88F7-18E0-5FD40D4DA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 smtClean="0"/>
              <a:t>AppBar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0E9EB7-5846-ADF8-22B3-3B5934FB0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Use </a:t>
            </a:r>
            <a:r>
              <a:rPr lang="en-US" b="1" dirty="0"/>
              <a:t>/ Purpose</a:t>
            </a:r>
          </a:p>
          <a:p>
            <a:r>
              <a:rPr lang="en-US" dirty="0"/>
              <a:t>The </a:t>
            </a:r>
            <a:r>
              <a:rPr lang="en-US" b="1" dirty="0"/>
              <a:t>top bar</a:t>
            </a:r>
            <a:r>
              <a:rPr lang="en-US" dirty="0"/>
              <a:t> (header) of your app screen.</a:t>
            </a:r>
          </a:p>
          <a:p>
            <a:r>
              <a:rPr lang="en-US" dirty="0"/>
              <a:t>Used to show title, actions (like search, menu, settings), and navigation icons (back button, drawer icon).</a:t>
            </a:r>
          </a:p>
          <a:p>
            <a:pPr marL="0" indent="0">
              <a:buNone/>
            </a:pPr>
            <a:r>
              <a:rPr lang="en-US" b="1" dirty="0" smtClean="0"/>
              <a:t>Why </a:t>
            </a:r>
            <a:r>
              <a:rPr lang="en-US" b="1" dirty="0"/>
              <a:t>we need </a:t>
            </a:r>
          </a:p>
          <a:p>
            <a:r>
              <a:rPr lang="en-US" dirty="0"/>
              <a:t>Gives a consistent and beautiful top header across all screens.</a:t>
            </a:r>
          </a:p>
          <a:p>
            <a:r>
              <a:rPr lang="en-US" dirty="0"/>
              <a:t>Provides built-in animation and system integration.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8723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5815A-239F-E958-7523-B8AA0E2BA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114" y="648154"/>
            <a:ext cx="10515600" cy="1325563"/>
          </a:xfrm>
        </p:spPr>
        <p:txBody>
          <a:bodyPr/>
          <a:lstStyle/>
          <a:p>
            <a:r>
              <a:rPr lang="en-IN" b="1" dirty="0" err="1" smtClean="0"/>
              <a:t>AppBar</a:t>
            </a:r>
            <a:r>
              <a:rPr lang="en-IN" dirty="0" smtClean="0"/>
              <a:t> </a:t>
            </a:r>
            <a:r>
              <a:rPr lang="en-IN" dirty="0"/>
              <a:t>– Key Properties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3C25AA9-CC18-08CC-C93E-EA0FE2D4FB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7085433"/>
              </p:ext>
            </p:extLst>
          </p:nvPr>
        </p:nvGraphicFramePr>
        <p:xfrm>
          <a:off x="751114" y="2096578"/>
          <a:ext cx="10515600" cy="3535680"/>
        </p:xfrm>
        <a:graphic>
          <a:graphicData uri="http://schemas.openxmlformats.org/drawingml/2006/table">
            <a:tbl>
              <a:tblPr/>
              <a:tblGrid>
                <a:gridCol w="2769704">
                  <a:extLst>
                    <a:ext uri="{9D8B030D-6E8A-4147-A177-3AD203B41FA5}">
                      <a16:colId xmlns:a16="http://schemas.microsoft.com/office/drawing/2014/main" val="1843893032"/>
                    </a:ext>
                  </a:extLst>
                </a:gridCol>
                <a:gridCol w="7745896">
                  <a:extLst>
                    <a:ext uri="{9D8B030D-6E8A-4147-A177-3AD203B41FA5}">
                      <a16:colId xmlns:a16="http://schemas.microsoft.com/office/drawing/2014/main" val="37451031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Property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43029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latin typeface="Courier New" panose="02070309020205020404" pitchFamily="49" charset="0"/>
                        </a:rPr>
                        <a:t>title</a:t>
                      </a:r>
                      <a:endParaRPr lang="en-IN" sz="2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Widget (usually Text) displayed in the center/left.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95730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 err="1">
                          <a:latin typeface="Courier New" panose="02070309020205020404" pitchFamily="49" charset="0"/>
                        </a:rPr>
                        <a:t>backgroundColor</a:t>
                      </a:r>
                      <a:endParaRPr lang="en-IN" sz="2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 smtClean="0"/>
                        <a:t>   </a:t>
                      </a:r>
                      <a:r>
                        <a:rPr lang="en-IN" sz="2800" dirty="0" err="1" smtClean="0"/>
                        <a:t>Color</a:t>
                      </a:r>
                      <a:r>
                        <a:rPr lang="en-IN" sz="2800" dirty="0" smtClean="0"/>
                        <a:t> </a:t>
                      </a:r>
                      <a:r>
                        <a:rPr lang="en-IN" sz="2800" dirty="0"/>
                        <a:t>of the AppBar.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14406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Courier New" panose="02070309020205020404" pitchFamily="49" charset="0"/>
                        </a:rPr>
                        <a:t>actions</a:t>
                      </a:r>
                      <a:endParaRPr lang="en-IN" sz="2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List of icons or widgets on the right.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40584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Courier New" panose="02070309020205020404" pitchFamily="49" charset="0"/>
                        </a:rPr>
                        <a:t>leading</a:t>
                      </a:r>
                      <a:endParaRPr lang="en-IN" sz="2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Widget on the left (e.g. back button).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06703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Courier New" panose="02070309020205020404" pitchFamily="49" charset="0"/>
                        </a:rPr>
                        <a:t>centerTitle</a:t>
                      </a:r>
                      <a:endParaRPr lang="en-IN" sz="2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Center the title (true/false).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11422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6063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AA5D2-2E07-90F0-83D2-C703F9A5C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7FAC6-966F-97BF-94DD-7F3EE4CA6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AppBar(</a:t>
            </a:r>
          </a:p>
          <a:p>
            <a:pPr marL="0" indent="0">
              <a:buNone/>
            </a:pPr>
            <a:r>
              <a:rPr lang="en-IN" dirty="0"/>
              <a:t>  title: Text</a:t>
            </a:r>
            <a:r>
              <a:rPr lang="en-IN" dirty="0" smtClean="0"/>
              <a:t>(‘MGIT'),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 err="1"/>
              <a:t>backgroundColor</a:t>
            </a:r>
            <a:r>
              <a:rPr lang="en-IN" dirty="0"/>
              <a:t>: </a:t>
            </a:r>
            <a:r>
              <a:rPr lang="en-IN" dirty="0" err="1"/>
              <a:t>Colors.blueAccent</a:t>
            </a:r>
            <a:r>
              <a:rPr lang="en-IN" dirty="0"/>
              <a:t>,</a:t>
            </a:r>
          </a:p>
          <a:p>
            <a:pPr marL="0" indent="0">
              <a:buNone/>
            </a:pPr>
            <a:r>
              <a:rPr lang="en-IN" dirty="0"/>
              <a:t>  actions: [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IconButton</a:t>
            </a:r>
            <a:r>
              <a:rPr lang="en-IN" dirty="0"/>
              <a:t>(</a:t>
            </a:r>
            <a:r>
              <a:rPr lang="en-IN" dirty="0" err="1"/>
              <a:t>onPressed</a:t>
            </a:r>
            <a:r>
              <a:rPr lang="en-IN" dirty="0"/>
              <a:t>: () {}, icon: Icon(</a:t>
            </a:r>
            <a:r>
              <a:rPr lang="en-IN" dirty="0" err="1"/>
              <a:t>Icons.search</a:t>
            </a:r>
            <a:r>
              <a:rPr lang="en-IN" dirty="0"/>
              <a:t>)),</a:t>
            </a:r>
          </a:p>
          <a:p>
            <a:pPr marL="0" indent="0">
              <a:buNone/>
            </a:pPr>
            <a:r>
              <a:rPr lang="en-IN" dirty="0"/>
              <a:t>  ],</a:t>
            </a:r>
          </a:p>
          <a:p>
            <a:pPr marL="0" indent="0">
              <a:buNone/>
            </a:pPr>
            <a:r>
              <a:rPr lang="en-IN" dirty="0"/>
              <a:t>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0959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BCBE5-96F8-971E-2307-BCAFBDA86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IN" b="1" dirty="0" smtClean="0"/>
              <a:t>Text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A4E80-62E6-2460-1945-296E0B9FAB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Use </a:t>
            </a:r>
            <a:r>
              <a:rPr lang="en-US" b="1" dirty="0"/>
              <a:t>/ Purpose</a:t>
            </a:r>
          </a:p>
          <a:p>
            <a:r>
              <a:rPr lang="en-US" dirty="0"/>
              <a:t>Displays a </a:t>
            </a:r>
            <a:r>
              <a:rPr lang="en-US" b="1" dirty="0"/>
              <a:t>string of text</a:t>
            </a:r>
            <a:r>
              <a:rPr lang="en-US" dirty="0"/>
              <a:t> on the screen.</a:t>
            </a:r>
          </a:p>
          <a:p>
            <a:r>
              <a:rPr lang="en-US" dirty="0"/>
              <a:t>One of the simplest but most-used widgets in </a:t>
            </a:r>
            <a:r>
              <a:rPr lang="en-US" dirty="0" smtClean="0"/>
              <a:t>Flutter.</a:t>
            </a:r>
          </a:p>
          <a:p>
            <a:pPr marL="0" indent="0">
              <a:buNone/>
            </a:pPr>
            <a:r>
              <a:rPr lang="en-US" b="1" dirty="0" smtClean="0"/>
              <a:t>Why we need </a:t>
            </a:r>
          </a:p>
          <a:p>
            <a:r>
              <a:rPr lang="en-US" dirty="0" smtClean="0"/>
              <a:t>Every </a:t>
            </a:r>
            <a:r>
              <a:rPr lang="en-US" dirty="0"/>
              <a:t>label, title, or message on your screen uses a Text widget.</a:t>
            </a:r>
          </a:p>
          <a:p>
            <a:r>
              <a:rPr lang="en-US" dirty="0"/>
              <a:t>Highly customizable for style, font, color, and alignment.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6877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E7AA9-61BF-EEC3-550F-5D1CA45B5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9297"/>
            <a:ext cx="10515600" cy="1325563"/>
          </a:xfrm>
        </p:spPr>
        <p:txBody>
          <a:bodyPr/>
          <a:lstStyle/>
          <a:p>
            <a:r>
              <a:rPr lang="en-IN" b="1" dirty="0" smtClean="0"/>
              <a:t>Text </a:t>
            </a:r>
            <a:r>
              <a:rPr lang="en-IN" dirty="0"/>
              <a:t>– Key Properties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1DE6256-D177-B27E-F633-49E9404BB6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3542579"/>
              </p:ext>
            </p:extLst>
          </p:nvPr>
        </p:nvGraphicFramePr>
        <p:xfrm>
          <a:off x="838200" y="1690688"/>
          <a:ext cx="10515600" cy="4206240"/>
        </p:xfrm>
        <a:graphic>
          <a:graphicData uri="http://schemas.openxmlformats.org/drawingml/2006/table">
            <a:tbl>
              <a:tblPr/>
              <a:tblGrid>
                <a:gridCol w="2968486">
                  <a:extLst>
                    <a:ext uri="{9D8B030D-6E8A-4147-A177-3AD203B41FA5}">
                      <a16:colId xmlns:a16="http://schemas.microsoft.com/office/drawing/2014/main" val="3489532667"/>
                    </a:ext>
                  </a:extLst>
                </a:gridCol>
                <a:gridCol w="7547114">
                  <a:extLst>
                    <a:ext uri="{9D8B030D-6E8A-4147-A177-3AD203B41FA5}">
                      <a16:colId xmlns:a16="http://schemas.microsoft.com/office/drawing/2014/main" val="21899572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4000" dirty="0"/>
                        <a:t>Property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4000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63736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4000" dirty="0">
                          <a:latin typeface="Courier New" panose="02070309020205020404" pitchFamily="49" charset="0"/>
                        </a:rPr>
                        <a:t>data</a:t>
                      </a:r>
                      <a:endParaRPr lang="en-IN" sz="4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000" dirty="0"/>
                        <a:t>The text string to display.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01990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4000">
                          <a:latin typeface="Courier New" panose="02070309020205020404" pitchFamily="49" charset="0"/>
                        </a:rPr>
                        <a:t>style</a:t>
                      </a:r>
                      <a:endParaRPr lang="en-IN" sz="4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000" dirty="0"/>
                        <a:t>Font size, color, weight, etc.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86497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4000">
                          <a:latin typeface="Courier New" panose="02070309020205020404" pitchFamily="49" charset="0"/>
                        </a:rPr>
                        <a:t>textAlign</a:t>
                      </a:r>
                      <a:endParaRPr lang="en-IN" sz="4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4000" dirty="0"/>
                        <a:t>Alignment (left, right, </a:t>
                      </a:r>
                      <a:r>
                        <a:rPr lang="en-IN" sz="4000" dirty="0" err="1"/>
                        <a:t>center</a:t>
                      </a:r>
                      <a:r>
                        <a:rPr lang="en-IN" sz="4000" dirty="0"/>
                        <a:t>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0945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4000">
                          <a:latin typeface="Courier New" panose="02070309020205020404" pitchFamily="49" charset="0"/>
                        </a:rPr>
                        <a:t>maxLines</a:t>
                      </a:r>
                      <a:endParaRPr lang="en-IN" sz="4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000" dirty="0"/>
                        <a:t>Limit number of visible lines.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9584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4000">
                          <a:latin typeface="Courier New" panose="02070309020205020404" pitchFamily="49" charset="0"/>
                        </a:rPr>
                        <a:t>overflow</a:t>
                      </a:r>
                      <a:endParaRPr lang="en-IN" sz="4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4000" dirty="0"/>
                        <a:t>Handle overflow text (ellipsis, clip).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69122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9186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2933B-E0BD-7ED8-AA1D-BD873D729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D7945-94E0-5DD7-48E6-8219901DB6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Text(</a:t>
            </a:r>
          </a:p>
          <a:p>
            <a:pPr marL="0" indent="0">
              <a:buNone/>
            </a:pPr>
            <a:r>
              <a:rPr lang="en-IN" dirty="0"/>
              <a:t>  'Welcome to </a:t>
            </a:r>
            <a:r>
              <a:rPr lang="en-IN" dirty="0" smtClean="0"/>
              <a:t>MGIT',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style: TextStyle(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fontSize</a:t>
            </a:r>
            <a:r>
              <a:rPr lang="en-IN" dirty="0"/>
              <a:t>: 22,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fontWeight</a:t>
            </a:r>
            <a:r>
              <a:rPr lang="en-IN" dirty="0"/>
              <a:t>: </a:t>
            </a:r>
            <a:r>
              <a:rPr lang="en-IN" dirty="0" err="1"/>
              <a:t>FontWeight.bold</a:t>
            </a:r>
            <a:r>
              <a:rPr lang="en-IN" dirty="0"/>
              <a:t>,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color</a:t>
            </a:r>
            <a:r>
              <a:rPr lang="en-IN" dirty="0"/>
              <a:t>: </a:t>
            </a:r>
            <a:r>
              <a:rPr lang="en-IN" dirty="0" err="1"/>
              <a:t>Colors.blue</a:t>
            </a:r>
            <a:r>
              <a:rPr lang="en-IN" dirty="0"/>
              <a:t>,</a:t>
            </a:r>
          </a:p>
          <a:p>
            <a:pPr marL="0" indent="0">
              <a:buNone/>
            </a:pPr>
            <a:r>
              <a:rPr lang="en-IN" dirty="0"/>
              <a:t>  ),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 err="1"/>
              <a:t>textAlign</a:t>
            </a:r>
            <a:r>
              <a:rPr lang="en-IN" dirty="0"/>
              <a:t>: </a:t>
            </a:r>
            <a:r>
              <a:rPr lang="en-IN" dirty="0" err="1"/>
              <a:t>TextAlign.center</a:t>
            </a:r>
            <a:r>
              <a:rPr lang="en-IN" dirty="0"/>
              <a:t>,</a:t>
            </a:r>
          </a:p>
          <a:p>
            <a:pPr marL="0" indent="0">
              <a:buNone/>
            </a:pPr>
            <a:r>
              <a:rPr lang="en-IN" dirty="0"/>
              <a:t>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761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3E4AE3-8EB0-3077-EB98-7297070B7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114" y="920553"/>
            <a:ext cx="10515600" cy="4890604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600" dirty="0"/>
              <a:t>import '</a:t>
            </a:r>
            <a:r>
              <a:rPr lang="en-IN" sz="1600" dirty="0" err="1"/>
              <a:t>package:flutter</a:t>
            </a:r>
            <a:r>
              <a:rPr lang="en-IN" sz="1600" dirty="0"/>
              <a:t>/</a:t>
            </a:r>
            <a:r>
              <a:rPr lang="en-IN" sz="1600" dirty="0" err="1"/>
              <a:t>material.dart</a:t>
            </a:r>
            <a:r>
              <a:rPr lang="en-IN" sz="1600" dirty="0"/>
              <a:t>';				 </a:t>
            </a:r>
            <a:r>
              <a:rPr lang="en-IN" sz="1600" b="1" dirty="0" err="1"/>
              <a:t>StatelessWidget</a:t>
            </a:r>
            <a:endParaRPr lang="en-IN" sz="1600" b="1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600" dirty="0"/>
              <a:t>void main</a:t>
            </a:r>
            <a:r>
              <a:rPr lang="en-IN" sz="1600" dirty="0" smtClean="0"/>
              <a:t>(){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600" dirty="0" smtClean="0"/>
              <a:t> </a:t>
            </a:r>
            <a:r>
              <a:rPr lang="en-IN" sz="1600" dirty="0" err="1"/>
              <a:t>runApp</a:t>
            </a:r>
            <a:r>
              <a:rPr lang="en-IN" sz="1600" dirty="0"/>
              <a:t>(const </a:t>
            </a:r>
            <a:r>
              <a:rPr lang="en-IN" sz="1600" dirty="0" err="1"/>
              <a:t>MyApp</a:t>
            </a:r>
            <a:r>
              <a:rPr lang="en-IN" sz="1600" dirty="0" smtClean="0"/>
              <a:t>());}</a:t>
            </a:r>
            <a:endParaRPr lang="en-IN" sz="16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600" dirty="0"/>
              <a:t>class </a:t>
            </a:r>
            <a:r>
              <a:rPr lang="en-IN" sz="1600" dirty="0" err="1"/>
              <a:t>MyApp</a:t>
            </a:r>
            <a:r>
              <a:rPr lang="en-IN" sz="1600" dirty="0"/>
              <a:t> extends StatelessWidget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600" dirty="0"/>
              <a:t>  const </a:t>
            </a:r>
            <a:r>
              <a:rPr lang="en-IN" sz="1600" dirty="0" err="1"/>
              <a:t>MyApp</a:t>
            </a:r>
            <a:r>
              <a:rPr lang="en-IN" sz="1600" dirty="0"/>
              <a:t>({</a:t>
            </a:r>
            <a:r>
              <a:rPr lang="en-IN" sz="1600" dirty="0" err="1"/>
              <a:t>super.key</a:t>
            </a:r>
            <a:r>
              <a:rPr lang="en-IN" sz="1600" dirty="0"/>
              <a:t>});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600" dirty="0"/>
              <a:t>  @override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600" dirty="0"/>
              <a:t>  Widget build(</a:t>
            </a:r>
            <a:r>
              <a:rPr lang="en-IN" sz="1600" dirty="0" err="1"/>
              <a:t>BuildContext</a:t>
            </a:r>
            <a:r>
              <a:rPr lang="en-IN" sz="1600" dirty="0"/>
              <a:t> context)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600" dirty="0"/>
              <a:t>    return const </a:t>
            </a:r>
            <a:r>
              <a:rPr lang="en-IN" sz="1600" dirty="0" err="1"/>
              <a:t>MaterialApp</a:t>
            </a:r>
            <a:r>
              <a:rPr lang="en-IN" sz="1600" dirty="0"/>
              <a:t>(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600" dirty="0"/>
              <a:t>      home: Scaffold(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600" dirty="0"/>
              <a:t>        body: </a:t>
            </a:r>
            <a:r>
              <a:rPr lang="en-IN" sz="1600" dirty="0" err="1"/>
              <a:t>Center</a:t>
            </a:r>
            <a:r>
              <a:rPr lang="en-IN" sz="1600" dirty="0"/>
              <a:t>(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600" dirty="0"/>
              <a:t>          child: Text(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600" dirty="0"/>
              <a:t>            'Welcome to </a:t>
            </a:r>
            <a:r>
              <a:rPr lang="en-IN" sz="1600" dirty="0" smtClean="0"/>
              <a:t>MGIT',</a:t>
            </a:r>
            <a:endParaRPr lang="en-IN" sz="16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600" dirty="0"/>
              <a:t>            style: TextStyle(</a:t>
            </a:r>
            <a:r>
              <a:rPr lang="en-IN" sz="1600" dirty="0" err="1"/>
              <a:t>fontSize</a:t>
            </a:r>
            <a:r>
              <a:rPr lang="en-IN" sz="1600" dirty="0"/>
              <a:t>: 24, </a:t>
            </a:r>
            <a:r>
              <a:rPr lang="en-IN" sz="1600" dirty="0" err="1"/>
              <a:t>color</a:t>
            </a:r>
            <a:r>
              <a:rPr lang="en-IN" sz="1600" dirty="0"/>
              <a:t>: </a:t>
            </a:r>
            <a:r>
              <a:rPr lang="en-IN" sz="1600" dirty="0" err="1"/>
              <a:t>Colors.purple</a:t>
            </a:r>
            <a:r>
              <a:rPr lang="en-IN" sz="1600" dirty="0"/>
              <a:t>),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600" dirty="0"/>
              <a:t>          ),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600" dirty="0"/>
              <a:t>        ),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600" dirty="0"/>
              <a:t>      ),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600" dirty="0"/>
              <a:t>    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600" dirty="0"/>
              <a:t>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600" dirty="0"/>
              <a:t>}</a:t>
            </a:r>
          </a:p>
          <a:p>
            <a:endParaRPr lang="en-IN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AE5AEE-AF8B-5DEB-1F86-5C6BCD637B13}"/>
              </a:ext>
            </a:extLst>
          </p:cNvPr>
          <p:cNvSpPr txBox="1"/>
          <p:nvPr/>
        </p:nvSpPr>
        <p:spPr>
          <a:xfrm>
            <a:off x="4470124" y="4930361"/>
            <a:ext cx="68836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Doesn’t change once built.   Example: labels, icons, static pages.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9E8162-41BC-52AA-1EFF-73EC00165AC5}"/>
              </a:ext>
            </a:extLst>
          </p:cNvPr>
          <p:cNvSpPr txBox="1"/>
          <p:nvPr/>
        </p:nvSpPr>
        <p:spPr>
          <a:xfrm>
            <a:off x="4470124" y="5299693"/>
            <a:ext cx="64306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Output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A simple screen showing “Welcome to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MGIT”.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UI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stays same always — no data change.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976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8DB6E-C608-B660-6274-1E01AD5D4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27" y="5265116"/>
            <a:ext cx="9949070" cy="1325563"/>
          </a:xfrm>
        </p:spPr>
        <p:txBody>
          <a:bodyPr>
            <a:normAutofit/>
          </a:bodyPr>
          <a:lstStyle/>
          <a:p>
            <a:r>
              <a:rPr lang="en-IN" dirty="0"/>
              <a:t>🎨 </a:t>
            </a:r>
            <a:r>
              <a:rPr lang="en-IN" b="1" dirty="0"/>
              <a:t>1️⃣ Using </a:t>
            </a:r>
            <a:r>
              <a:rPr lang="en-IN" b="1" dirty="0" err="1"/>
              <a:t>Scaffold.backgroundColor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7480C-2391-2AFE-A787-1C232D62FB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35972"/>
            <a:ext cx="11784496" cy="6582879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000" dirty="0"/>
              <a:t>import '</a:t>
            </a:r>
            <a:r>
              <a:rPr lang="en-IN" sz="2000" dirty="0" err="1"/>
              <a:t>package:flutter</a:t>
            </a:r>
            <a:r>
              <a:rPr lang="en-IN" sz="2000" dirty="0"/>
              <a:t>/</a:t>
            </a:r>
            <a:r>
              <a:rPr lang="en-IN" sz="2000" dirty="0" err="1"/>
              <a:t>material.dart</a:t>
            </a:r>
            <a:r>
              <a:rPr lang="en-IN" sz="2000" dirty="0"/>
              <a:t>';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000" dirty="0"/>
              <a:t>void main() =&gt; </a:t>
            </a:r>
            <a:r>
              <a:rPr lang="en-IN" sz="2000" dirty="0" err="1"/>
              <a:t>runApp</a:t>
            </a:r>
            <a:r>
              <a:rPr lang="en-IN" sz="2000" dirty="0"/>
              <a:t>(const </a:t>
            </a:r>
            <a:r>
              <a:rPr lang="en-IN" sz="2000" dirty="0" err="1"/>
              <a:t>MyApp</a:t>
            </a:r>
            <a:r>
              <a:rPr lang="en-IN" sz="2000" dirty="0"/>
              <a:t>());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000" dirty="0"/>
              <a:t>class </a:t>
            </a:r>
            <a:r>
              <a:rPr lang="en-IN" sz="2000" dirty="0" err="1"/>
              <a:t>MyApp</a:t>
            </a:r>
            <a:r>
              <a:rPr lang="en-IN" sz="2000" dirty="0"/>
              <a:t> extends StatelessWidget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000" dirty="0"/>
              <a:t>  const </a:t>
            </a:r>
            <a:r>
              <a:rPr lang="en-IN" sz="2000" dirty="0" err="1"/>
              <a:t>MyApp</a:t>
            </a:r>
            <a:r>
              <a:rPr lang="en-IN" sz="2000" dirty="0"/>
              <a:t>({</a:t>
            </a:r>
            <a:r>
              <a:rPr lang="en-IN" sz="2000" dirty="0" err="1"/>
              <a:t>super.key</a:t>
            </a:r>
            <a:r>
              <a:rPr lang="en-IN" sz="2000" dirty="0"/>
              <a:t>});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000" dirty="0"/>
              <a:t>  @override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000" dirty="0"/>
              <a:t>  Widget build(</a:t>
            </a:r>
            <a:r>
              <a:rPr lang="en-IN" sz="2000" dirty="0" err="1"/>
              <a:t>BuildContext</a:t>
            </a:r>
            <a:r>
              <a:rPr lang="en-IN" sz="2000" dirty="0"/>
              <a:t> context)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000" dirty="0"/>
              <a:t>    return const </a:t>
            </a:r>
            <a:r>
              <a:rPr lang="en-IN" sz="2000" dirty="0" err="1"/>
              <a:t>MaterialApp</a:t>
            </a:r>
            <a:r>
              <a:rPr lang="en-IN" sz="2000" dirty="0"/>
              <a:t>(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000" dirty="0"/>
              <a:t>      home: Scaffold(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000" dirty="0"/>
              <a:t>        </a:t>
            </a:r>
            <a:r>
              <a:rPr lang="en-IN" sz="2000" b="1" dirty="0" err="1">
                <a:solidFill>
                  <a:srgbClr val="0070C0"/>
                </a:solidFill>
              </a:rPr>
              <a:t>backgroundColor</a:t>
            </a:r>
            <a:r>
              <a:rPr lang="en-IN" sz="2000" b="1" dirty="0">
                <a:solidFill>
                  <a:srgbClr val="0070C0"/>
                </a:solidFill>
              </a:rPr>
              <a:t>: </a:t>
            </a:r>
            <a:r>
              <a:rPr lang="en-IN" sz="2000" b="1" dirty="0" err="1">
                <a:solidFill>
                  <a:srgbClr val="0070C0"/>
                </a:solidFill>
              </a:rPr>
              <a:t>Colors.lightBlueAccent</a:t>
            </a:r>
            <a:r>
              <a:rPr lang="en-IN" sz="2000" b="1" dirty="0">
                <a:solidFill>
                  <a:srgbClr val="0070C0"/>
                </a:solidFill>
              </a:rPr>
              <a:t>, // 👈 sets background </a:t>
            </a:r>
            <a:r>
              <a:rPr lang="en-IN" sz="2000" b="1" dirty="0" err="1">
                <a:solidFill>
                  <a:srgbClr val="0070C0"/>
                </a:solidFill>
              </a:rPr>
              <a:t>color</a:t>
            </a:r>
            <a:endParaRPr lang="en-IN" sz="2000" b="1" dirty="0">
              <a:solidFill>
                <a:srgbClr val="0070C0"/>
              </a:solidFill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000" b="1" dirty="0">
                <a:solidFill>
                  <a:schemeClr val="accent2"/>
                </a:solidFill>
              </a:rPr>
              <a:t>        body: </a:t>
            </a:r>
            <a:r>
              <a:rPr lang="en-IN" sz="2000" b="1" dirty="0" err="1">
                <a:solidFill>
                  <a:schemeClr val="accent2"/>
                </a:solidFill>
              </a:rPr>
              <a:t>Center</a:t>
            </a:r>
            <a:r>
              <a:rPr lang="en-IN" sz="2000" b="1" dirty="0">
                <a:solidFill>
                  <a:schemeClr val="accent2"/>
                </a:solidFill>
              </a:rPr>
              <a:t>(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000" b="1" dirty="0">
                <a:solidFill>
                  <a:schemeClr val="accent2"/>
                </a:solidFill>
              </a:rPr>
              <a:t>          child: Text(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000" b="1" dirty="0">
                <a:solidFill>
                  <a:schemeClr val="accent2"/>
                </a:solidFill>
              </a:rPr>
              <a:t>            'Welcome',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000" b="1" dirty="0">
                <a:solidFill>
                  <a:schemeClr val="accent2"/>
                </a:solidFill>
              </a:rPr>
              <a:t>            style: TextStyle(</a:t>
            </a:r>
            <a:r>
              <a:rPr lang="en-IN" sz="2000" b="1" dirty="0" err="1">
                <a:solidFill>
                  <a:schemeClr val="accent2"/>
                </a:solidFill>
              </a:rPr>
              <a:t>fontSize</a:t>
            </a:r>
            <a:r>
              <a:rPr lang="en-IN" sz="2000" b="1" dirty="0">
                <a:solidFill>
                  <a:schemeClr val="accent2"/>
                </a:solidFill>
              </a:rPr>
              <a:t>: 30, </a:t>
            </a:r>
            <a:r>
              <a:rPr lang="en-IN" sz="2000" b="1" dirty="0" err="1">
                <a:solidFill>
                  <a:schemeClr val="accent2"/>
                </a:solidFill>
              </a:rPr>
              <a:t>color</a:t>
            </a:r>
            <a:r>
              <a:rPr lang="en-IN" sz="2000" b="1" dirty="0">
                <a:solidFill>
                  <a:schemeClr val="accent2"/>
                </a:solidFill>
              </a:rPr>
              <a:t>: </a:t>
            </a:r>
            <a:r>
              <a:rPr lang="en-IN" sz="2000" b="1" dirty="0" err="1">
                <a:solidFill>
                  <a:schemeClr val="accent2"/>
                </a:solidFill>
              </a:rPr>
              <a:t>Colors.white</a:t>
            </a:r>
            <a:r>
              <a:rPr lang="en-IN" sz="2000" b="1" dirty="0">
                <a:solidFill>
                  <a:schemeClr val="accent2"/>
                </a:solidFill>
              </a:rPr>
              <a:t>),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000" dirty="0"/>
              <a:t>          ),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000" dirty="0"/>
              <a:t>        ),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000" dirty="0"/>
              <a:t>      ),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000" dirty="0"/>
              <a:t>    );  }}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F64122-75EF-5954-C91A-00CD6FCF2A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2161" y="1109706"/>
            <a:ext cx="2003157" cy="3181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222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38200" y="576942"/>
            <a:ext cx="10515600" cy="5910943"/>
          </a:xfrm>
        </p:spPr>
        <p:txBody>
          <a:bodyPr numCol="1"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657225" algn="l"/>
              </a:tabLst>
            </a:pPr>
            <a:r>
              <a:rPr lang="en-US" alt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 '</a:t>
            </a:r>
            <a:r>
              <a:rPr lang="en-US" alt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package:flutter</a:t>
            </a:r>
            <a:r>
              <a:rPr lang="en-US" alt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material.dart</a:t>
            </a:r>
            <a:r>
              <a:rPr lang="en-US" alt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';</a:t>
            </a:r>
            <a:br>
              <a:rPr lang="en-US" alt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void main() {</a:t>
            </a:r>
            <a:br>
              <a:rPr lang="en-US" alt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runApp</a:t>
            </a:r>
            <a:r>
              <a:rPr lang="en-US" alt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MyApp</a:t>
            </a:r>
            <a:r>
              <a:rPr lang="en-US" alt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());</a:t>
            </a:r>
            <a:br>
              <a:rPr lang="en-US" alt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br>
              <a:rPr lang="en-US" alt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alt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MyApp</a:t>
            </a:r>
            <a:r>
              <a:rPr lang="en-US" alt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extends </a:t>
            </a:r>
            <a:r>
              <a:rPr lang="en-US" alt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StatefulWidget</a:t>
            </a:r>
            <a:r>
              <a:rPr lang="en-US" alt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{</a:t>
            </a:r>
            <a:br>
              <a:rPr lang="en-US" alt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US" alt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MyApp</a:t>
            </a:r>
            <a:r>
              <a:rPr lang="en-US" alt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({</a:t>
            </a:r>
            <a:r>
              <a:rPr lang="en-US" alt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super.key</a:t>
            </a:r>
            <a:r>
              <a:rPr lang="en-US" alt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});</a:t>
            </a:r>
            <a:br>
              <a:rPr lang="en-US" alt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@override</a:t>
            </a:r>
            <a:br>
              <a:rPr lang="en-US" alt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State&lt;</a:t>
            </a:r>
            <a:r>
              <a:rPr lang="en-US" alt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MyApp</a:t>
            </a:r>
            <a:r>
              <a:rPr lang="en-US" alt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en-US" altLang="en-US" sz="3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createState</a:t>
            </a:r>
            <a:r>
              <a:rPr lang="en-US" alt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en-US" altLang="en-US" sz="32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=&gt;</a:t>
            </a:r>
            <a:r>
              <a:rPr lang="en-US" altLang="en-US" sz="3200" dirty="0" err="1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MyAppState</a:t>
            </a:r>
            <a:r>
              <a:rPr lang="en-US" alt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br>
              <a:rPr lang="en-US" alt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br>
              <a:rPr lang="en-US" alt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sz="32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6506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31371"/>
            <a:ext cx="10515600" cy="5954486"/>
          </a:xfrm>
        </p:spPr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 _</a:t>
            </a:r>
            <a:r>
              <a:rPr lang="en-US" alt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MyAppState</a:t>
            </a: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extends State&lt;</a:t>
            </a:r>
            <a:r>
              <a:rPr lang="en-US" alt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MyApp</a:t>
            </a: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 {</a:t>
            </a:r>
            <a:b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@override</a:t>
            </a:r>
            <a:b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Widget build(</a:t>
            </a:r>
            <a:r>
              <a:rPr lang="en-US" alt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BuildContext</a:t>
            </a: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context) {</a:t>
            </a:r>
            <a:b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return </a:t>
            </a:r>
            <a:r>
              <a:rPr lang="en-US" alt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MaterialApp</a:t>
            </a: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b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home: Scaffold(</a:t>
            </a:r>
            <a:b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appBar</a:t>
            </a: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AppBar</a:t>
            </a: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b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title: Text('Image'),</a:t>
            </a:r>
            <a:b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),</a:t>
            </a:r>
            <a:b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body: Center(</a:t>
            </a:r>
            <a:b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child: Container(</a:t>
            </a:r>
            <a:b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height: 200,</a:t>
            </a:r>
            <a:b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width: 300,</a:t>
            </a:r>
            <a:b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child: </a:t>
            </a:r>
            <a:r>
              <a:rPr lang="en-US" alt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Image.network</a:t>
            </a: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</a:t>
            </a:r>
            <a:r>
              <a:rPr lang="en-US" alt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img_src</a:t>
            </a: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'),</a:t>
            </a:r>
            <a:b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),</a:t>
            </a:r>
            <a:b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),</a:t>
            </a:r>
            <a:b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));</a:t>
            </a:r>
            <a:b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}</a:t>
            </a:r>
            <a:b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altLang="en-US" sz="1400" dirty="0"/>
              <a:t> </a:t>
            </a:r>
            <a:endParaRPr lang="en-US" altLang="en-US" sz="3200" dirty="0">
              <a:latin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22217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1133</Words>
  <Application>Microsoft Office PowerPoint</Application>
  <PresentationFormat>Widescreen</PresentationFormat>
  <Paragraphs>255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31</vt:i4>
      </vt:variant>
    </vt:vector>
  </HeadingPairs>
  <TitlesOfParts>
    <vt:vector size="41" baseType="lpstr">
      <vt:lpstr>Arial</vt:lpstr>
      <vt:lpstr>Arial</vt:lpstr>
      <vt:lpstr>Calibri</vt:lpstr>
      <vt:lpstr>Calibri Light</vt:lpstr>
      <vt:lpstr>Courier New</vt:lpstr>
      <vt:lpstr>JetBrains Mono</vt:lpstr>
      <vt:lpstr>Times New Roman</vt:lpstr>
      <vt:lpstr>Office Theme</vt:lpstr>
      <vt:lpstr>1_Office Theme</vt:lpstr>
      <vt:lpstr>2_Office Theme</vt:lpstr>
      <vt:lpstr>Widgets </vt:lpstr>
      <vt:lpstr>What is a widget?</vt:lpstr>
      <vt:lpstr>Purpose of a Widget</vt:lpstr>
      <vt:lpstr>Why we need Widgets</vt:lpstr>
      <vt:lpstr>Types of Widgets</vt:lpstr>
      <vt:lpstr>Stateful and Stateless Widgets</vt:lpstr>
      <vt:lpstr>Examples</vt:lpstr>
      <vt:lpstr>PowerPoint Presentation</vt:lpstr>
      <vt:lpstr>PowerPoint Presentation</vt:lpstr>
      <vt:lpstr>PowerPoint Presentation</vt:lpstr>
      <vt:lpstr>PowerPoint Presentation</vt:lpstr>
      <vt:lpstr>Basic Structure of a Flutter Application</vt:lpstr>
      <vt:lpstr>packages</vt:lpstr>
      <vt:lpstr> MaterialApp</vt:lpstr>
      <vt:lpstr> MaterialApp - Key Properties </vt:lpstr>
      <vt:lpstr>PowerPoint Presentation</vt:lpstr>
      <vt:lpstr>Entry point </vt:lpstr>
      <vt:lpstr>Scaffold</vt:lpstr>
      <vt:lpstr>PowerPoint Presentation</vt:lpstr>
      <vt:lpstr>PowerPoint Presentation</vt:lpstr>
      <vt:lpstr>Example</vt:lpstr>
      <vt:lpstr>AppBar</vt:lpstr>
      <vt:lpstr>AppBar – Key Properties</vt:lpstr>
      <vt:lpstr>Example</vt:lpstr>
      <vt:lpstr>Text</vt:lpstr>
      <vt:lpstr>Text – Key Properties</vt:lpstr>
      <vt:lpstr>Example</vt:lpstr>
      <vt:lpstr>PowerPoint Presentation</vt:lpstr>
      <vt:lpstr>🎨 1️⃣ Using Scaffold.backgroundColor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60</cp:revision>
  <dcterms:created xsi:type="dcterms:W3CDTF">2026-08-16T13:18:27Z</dcterms:created>
  <dcterms:modified xsi:type="dcterms:W3CDTF">2026-08-16T17:03:42Z</dcterms:modified>
</cp:coreProperties>
</file>