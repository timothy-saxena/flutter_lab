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83" r:id="rId8"/>
    <p:sldId id="262" r:id="rId9"/>
    <p:sldId id="263" r:id="rId10"/>
    <p:sldId id="264" r:id="rId11"/>
    <p:sldId id="293" r:id="rId12"/>
    <p:sldId id="294" r:id="rId13"/>
    <p:sldId id="266" r:id="rId14"/>
    <p:sldId id="267" r:id="rId15"/>
    <p:sldId id="295" r:id="rId16"/>
    <p:sldId id="269" r:id="rId17"/>
    <p:sldId id="270" r:id="rId18"/>
    <p:sldId id="271" r:id="rId19"/>
    <p:sldId id="272" r:id="rId20"/>
    <p:sldId id="273" r:id="rId21"/>
    <p:sldId id="296" r:id="rId22"/>
    <p:sldId id="275" r:id="rId23"/>
    <p:sldId id="276" r:id="rId24"/>
    <p:sldId id="277" r:id="rId25"/>
    <p:sldId id="298" r:id="rId26"/>
    <p:sldId id="315" r:id="rId27"/>
    <p:sldId id="278" r:id="rId28"/>
    <p:sldId id="279" r:id="rId29"/>
    <p:sldId id="297" r:id="rId30"/>
    <p:sldId id="299" r:id="rId31"/>
    <p:sldId id="280" r:id="rId32"/>
    <p:sldId id="281" r:id="rId33"/>
    <p:sldId id="282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312" r:id="rId43"/>
    <p:sldId id="313" r:id="rId44"/>
    <p:sldId id="314" r:id="rId45"/>
    <p:sldId id="303" r:id="rId46"/>
    <p:sldId id="304" r:id="rId47"/>
    <p:sldId id="307" r:id="rId48"/>
    <p:sldId id="305" r:id="rId49"/>
    <p:sldId id="308" r:id="rId50"/>
    <p:sldId id="306" r:id="rId51"/>
    <p:sldId id="300" r:id="rId52"/>
    <p:sldId id="301" r:id="rId53"/>
    <p:sldId id="316" r:id="rId54"/>
    <p:sldId id="317" r:id="rId55"/>
    <p:sldId id="318" r:id="rId56"/>
    <p:sldId id="310" r:id="rId57"/>
    <p:sldId id="311" r:id="rId58"/>
    <p:sldId id="302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04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61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4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65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28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6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42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7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2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74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52394-E0D3-432A-A75D-F1FC065687E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8B3F3-127D-4D01-80A3-BBB2B6E242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5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Dart Programming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9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Client optimized programming language for apps on multiple platforms.</a:t>
            </a:r>
          </a:p>
          <a:p>
            <a:r>
              <a:rPr lang="en-US" dirty="0"/>
              <a:t>Developed by Google.</a:t>
            </a:r>
          </a:p>
          <a:p>
            <a:r>
              <a:rPr lang="en-US" dirty="0"/>
              <a:t>Used to build mobile, desktop, server, and web applications.</a:t>
            </a:r>
          </a:p>
          <a:p>
            <a:r>
              <a:rPr lang="en-US" dirty="0"/>
              <a:t>Object oriented, class based, garbage collected language with C-style syntax.</a:t>
            </a:r>
          </a:p>
          <a:p>
            <a:r>
              <a:rPr lang="en-US" dirty="0"/>
              <a:t>Can compile to either native code or JavaScript.</a:t>
            </a:r>
            <a:endParaRPr lang="en-IN" dirty="0"/>
          </a:p>
          <a:p>
            <a:r>
              <a:rPr lang="en-US" dirty="0"/>
              <a:t>Platform-independent (Windows, Mac, Linux, and Web) </a:t>
            </a:r>
          </a:p>
          <a:p>
            <a:pPr lvl="1"/>
            <a:r>
              <a:rPr lang="en-US" dirty="0"/>
              <a:t>Just-In-Time (JIT) compilation in development </a:t>
            </a:r>
          </a:p>
          <a:p>
            <a:pPr lvl="1"/>
            <a:r>
              <a:rPr lang="en-US" dirty="0"/>
              <a:t>Runs in VM; </a:t>
            </a:r>
          </a:p>
          <a:p>
            <a:r>
              <a:rPr lang="en-US" dirty="0"/>
              <a:t>offering hot reload </a:t>
            </a:r>
          </a:p>
          <a:p>
            <a:pPr lvl="1"/>
            <a:r>
              <a:rPr lang="en-US" dirty="0"/>
              <a:t>Ahead-Of-Time (AOT) compilation in production </a:t>
            </a:r>
          </a:p>
          <a:p>
            <a:pPr lvl="1"/>
            <a:r>
              <a:rPr lang="en-US" dirty="0"/>
              <a:t>Native code or JavaScript; high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29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5676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main() { </a:t>
            </a:r>
          </a:p>
          <a:p>
            <a:pPr marL="0" indent="0">
              <a:buNone/>
            </a:pPr>
            <a:r>
              <a:rPr lang="en-US" dirty="0"/>
              <a:t>   print("Hello World!");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main() is the starting point where the execution of your program begins.</a:t>
            </a:r>
          </a:p>
          <a:p>
            <a:pPr marL="0" indent="0">
              <a:buNone/>
            </a:pPr>
            <a:r>
              <a:rPr lang="en-US" dirty="0"/>
              <a:t>Every program starts with a main function.</a:t>
            </a:r>
          </a:p>
          <a:p>
            <a:pPr marL="0" indent="0">
              <a:buNone/>
            </a:pPr>
            <a:r>
              <a:rPr lang="en-US" dirty="0"/>
              <a:t>The curly braces {} represent the beginning and the ending of a block of code.</a:t>
            </a:r>
          </a:p>
          <a:p>
            <a:pPr marL="0" indent="0">
              <a:buNone/>
            </a:pPr>
            <a:r>
              <a:rPr lang="en-US" dirty="0"/>
              <a:t>print(“Hello World!”); prints Hello World! on screen.</a:t>
            </a:r>
          </a:p>
          <a:p>
            <a:pPr marL="0" indent="0">
              <a:buNone/>
            </a:pPr>
            <a:r>
              <a:rPr lang="en-US" dirty="0"/>
              <a:t>Each code statement must end with a semicolon.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65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1) 	// This is a normal, Single-line comment.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2)	/* This is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	Multi-line comment */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55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8086"/>
            <a:ext cx="10515600" cy="5708877"/>
          </a:xfrm>
        </p:spPr>
        <p:txBody>
          <a:bodyPr>
            <a:normAutofit/>
          </a:bodyPr>
          <a:lstStyle/>
          <a:p>
            <a:pPr algn="just"/>
            <a:endParaRPr lang="en-US" sz="3600" dirty="0"/>
          </a:p>
          <a:p>
            <a:pPr algn="just"/>
            <a:r>
              <a:rPr lang="en-IN" sz="3600" b="1" dirty="0"/>
              <a:t>Variable: C</a:t>
            </a:r>
            <a:r>
              <a:rPr lang="en-US" sz="3600" dirty="0" err="1"/>
              <a:t>ontainers</a:t>
            </a:r>
            <a:r>
              <a:rPr lang="en-US" sz="3600" dirty="0"/>
              <a:t> used to store value in the program.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In Dart, variables can be declared using `</a:t>
            </a:r>
            <a:r>
              <a:rPr lang="en-US" sz="3600" dirty="0" err="1"/>
              <a:t>var</a:t>
            </a:r>
            <a:r>
              <a:rPr lang="en-US" sz="3600" dirty="0"/>
              <a:t>`, `final`, or `</a:t>
            </a:r>
            <a:r>
              <a:rPr lang="en-US" sz="3600" dirty="0" err="1"/>
              <a:t>const</a:t>
            </a:r>
            <a:r>
              <a:rPr lang="en-US" sz="3600" dirty="0"/>
              <a:t>`. 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Variables can also be explicitly typed.</a:t>
            </a:r>
          </a:p>
        </p:txBody>
      </p:sp>
    </p:spTree>
    <p:extLst>
      <p:ext uri="{BB962C8B-B14F-4D97-AF65-F5344CB8AC3E}">
        <p14:creationId xmlns:p14="http://schemas.microsoft.com/office/powerpoint/2010/main" val="373278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b="1" dirty="0"/>
              <a:t>Using `</a:t>
            </a:r>
            <a:r>
              <a:rPr lang="en-US" sz="3600" b="1" dirty="0" err="1"/>
              <a:t>var</a:t>
            </a:r>
            <a:r>
              <a:rPr lang="en-US" sz="3600" b="1" dirty="0"/>
              <a:t>`</a:t>
            </a:r>
          </a:p>
          <a:p>
            <a:pPr marL="0" indent="0" algn="just">
              <a:buNone/>
            </a:pPr>
            <a:r>
              <a:rPr lang="en-US" sz="3600" dirty="0"/>
              <a:t>The `</a:t>
            </a:r>
            <a:r>
              <a:rPr lang="en-US" sz="3600" dirty="0" err="1"/>
              <a:t>var</a:t>
            </a:r>
            <a:r>
              <a:rPr lang="en-US" sz="3600" dirty="0"/>
              <a:t>` keyword is used when you want the compiler to infer the type of the variable based on the assigned value.</a:t>
            </a:r>
          </a:p>
          <a:p>
            <a:pPr marL="0" indent="0" algn="just">
              <a:buNone/>
            </a:pPr>
            <a:r>
              <a:rPr lang="en-US" sz="3600" dirty="0"/>
              <a:t>void main() {</a:t>
            </a:r>
          </a:p>
          <a:p>
            <a:pPr marL="0" indent="0" algn="just">
              <a:buNone/>
            </a:pPr>
            <a:r>
              <a:rPr lang="en-US" sz="3600" dirty="0" err="1"/>
              <a:t>var</a:t>
            </a:r>
            <a:r>
              <a:rPr lang="en-US" sz="3600" dirty="0"/>
              <a:t> name = 'John Doe';	// Type inferred as String </a:t>
            </a:r>
          </a:p>
          <a:p>
            <a:pPr marL="0" indent="0" algn="just">
              <a:buNone/>
            </a:pPr>
            <a:r>
              <a:rPr lang="en-US" sz="3600" dirty="0" err="1"/>
              <a:t>var</a:t>
            </a:r>
            <a:r>
              <a:rPr lang="en-US" sz="3600" dirty="0"/>
              <a:t> age = 30;			// Type inferred as </a:t>
            </a:r>
            <a:r>
              <a:rPr lang="en-US" sz="3600" dirty="0" err="1"/>
              <a:t>int</a:t>
            </a:r>
            <a:r>
              <a:rPr lang="en-US" sz="3600" dirty="0"/>
              <a:t> </a:t>
            </a:r>
          </a:p>
          <a:p>
            <a:pPr marL="0" indent="0" algn="just">
              <a:buNone/>
            </a:pPr>
            <a:r>
              <a:rPr lang="en-US" sz="3600" dirty="0" err="1"/>
              <a:t>var</a:t>
            </a:r>
            <a:r>
              <a:rPr lang="en-US" sz="3600" dirty="0"/>
              <a:t> height = 5.9;		/ /Type inferred as double </a:t>
            </a:r>
          </a:p>
          <a:p>
            <a:pPr marL="0" indent="0" algn="just">
              <a:buNone/>
            </a:pPr>
            <a:r>
              <a:rPr lang="en-US" sz="3600" dirty="0"/>
              <a:t>print(name);</a:t>
            </a:r>
          </a:p>
          <a:p>
            <a:pPr marL="0" indent="0" algn="just">
              <a:buNone/>
            </a:pPr>
            <a:r>
              <a:rPr lang="en-US" sz="3600" dirty="0"/>
              <a:t>print(age); </a:t>
            </a:r>
          </a:p>
          <a:p>
            <a:pPr marL="0" indent="0" algn="just">
              <a:buNone/>
            </a:pPr>
            <a:r>
              <a:rPr lang="en-US" sz="3600" dirty="0"/>
              <a:t>print(height);</a:t>
            </a:r>
          </a:p>
          <a:p>
            <a:pPr marL="0" indent="0" algn="just">
              <a:buNone/>
            </a:pPr>
            <a:r>
              <a:rPr lang="en-US" sz="3600" dirty="0"/>
              <a:t>}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7095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4657"/>
            <a:ext cx="10515600" cy="538230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3600" b="1" dirty="0"/>
              <a:t>Rules For Creating Variables </a:t>
            </a:r>
          </a:p>
          <a:p>
            <a:pPr algn="just"/>
            <a:r>
              <a:rPr lang="en-US" sz="3600" dirty="0"/>
              <a:t>Variable names are case sensitive, i.e., a and A are different.</a:t>
            </a:r>
          </a:p>
          <a:p>
            <a:pPr algn="just"/>
            <a:r>
              <a:rPr lang="en-US" sz="3600" dirty="0"/>
              <a:t>A variable name can consist of letters and alphabets.</a:t>
            </a:r>
          </a:p>
          <a:p>
            <a:pPr algn="just"/>
            <a:r>
              <a:rPr lang="en-US" sz="3600" dirty="0"/>
              <a:t>A variable name cannot start with a number.</a:t>
            </a:r>
          </a:p>
          <a:p>
            <a:pPr algn="just"/>
            <a:r>
              <a:rPr lang="en-US" sz="3600" dirty="0"/>
              <a:t>Keywords are not allowed to be used as a variable name.</a:t>
            </a:r>
          </a:p>
          <a:p>
            <a:pPr algn="just"/>
            <a:r>
              <a:rPr lang="en-US" sz="3600" dirty="0"/>
              <a:t>Blank spaces are not allowed in a variable name.</a:t>
            </a:r>
          </a:p>
          <a:p>
            <a:pPr algn="just"/>
            <a:r>
              <a:rPr lang="en-US" sz="3600" dirty="0"/>
              <a:t>Special characters are not allowed except for the underscore (_) and the dollar ($) sign.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5145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2629"/>
            <a:ext cx="10515600" cy="5284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String</a:t>
            </a:r>
            <a:r>
              <a:rPr lang="en-IN" dirty="0"/>
              <a:t>: Storing text value. E.g. “John” [Must be in quotes] ‘ ’ or “ ”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 err="1"/>
              <a:t>int</a:t>
            </a:r>
            <a:r>
              <a:rPr lang="en-IN" dirty="0"/>
              <a:t>: Storing integer value. E.g. 10, -10, 8555 [Decimal is not included]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double</a:t>
            </a:r>
            <a:r>
              <a:rPr lang="en-IN" dirty="0"/>
              <a:t>: Storing floating point values. E.g. 10.0, -10.2, 85.698 [Decimal is included]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 err="1"/>
              <a:t>num</a:t>
            </a:r>
            <a:r>
              <a:rPr lang="en-IN" dirty="0"/>
              <a:t>: Storing any type of number. E.g. 10, 20.2, -20 [both </a:t>
            </a:r>
            <a:r>
              <a:rPr lang="en-IN" dirty="0" err="1"/>
              <a:t>int</a:t>
            </a:r>
            <a:r>
              <a:rPr lang="en-IN" dirty="0"/>
              <a:t> and double]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bool</a:t>
            </a:r>
            <a:r>
              <a:rPr lang="en-IN" dirty="0"/>
              <a:t>: For storing true or false. E.g. true, false [Only stores true or false values]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 err="1"/>
              <a:t>var</a:t>
            </a:r>
            <a:r>
              <a:rPr lang="en-IN" dirty="0"/>
              <a:t>: For storing any value. E.g. ‘</a:t>
            </a:r>
            <a:r>
              <a:rPr lang="en-IN" dirty="0" err="1"/>
              <a:t>Bimal</a:t>
            </a:r>
            <a:r>
              <a:rPr lang="en-IN" dirty="0"/>
              <a:t>’, 12, ‘z’, true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86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1371"/>
            <a:ext cx="10515600" cy="554559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3200" dirty="0"/>
              <a:t>void main() {</a:t>
            </a:r>
          </a:p>
          <a:p>
            <a:pPr marL="0" indent="0">
              <a:buNone/>
            </a:pPr>
            <a:r>
              <a:rPr lang="en-US" sz="3200" dirty="0"/>
              <a:t>// declaring variables</a:t>
            </a:r>
          </a:p>
          <a:p>
            <a:pPr marL="0" indent="0">
              <a:buNone/>
            </a:pPr>
            <a:r>
              <a:rPr lang="en-US" sz="3200" dirty="0"/>
              <a:t>String name = "John";</a:t>
            </a:r>
          </a:p>
          <a:p>
            <a:pPr marL="0" indent="0">
              <a:buNone/>
            </a:pPr>
            <a:r>
              <a:rPr lang="en-US" sz="3200" dirty="0"/>
              <a:t>String address = “India";  </a:t>
            </a:r>
          </a:p>
          <a:p>
            <a:pPr marL="0" indent="0">
              <a:buNone/>
            </a:pPr>
            <a:r>
              <a:rPr lang="en-US" sz="3200" dirty="0"/>
              <a:t>// num age = 20; // Can take both integer and double</a:t>
            </a:r>
          </a:p>
          <a:p>
            <a:pPr marL="0" indent="0">
              <a:buNone/>
            </a:pPr>
            <a:r>
              <a:rPr lang="en-US" sz="3200" dirty="0"/>
              <a:t>// num height = 5.9;</a:t>
            </a:r>
          </a:p>
          <a:p>
            <a:pPr marL="0" indent="0">
              <a:buNone/>
            </a:pPr>
            <a:r>
              <a:rPr lang="en-US" sz="3200" dirty="0" err="1"/>
              <a:t>int</a:t>
            </a:r>
            <a:r>
              <a:rPr lang="en-US" sz="3200" dirty="0"/>
              <a:t> age = 20;</a:t>
            </a:r>
          </a:p>
          <a:p>
            <a:pPr marL="0" indent="0">
              <a:buNone/>
            </a:pPr>
            <a:r>
              <a:rPr lang="en-US" sz="3200" dirty="0"/>
              <a:t>double height = 5.9;</a:t>
            </a:r>
          </a:p>
          <a:p>
            <a:pPr marL="0" indent="0">
              <a:buNone/>
            </a:pPr>
            <a:r>
              <a:rPr lang="en-US" sz="3200" dirty="0"/>
              <a:t>bool </a:t>
            </a:r>
            <a:r>
              <a:rPr lang="en-US" sz="3200" dirty="0" err="1"/>
              <a:t>isMarried</a:t>
            </a:r>
            <a:r>
              <a:rPr lang="en-US" sz="3200" dirty="0"/>
              <a:t> = false;</a:t>
            </a:r>
          </a:p>
          <a:p>
            <a:pPr marL="0" indent="0">
              <a:buNone/>
            </a:pPr>
            <a:r>
              <a:rPr lang="en-US" sz="3200" dirty="0"/>
              <a:t>   </a:t>
            </a:r>
          </a:p>
          <a:p>
            <a:pPr marL="0" indent="0">
              <a:buNone/>
            </a:pPr>
            <a:r>
              <a:rPr lang="en-US" sz="3200" dirty="0"/>
              <a:t>// printing variables value   </a:t>
            </a:r>
          </a:p>
          <a:p>
            <a:pPr marL="0" indent="0">
              <a:buNone/>
            </a:pPr>
            <a:r>
              <a:rPr lang="en-US" sz="3200" dirty="0"/>
              <a:t>print("Name is $name");</a:t>
            </a:r>
          </a:p>
          <a:p>
            <a:pPr marL="0" indent="0">
              <a:buNone/>
            </a:pPr>
            <a:r>
              <a:rPr lang="en-US" sz="3200" dirty="0"/>
              <a:t>print("Address is $address");</a:t>
            </a:r>
          </a:p>
          <a:p>
            <a:pPr marL="0" indent="0">
              <a:buNone/>
            </a:pPr>
            <a:r>
              <a:rPr lang="en-US" sz="3200" dirty="0"/>
              <a:t>print("Age is $age");</a:t>
            </a:r>
          </a:p>
          <a:p>
            <a:pPr marL="0" indent="0">
              <a:buNone/>
            </a:pPr>
            <a:r>
              <a:rPr lang="en-US" sz="3200" dirty="0"/>
              <a:t>print("Height is $height");</a:t>
            </a:r>
          </a:p>
          <a:p>
            <a:pPr marL="0" indent="0">
              <a:buNone/>
            </a:pPr>
            <a:r>
              <a:rPr lang="en-US" sz="3200" dirty="0"/>
              <a:t>print("Married Status is $</a:t>
            </a:r>
            <a:r>
              <a:rPr lang="en-US" sz="3200" dirty="0" err="1"/>
              <a:t>isMarried</a:t>
            </a:r>
            <a:r>
              <a:rPr lang="en-US" sz="3200" dirty="0"/>
              <a:t>");</a:t>
            </a:r>
          </a:p>
          <a:p>
            <a:pPr marL="0" indent="0">
              <a:buNone/>
            </a:pPr>
            <a:r>
              <a:rPr lang="en-US" sz="3200" dirty="0"/>
              <a:t>}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6558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5171"/>
            <a:ext cx="10515600" cy="5621792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IN" sz="5100" dirty="0"/>
              <a:t>// Variable declaration with type inference</a:t>
            </a:r>
          </a:p>
          <a:p>
            <a:pPr marL="0" indent="0" algn="just">
              <a:buNone/>
            </a:pPr>
            <a:r>
              <a:rPr lang="en-IN" sz="3500" dirty="0"/>
              <a:t>  </a:t>
            </a:r>
            <a:r>
              <a:rPr lang="en-IN" sz="5100" dirty="0" err="1"/>
              <a:t>var</a:t>
            </a:r>
            <a:r>
              <a:rPr lang="en-IN" sz="5100" dirty="0"/>
              <a:t> name = 'Hari';      // String type is inferred</a:t>
            </a:r>
          </a:p>
          <a:p>
            <a:pPr marL="0" indent="0" algn="just">
              <a:buNone/>
            </a:pPr>
            <a:r>
              <a:rPr lang="en-IN" sz="5100" dirty="0"/>
              <a:t>  </a:t>
            </a:r>
            <a:r>
              <a:rPr lang="en-IN" sz="5100" dirty="0" err="1"/>
              <a:t>var</a:t>
            </a:r>
            <a:r>
              <a:rPr lang="en-IN" sz="5100" dirty="0"/>
              <a:t> age = 30;           // </a:t>
            </a:r>
            <a:r>
              <a:rPr lang="en-IN" sz="5100" dirty="0" err="1"/>
              <a:t>int</a:t>
            </a:r>
            <a:r>
              <a:rPr lang="en-IN" sz="5100" dirty="0"/>
              <a:t> type is inferred</a:t>
            </a:r>
          </a:p>
          <a:p>
            <a:pPr marL="0" indent="0" algn="just">
              <a:buNone/>
            </a:pPr>
            <a:endParaRPr lang="en-IN" sz="3500" dirty="0"/>
          </a:p>
          <a:p>
            <a:pPr marL="0" indent="0" algn="just">
              <a:buNone/>
            </a:pPr>
            <a:r>
              <a:rPr lang="en-IN" sz="3500" dirty="0"/>
              <a:t>  </a:t>
            </a:r>
            <a:r>
              <a:rPr lang="en-IN" sz="5100" dirty="0"/>
              <a:t>// Explicit type declaration</a:t>
            </a:r>
          </a:p>
          <a:p>
            <a:pPr marL="0" indent="0" algn="just">
              <a:buNone/>
            </a:pPr>
            <a:r>
              <a:rPr lang="en-IN" sz="5100" dirty="0"/>
              <a:t>  String country = 'India';</a:t>
            </a:r>
          </a:p>
          <a:p>
            <a:pPr marL="0" indent="0" algn="just">
              <a:buNone/>
            </a:pPr>
            <a:r>
              <a:rPr lang="en-IN" sz="5100" dirty="0"/>
              <a:t>  </a:t>
            </a:r>
            <a:r>
              <a:rPr lang="en-IN" sz="5100" dirty="0" err="1"/>
              <a:t>int</a:t>
            </a:r>
            <a:r>
              <a:rPr lang="en-IN" sz="5100" dirty="0"/>
              <a:t> </a:t>
            </a:r>
            <a:r>
              <a:rPr lang="en-IN" sz="5100" dirty="0" err="1"/>
              <a:t>zipCode</a:t>
            </a:r>
            <a:r>
              <a:rPr lang="en-IN" sz="5100" dirty="0"/>
              <a:t> = 505001;</a:t>
            </a:r>
          </a:p>
          <a:p>
            <a:pPr marL="0" indent="0" algn="just">
              <a:buNone/>
            </a:pPr>
            <a:r>
              <a:rPr lang="en-IN" sz="5100" dirty="0"/>
              <a:t>  double height = 5.8;</a:t>
            </a:r>
          </a:p>
          <a:p>
            <a:pPr marL="0" indent="0" algn="just">
              <a:buNone/>
            </a:pPr>
            <a:r>
              <a:rPr lang="en-IN" sz="5100" dirty="0"/>
              <a:t>  bool </a:t>
            </a:r>
            <a:r>
              <a:rPr lang="en-IN" sz="5100" dirty="0" err="1"/>
              <a:t>isStudent</a:t>
            </a:r>
            <a:r>
              <a:rPr lang="en-IN" sz="5100" dirty="0"/>
              <a:t> = true;</a:t>
            </a:r>
          </a:p>
          <a:p>
            <a:pPr marL="0" indent="0" algn="just">
              <a:buNone/>
            </a:pPr>
            <a:r>
              <a:rPr lang="en-US" sz="5100" dirty="0"/>
              <a:t>  bool </a:t>
            </a:r>
            <a:r>
              <a:rPr lang="en-US" sz="5100" dirty="0" err="1"/>
              <a:t>isVisible</a:t>
            </a:r>
            <a:r>
              <a:rPr lang="en-US" sz="5100" dirty="0"/>
              <a:t> = true; </a:t>
            </a:r>
          </a:p>
          <a:p>
            <a:pPr marL="0" indent="0" algn="just">
              <a:buNone/>
            </a:pPr>
            <a:r>
              <a:rPr lang="en-US" sz="5100" dirty="0"/>
              <a:t>  bool </a:t>
            </a:r>
            <a:r>
              <a:rPr lang="en-US" sz="5100" dirty="0" err="1"/>
              <a:t>isEnabled</a:t>
            </a:r>
            <a:r>
              <a:rPr lang="en-US" sz="5100" dirty="0"/>
              <a:t> = false; </a:t>
            </a:r>
            <a:endParaRPr lang="en-IN" sz="5100" dirty="0"/>
          </a:p>
          <a:p>
            <a:pPr marL="0" indent="0" algn="just">
              <a:buNone/>
            </a:pPr>
            <a:r>
              <a:rPr lang="en-IN" sz="5100" dirty="0"/>
              <a:t>  dynamic </a:t>
            </a:r>
            <a:r>
              <a:rPr lang="en-IN" sz="5100" dirty="0" err="1"/>
              <a:t>dataitem</a:t>
            </a:r>
            <a:r>
              <a:rPr lang="en-IN" sz="5100" dirty="0"/>
              <a:t> = 10;</a:t>
            </a:r>
          </a:p>
          <a:p>
            <a:pPr marL="0" indent="0" algn="just">
              <a:buNone/>
            </a:pPr>
            <a:endParaRPr lang="en-IN" sz="3500" dirty="0"/>
          </a:p>
          <a:p>
            <a:pPr marL="0" indent="0" algn="just">
              <a:buNone/>
            </a:pPr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00779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9971"/>
            <a:ext cx="10515600" cy="531699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b="1" dirty="0"/>
              <a:t>// Constants</a:t>
            </a:r>
          </a:p>
          <a:p>
            <a:pPr marL="0" indent="0" algn="just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DAYS_IN_WEEK = 7;   // Compile-time constant</a:t>
            </a:r>
          </a:p>
          <a:p>
            <a:pPr marL="0" indent="0" algn="just">
              <a:buNone/>
            </a:pPr>
            <a:r>
              <a:rPr lang="en-IN" dirty="0"/>
              <a:t>// Cannot be reassigned. But value can be initialized dynamically at runtime, based on some computation.</a:t>
            </a:r>
          </a:p>
          <a:p>
            <a:pPr marL="0" indent="0" algn="just">
              <a:buNone/>
            </a:pPr>
            <a:r>
              <a:rPr lang="en-IN" dirty="0"/>
              <a:t>final </a:t>
            </a:r>
            <a:r>
              <a:rPr lang="en-IN" dirty="0" err="1"/>
              <a:t>birthYear</a:t>
            </a:r>
            <a:r>
              <a:rPr lang="en-IN" dirty="0"/>
              <a:t> = 1993;       </a:t>
            </a:r>
          </a:p>
          <a:p>
            <a:pPr marL="0" indent="0" algn="just">
              <a:buNone/>
            </a:pPr>
            <a:r>
              <a:rPr lang="en-IN" dirty="0"/>
              <a:t>  </a:t>
            </a:r>
            <a:r>
              <a:rPr lang="en-IN" b="1" dirty="0"/>
              <a:t>// String interpolation:</a:t>
            </a:r>
            <a:r>
              <a:rPr lang="en-US" sz="2600" b="1" dirty="0"/>
              <a:t>${expression} to evaluate variables directly inside text.</a:t>
            </a:r>
            <a:endParaRPr lang="en-IN" sz="2600" b="1" dirty="0"/>
          </a:p>
          <a:p>
            <a:pPr marL="0" indent="0" algn="just">
              <a:buNone/>
            </a:pPr>
            <a:r>
              <a:rPr lang="en-IN" dirty="0"/>
              <a:t>  print('Person: $name is $age years old');</a:t>
            </a:r>
          </a:p>
          <a:p>
            <a:pPr marL="0" indent="0" algn="just">
              <a:buNone/>
            </a:pPr>
            <a:r>
              <a:rPr lang="en-IN" dirty="0"/>
              <a:t>  print('Lives in: $country, $</a:t>
            </a:r>
            <a:r>
              <a:rPr lang="en-IN" dirty="0" err="1"/>
              <a:t>zipCode</a:t>
            </a:r>
            <a:r>
              <a:rPr lang="en-IN" dirty="0"/>
              <a:t>');</a:t>
            </a:r>
          </a:p>
          <a:p>
            <a:pPr marL="0" indent="0" algn="just">
              <a:buNone/>
            </a:pPr>
            <a:r>
              <a:rPr lang="en-IN" dirty="0"/>
              <a:t>  print('Height: ${height}</a:t>
            </a:r>
            <a:r>
              <a:rPr lang="en-IN" dirty="0" err="1"/>
              <a:t>ft</a:t>
            </a:r>
            <a:r>
              <a:rPr lang="en-IN" dirty="0"/>
              <a:t>, Student: $</a:t>
            </a:r>
            <a:r>
              <a:rPr lang="en-IN" dirty="0" err="1"/>
              <a:t>isStudent</a:t>
            </a:r>
            <a:r>
              <a:rPr lang="en-IN" dirty="0"/>
              <a:t>');</a:t>
            </a:r>
          </a:p>
          <a:p>
            <a:pPr marL="0" indent="0" algn="just">
              <a:buNone/>
            </a:pPr>
            <a:r>
              <a:rPr lang="en-IN" dirty="0"/>
              <a:t>  print('Birth year: $</a:t>
            </a:r>
            <a:r>
              <a:rPr lang="en-IN" dirty="0" err="1"/>
              <a:t>birthYear</a:t>
            </a:r>
            <a:r>
              <a:rPr lang="en-IN" dirty="0"/>
              <a:t> (${2026 - </a:t>
            </a:r>
            <a:r>
              <a:rPr lang="en-IN" dirty="0" err="1"/>
              <a:t>birthYear</a:t>
            </a:r>
            <a:r>
              <a:rPr lang="en-IN" dirty="0"/>
              <a:t>} years old)');</a:t>
            </a:r>
          </a:p>
          <a:p>
            <a:pPr marL="0" indent="0" algn="just">
              <a:buNone/>
            </a:pPr>
            <a:r>
              <a:rPr lang="en-IN" dirty="0"/>
              <a:t>  print('</a:t>
            </a:r>
            <a:r>
              <a:rPr lang="en-IN" dirty="0" err="1"/>
              <a:t>dataitem</a:t>
            </a:r>
            <a:r>
              <a:rPr lang="en-IN" dirty="0"/>
              <a:t> value is: ${</a:t>
            </a:r>
            <a:r>
              <a:rPr lang="en-IN" dirty="0" err="1"/>
              <a:t>dataitem</a:t>
            </a:r>
            <a:r>
              <a:rPr lang="en-IN" dirty="0"/>
              <a:t>}');</a:t>
            </a:r>
          </a:p>
          <a:p>
            <a:pPr marL="0" indent="0" algn="just">
              <a:buNone/>
            </a:pPr>
            <a:r>
              <a:rPr lang="en-US" dirty="0"/>
              <a:t>  print(</a:t>
            </a:r>
            <a:r>
              <a:rPr lang="en-IN" dirty="0"/>
              <a:t>DAYS_IN_WEEK</a:t>
            </a:r>
            <a:r>
              <a:rPr lang="en-US" dirty="0"/>
              <a:t>);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IN" dirty="0"/>
              <a:t>// Check data type</a:t>
            </a:r>
          </a:p>
          <a:p>
            <a:pPr marL="0" indent="0">
              <a:buNone/>
            </a:pPr>
            <a:r>
              <a:rPr lang="en-IN" dirty="0"/>
              <a:t>  print(</a:t>
            </a:r>
            <a:r>
              <a:rPr lang="en-IN" dirty="0" err="1"/>
              <a:t>name.runtimeType</a:t>
            </a:r>
            <a:r>
              <a:rPr lang="en-IN" dirty="0"/>
              <a:t>);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74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Difference between `final` and `</a:t>
            </a:r>
            <a:r>
              <a:rPr lang="en-US" b="1" dirty="0" err="1"/>
              <a:t>const</a:t>
            </a:r>
            <a:r>
              <a:rPr lang="en-US" b="1" dirty="0"/>
              <a:t>`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final: The value is set at runtime and can be different each time the program is run.</a:t>
            </a:r>
          </a:p>
          <a:p>
            <a:pPr algn="just"/>
            <a:endParaRPr lang="en-IN" sz="3600" dirty="0"/>
          </a:p>
          <a:p>
            <a:pPr algn="just"/>
            <a:r>
              <a:rPr lang="en-US" sz="3600" dirty="0" err="1"/>
              <a:t>const</a:t>
            </a:r>
            <a:r>
              <a:rPr lang="en-US" sz="3600" dirty="0"/>
              <a:t>: The value is set at compile-time and remains constant.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6817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Operators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b="1" dirty="0"/>
              <a:t>Operands</a:t>
            </a:r>
            <a:r>
              <a:rPr lang="en-US" sz="3600" dirty="0"/>
              <a:t> : Represents the data.</a:t>
            </a:r>
          </a:p>
          <a:p>
            <a:pPr algn="just"/>
            <a:r>
              <a:rPr lang="en-US" sz="3600" b="1" dirty="0"/>
              <a:t>Operator</a:t>
            </a:r>
            <a:r>
              <a:rPr lang="en-US" sz="3600" dirty="0"/>
              <a:t> : Represents how the operands will be processed to produce a value.</a:t>
            </a:r>
          </a:p>
          <a:p>
            <a:pPr algn="just"/>
            <a:r>
              <a:rPr lang="en-US" sz="3600" dirty="0"/>
              <a:t>Suppose the given expression is 2 + 3. </a:t>
            </a:r>
          </a:p>
          <a:p>
            <a:pPr algn="just"/>
            <a:r>
              <a:rPr lang="en-US" sz="3600" dirty="0"/>
              <a:t>2 and 3 are operands, and + is the operator.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00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600" dirty="0"/>
              <a:t>Arithmetic Operators</a:t>
            </a:r>
          </a:p>
          <a:p>
            <a:r>
              <a:rPr lang="en-US" sz="3600" dirty="0"/>
              <a:t>Increment and Decrement Operators</a:t>
            </a:r>
          </a:p>
          <a:p>
            <a:r>
              <a:rPr lang="en-US" sz="3600" dirty="0"/>
              <a:t>Assignment Operators</a:t>
            </a:r>
          </a:p>
          <a:p>
            <a:r>
              <a:rPr lang="en-US" sz="3600" dirty="0"/>
              <a:t>Logical Operators</a:t>
            </a:r>
          </a:p>
          <a:p>
            <a:r>
              <a:rPr lang="en-US" sz="3600" dirty="0"/>
              <a:t>Type Test Operators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28621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985513"/>
              </p:ext>
            </p:extLst>
          </p:nvPr>
        </p:nvGraphicFramePr>
        <p:xfrm>
          <a:off x="1175657" y="1037545"/>
          <a:ext cx="9895115" cy="517744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61423">
                  <a:extLst>
                    <a:ext uri="{9D8B030D-6E8A-4147-A177-3AD203B41FA5}">
                      <a16:colId xmlns:a16="http://schemas.microsoft.com/office/drawing/2014/main" val="1292488056"/>
                    </a:ext>
                  </a:extLst>
                </a:gridCol>
                <a:gridCol w="2104374">
                  <a:extLst>
                    <a:ext uri="{9D8B030D-6E8A-4147-A177-3AD203B41FA5}">
                      <a16:colId xmlns:a16="http://schemas.microsoft.com/office/drawing/2014/main" val="634447084"/>
                    </a:ext>
                  </a:extLst>
                </a:gridCol>
                <a:gridCol w="1426808">
                  <a:extLst>
                    <a:ext uri="{9D8B030D-6E8A-4147-A177-3AD203B41FA5}">
                      <a16:colId xmlns:a16="http://schemas.microsoft.com/office/drawing/2014/main" val="735960029"/>
                    </a:ext>
                  </a:extLst>
                </a:gridCol>
                <a:gridCol w="1548630">
                  <a:extLst>
                    <a:ext uri="{9D8B030D-6E8A-4147-A177-3AD203B41FA5}">
                      <a16:colId xmlns:a16="http://schemas.microsoft.com/office/drawing/2014/main" val="131559944"/>
                    </a:ext>
                  </a:extLst>
                </a:gridCol>
                <a:gridCol w="3753880">
                  <a:extLst>
                    <a:ext uri="{9D8B030D-6E8A-4147-A177-3AD203B41FA5}">
                      <a16:colId xmlns:a16="http://schemas.microsoft.com/office/drawing/2014/main" val="4204809159"/>
                    </a:ext>
                  </a:extLst>
                </a:gridCol>
              </a:tblGrid>
              <a:tr h="382660">
                <a:tc>
                  <a:txBody>
                    <a:bodyPr/>
                    <a:lstStyle/>
                    <a:p>
                      <a:pPr marL="6985" algn="ctr"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Symbol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700" marR="1270" algn="ctr"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Operator</a:t>
                      </a:r>
                      <a:r>
                        <a:rPr lang="en-US" sz="2000" b="1" spc="-3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9685" marR="8255" algn="ctr"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Syntax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93090"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438477"/>
                  </a:ext>
                </a:extLst>
              </a:tr>
              <a:tr h="413722">
                <a:tc>
                  <a:txBody>
                    <a:bodyPr/>
                    <a:lstStyle/>
                    <a:p>
                      <a:pPr marL="16510" algn="ctr"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+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700" marR="3175" algn="ctr"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Addition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5425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Adds</a:t>
                      </a:r>
                      <a:r>
                        <a:rPr lang="en-US" sz="2000" b="1" spc="-3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two</a:t>
                      </a:r>
                      <a:r>
                        <a:rPr lang="en-US" sz="2000" b="1" spc="-1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numbers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213755"/>
                  </a:ext>
                </a:extLst>
              </a:tr>
              <a:tr h="619923"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7780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-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2700" algn="ctr"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Subtraction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9685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25425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65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Subtracts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20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another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110841"/>
                  </a:ext>
                </a:extLst>
              </a:tr>
              <a:tr h="411740">
                <a:tc>
                  <a:txBody>
                    <a:bodyPr/>
                    <a:lstStyle/>
                    <a:p>
                      <a:pPr marL="13335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*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2700" marR="254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Multiplication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5425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Multiplies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two numbers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752196"/>
                  </a:ext>
                </a:extLst>
              </a:tr>
              <a:tr h="621905">
                <a:tc>
                  <a:txBody>
                    <a:bodyPr/>
                    <a:lstStyle/>
                    <a:p>
                      <a:pPr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7780" algn="ctr">
                        <a:spcAft>
                          <a:spcPts val="0"/>
                        </a:spcAft>
                      </a:pP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/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2700" algn="ctr"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Division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1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9685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1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25425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b="1" spc="-1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65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Divides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20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by</a:t>
                      </a: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another,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returns a double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977251"/>
                  </a:ext>
                </a:extLst>
              </a:tr>
              <a:tr h="699230">
                <a:tc>
                  <a:txBody>
                    <a:bodyPr/>
                    <a:lstStyle/>
                    <a:p>
                      <a:pPr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16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~/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00355" indent="27305">
                        <a:lnSpc>
                          <a:spcPct val="172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Integer 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Division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9685" marR="1905"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~/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5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87325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~/</a:t>
                      </a:r>
                      <a:r>
                        <a:rPr lang="en-US" sz="20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5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66000"/>
                        </a:lnSpc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Divides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20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by</a:t>
                      </a: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another,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returns an integer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936474"/>
                  </a:ext>
                </a:extLst>
              </a:tr>
              <a:tr h="621244"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5875" algn="ctr">
                        <a:spcAft>
                          <a:spcPts val="0"/>
                        </a:spcAft>
                      </a:pPr>
                      <a:r>
                        <a:rPr lang="en-US" sz="20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%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2700" marR="1270" algn="ctr">
                        <a:spcAft>
                          <a:spcPts val="0"/>
                        </a:spcAft>
                      </a:pP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Modulus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9685"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25425"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en-US" sz="20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6040" marR="128905">
                        <a:lnSpc>
                          <a:spcPct val="166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Returns</a:t>
                      </a:r>
                      <a:r>
                        <a:rPr lang="en-US" sz="20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20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remainder</a:t>
                      </a:r>
                      <a:r>
                        <a:rPr lang="en-US" sz="20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of </a:t>
                      </a:r>
                      <a:r>
                        <a:rPr lang="en-US" sz="20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division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7847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018690" y="668213"/>
            <a:ext cx="28896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Arithmetic Operators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84179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9229"/>
            <a:ext cx="10515600" cy="5817734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void main() {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// declaring two numbers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num1=10;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num2=3;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// performing arithmetic calculation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sum=num1+num2;       // addition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diff=num1-num2;      // subtraction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unaryMinus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= -num1;    // unary minus 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=num1*num2;       // multiplication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double div=num1/num2;    // division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div2 =num1~/num2;     // integer division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mod=num1%num2;       // show remainder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//Printing info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addition is $sum.");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subtraction is $diff.");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unary minus is $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unaryMinus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multiplication is $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division is $div.");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integer division is $div2.");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print("The modulus is $mod.");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967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Increment and Decrement Operators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418231"/>
              </p:ext>
            </p:extLst>
          </p:nvPr>
        </p:nvGraphicFramePr>
        <p:xfrm>
          <a:off x="1279072" y="1271157"/>
          <a:ext cx="8610600" cy="4269673"/>
        </p:xfrm>
        <a:graphic>
          <a:graphicData uri="http://schemas.openxmlformats.org/drawingml/2006/table">
            <a:tbl>
              <a:tblPr/>
              <a:tblGrid>
                <a:gridCol w="1975757">
                  <a:extLst>
                    <a:ext uri="{9D8B030D-6E8A-4147-A177-3AD203B41FA5}">
                      <a16:colId xmlns:a16="http://schemas.microsoft.com/office/drawing/2014/main" val="400132637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25494828"/>
                    </a:ext>
                  </a:extLst>
                </a:gridCol>
                <a:gridCol w="4729843">
                  <a:extLst>
                    <a:ext uri="{9D8B030D-6E8A-4147-A177-3AD203B41FA5}">
                      <a16:colId xmlns:a16="http://schemas.microsoft.com/office/drawing/2014/main" val="3771286718"/>
                    </a:ext>
                  </a:extLst>
                </a:gridCol>
              </a:tblGrid>
              <a:tr h="533709">
                <a:tc>
                  <a:txBody>
                    <a:bodyPr/>
                    <a:lstStyle/>
                    <a:p>
                      <a:pPr algn="l" fontAlgn="ctr"/>
                      <a:r>
                        <a:rPr lang="en-IN" b="1" dirty="0">
                          <a:effectLst/>
                        </a:rPr>
                        <a:t>Operator 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b="1">
                          <a:effectLst/>
                        </a:rPr>
                        <a:t>Operator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b="1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297985"/>
                  </a:ext>
                </a:extLst>
              </a:tr>
              <a:tr h="933991"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++</a:t>
                      </a:r>
                      <a:r>
                        <a:rPr lang="en-IN" b="1" dirty="0" err="1">
                          <a:effectLst/>
                        </a:rPr>
                        <a:t>var</a:t>
                      </a:r>
                      <a:endParaRPr lang="en-IN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Pre Increment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Increase Value By 1.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=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+ 1 </a:t>
                      </a:r>
                    </a:p>
                    <a:p>
                      <a:pPr fontAlgn="ctr"/>
                      <a:r>
                        <a:rPr lang="en-US" b="1" dirty="0">
                          <a:effectLst/>
                        </a:rPr>
                        <a:t>Expression value is var+1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384726"/>
                  </a:ext>
                </a:extLst>
              </a:tr>
              <a:tr h="933991"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--</a:t>
                      </a:r>
                      <a:r>
                        <a:rPr lang="en-IN" b="1" dirty="0" err="1">
                          <a:effectLst/>
                        </a:rPr>
                        <a:t>var</a:t>
                      </a:r>
                      <a:endParaRPr lang="en-IN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Pre Decrement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Decrease Value By 1.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=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- 1 </a:t>
                      </a:r>
                    </a:p>
                    <a:p>
                      <a:pPr fontAlgn="ctr"/>
                      <a:r>
                        <a:rPr lang="en-US" b="1" dirty="0">
                          <a:effectLst/>
                        </a:rPr>
                        <a:t>Expression value is var-1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320971"/>
                  </a:ext>
                </a:extLst>
              </a:tr>
              <a:tr h="933991">
                <a:tc>
                  <a:txBody>
                    <a:bodyPr/>
                    <a:lstStyle/>
                    <a:p>
                      <a:pPr fontAlgn="ctr"/>
                      <a:r>
                        <a:rPr lang="en-IN" b="1">
                          <a:effectLst/>
                        </a:rPr>
                        <a:t>var++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Post Increment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Increase Value By 1.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=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+ 1 </a:t>
                      </a:r>
                    </a:p>
                    <a:p>
                      <a:pPr fontAlgn="ctr"/>
                      <a:r>
                        <a:rPr lang="en-US" b="1" dirty="0">
                          <a:effectLst/>
                        </a:rPr>
                        <a:t>Expression value is </a:t>
                      </a:r>
                      <a:r>
                        <a:rPr lang="en-US" b="1" dirty="0" err="1">
                          <a:effectLst/>
                        </a:rPr>
                        <a:t>var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688573"/>
                  </a:ext>
                </a:extLst>
              </a:tr>
              <a:tr h="933991">
                <a:tc>
                  <a:txBody>
                    <a:bodyPr/>
                    <a:lstStyle/>
                    <a:p>
                      <a:pPr fontAlgn="ctr"/>
                      <a:r>
                        <a:rPr lang="en-IN" b="1" dirty="0" err="1">
                          <a:effectLst/>
                        </a:rPr>
                        <a:t>var</a:t>
                      </a:r>
                      <a:r>
                        <a:rPr lang="en-IN" b="1" dirty="0">
                          <a:effectLst/>
                        </a:rPr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N" b="1" dirty="0">
                          <a:effectLst/>
                        </a:rPr>
                        <a:t>Post Decrement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>
                          <a:effectLst/>
                        </a:rPr>
                        <a:t>Decrease Value By 1.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= </a:t>
                      </a:r>
                      <a:r>
                        <a:rPr lang="en-US" dirty="0" err="1">
                          <a:effectLst/>
                        </a:rPr>
                        <a:t>var</a:t>
                      </a:r>
                      <a:r>
                        <a:rPr lang="en-US" dirty="0">
                          <a:effectLst/>
                        </a:rPr>
                        <a:t> - 1 </a:t>
                      </a:r>
                    </a:p>
                    <a:p>
                      <a:pPr fontAlgn="ctr"/>
                      <a:r>
                        <a:rPr lang="en-US" b="1" dirty="0">
                          <a:effectLst/>
                        </a:rPr>
                        <a:t>Expression value is </a:t>
                      </a:r>
                      <a:r>
                        <a:rPr lang="en-US" b="1" dirty="0" err="1">
                          <a:effectLst/>
                        </a:rPr>
                        <a:t>var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07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18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4286"/>
            <a:ext cx="10515600" cy="563267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void main() {</a:t>
            </a:r>
          </a:p>
          <a:p>
            <a:pPr marL="0" indent="0">
              <a:buNone/>
            </a:pPr>
            <a:r>
              <a:rPr lang="en-IN" dirty="0"/>
              <a:t>// declaring two numbers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num1=0;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num2=0;</a:t>
            </a:r>
          </a:p>
          <a:p>
            <a:pPr marL="0" indent="0">
              <a:buNone/>
            </a:pPr>
            <a:r>
              <a:rPr lang="en-IN" dirty="0"/>
              <a:t>// performing increment / decrement operator  </a:t>
            </a:r>
          </a:p>
          <a:p>
            <a:pPr marL="0" indent="0">
              <a:buNone/>
            </a:pPr>
            <a:r>
              <a:rPr lang="en-IN" dirty="0"/>
              <a:t>// pre increment   </a:t>
            </a:r>
          </a:p>
          <a:p>
            <a:pPr marL="0" indent="0">
              <a:buNone/>
            </a:pPr>
            <a:r>
              <a:rPr lang="en-IN" dirty="0"/>
              <a:t>num2 = ++num1;</a:t>
            </a:r>
          </a:p>
          <a:p>
            <a:pPr marL="0" indent="0">
              <a:buNone/>
            </a:pPr>
            <a:r>
              <a:rPr lang="en-IN" dirty="0"/>
              <a:t>print("The value of num2 is $num2");</a:t>
            </a:r>
          </a:p>
          <a:p>
            <a:pPr marL="0" indent="0">
              <a:buNone/>
            </a:pPr>
            <a:r>
              <a:rPr lang="en-IN" dirty="0"/>
              <a:t>// reset value to 0 </a:t>
            </a:r>
          </a:p>
          <a:p>
            <a:pPr marL="0" indent="0">
              <a:buNone/>
            </a:pPr>
            <a:r>
              <a:rPr lang="en-IN" dirty="0"/>
              <a:t>num1 = 0;</a:t>
            </a:r>
          </a:p>
          <a:p>
            <a:pPr marL="0" indent="0">
              <a:buNone/>
            </a:pPr>
            <a:r>
              <a:rPr lang="en-IN" dirty="0"/>
              <a:t>num2 = 0;</a:t>
            </a:r>
          </a:p>
          <a:p>
            <a:pPr marL="0" indent="0">
              <a:buNone/>
            </a:pPr>
            <a:r>
              <a:rPr lang="en-IN" dirty="0"/>
              <a:t>// post increment  </a:t>
            </a:r>
          </a:p>
          <a:p>
            <a:pPr marL="0" indent="0">
              <a:buNone/>
            </a:pPr>
            <a:r>
              <a:rPr lang="en-IN" dirty="0"/>
              <a:t>num2 =  num1++;</a:t>
            </a:r>
          </a:p>
          <a:p>
            <a:pPr marL="0" indent="0">
              <a:buNone/>
            </a:pPr>
            <a:r>
              <a:rPr lang="en-IN" dirty="0"/>
              <a:t>print("The value of num2 is $num2");  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7430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41927"/>
              </p:ext>
            </p:extLst>
          </p:nvPr>
        </p:nvGraphicFramePr>
        <p:xfrm>
          <a:off x="921701" y="1539083"/>
          <a:ext cx="9852888" cy="465099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07099">
                  <a:extLst>
                    <a:ext uri="{9D8B030D-6E8A-4147-A177-3AD203B41FA5}">
                      <a16:colId xmlns:a16="http://schemas.microsoft.com/office/drawing/2014/main" val="25655045"/>
                    </a:ext>
                  </a:extLst>
                </a:gridCol>
                <a:gridCol w="2329543">
                  <a:extLst>
                    <a:ext uri="{9D8B030D-6E8A-4147-A177-3AD203B41FA5}">
                      <a16:colId xmlns:a16="http://schemas.microsoft.com/office/drawing/2014/main" val="3376408890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820509566"/>
                    </a:ext>
                  </a:extLst>
                </a:gridCol>
                <a:gridCol w="2035629">
                  <a:extLst>
                    <a:ext uri="{9D8B030D-6E8A-4147-A177-3AD203B41FA5}">
                      <a16:colId xmlns:a16="http://schemas.microsoft.com/office/drawing/2014/main" val="493037777"/>
                    </a:ext>
                  </a:extLst>
                </a:gridCol>
                <a:gridCol w="3328760">
                  <a:extLst>
                    <a:ext uri="{9D8B030D-6E8A-4147-A177-3AD203B41FA5}">
                      <a16:colId xmlns:a16="http://schemas.microsoft.com/office/drawing/2014/main" val="3554468058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marL="762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Symbol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Operator</a:t>
                      </a:r>
                      <a:r>
                        <a:rPr lang="en-US" sz="1600" b="1" spc="10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Name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6510" marR="762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Syntax</a:t>
                      </a:r>
                      <a:endParaRPr lang="en-IN" sz="18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160" marR="762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Example</a:t>
                      </a:r>
                      <a:endParaRPr lang="en-IN" sz="18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11480" algn="ctr">
                        <a:spcBef>
                          <a:spcPts val="69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Explanation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944793"/>
                  </a:ext>
                </a:extLst>
              </a:tr>
              <a:tr h="598805">
                <a:tc>
                  <a:txBody>
                    <a:bodyPr/>
                    <a:lstStyle/>
                    <a:p>
                      <a:pPr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3970" algn="ctr">
                        <a:spcAft>
                          <a:spcPts val="0"/>
                        </a:spcAft>
                      </a:pPr>
                      <a:r>
                        <a:rPr lang="en-US" sz="1600" b="1" spc="-5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=</a:t>
                      </a:r>
                      <a:endParaRPr lang="en-IN" sz="18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8890" algn="ctr"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Assignment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651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=</a:t>
                      </a:r>
                      <a:r>
                        <a:rPr lang="en-US" sz="1800" b="1" spc="-1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6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b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0160" marR="1270" algn="ctr"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int</a:t>
                      </a:r>
                      <a:r>
                        <a:rPr lang="en-US" sz="18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=</a:t>
                      </a:r>
                      <a:r>
                        <a:rPr lang="en-US" sz="1800" b="1" spc="-2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5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0960" marR="461645" algn="ctr">
                        <a:lnSpc>
                          <a:spcPct val="166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Assigns</a:t>
                      </a:r>
                      <a:r>
                        <a:rPr lang="en-US" sz="1800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value </a:t>
                      </a:r>
                      <a:r>
                        <a:rPr lang="en-US" sz="18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to a variable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110725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marL="5080" algn="ctr"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+=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890" marR="1905" algn="ctr"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Add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6510" marR="1270" algn="ctr">
                        <a:spcBef>
                          <a:spcPts val="615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+=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b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spcBef>
                          <a:spcPts val="615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+=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3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0960" marR="270510" algn="ctr"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Adds</a:t>
                      </a:r>
                      <a:r>
                        <a:rPr lang="en-US" sz="1800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</a:t>
                      </a:r>
                      <a:r>
                        <a:rPr lang="en-US" sz="1800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assigns</a:t>
                      </a:r>
                      <a:r>
                        <a:rPr lang="en-US" sz="1800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value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843689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397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=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4650" marR="105410" indent="-192405" algn="ctr">
                        <a:lnSpc>
                          <a:spcPct val="170000"/>
                        </a:lnSpc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Subtractand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6510" marR="127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-=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b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016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-=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2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0960" marR="67310" algn="ctr">
                        <a:lnSpc>
                          <a:spcPct val="163000"/>
                        </a:lnSpc>
                        <a:spcBef>
                          <a:spcPts val="785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Subtracts</a:t>
                      </a:r>
                      <a:r>
                        <a:rPr lang="en-US" sz="1800" spc="-6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</a:t>
                      </a:r>
                      <a:r>
                        <a:rPr lang="en-US" sz="1800" spc="-6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assigns</a:t>
                      </a:r>
                      <a:r>
                        <a:rPr lang="en-US" sz="1800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value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688751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algn="ctr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889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*=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4650" marR="105410" indent="-177165" algn="ctr">
                        <a:lnSpc>
                          <a:spcPct val="172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Multiply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 assign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6510" marR="127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*=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b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016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*=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2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ct val="167000"/>
                        </a:lnSpc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Multiplies</a:t>
                      </a:r>
                      <a:r>
                        <a:rPr lang="en-US" sz="1800" spc="-6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</a:t>
                      </a:r>
                      <a:r>
                        <a:rPr lang="en-US" sz="1800" spc="-6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assigns</a:t>
                      </a:r>
                      <a:r>
                        <a:rPr lang="en-US" sz="1800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</a:t>
                      </a:r>
                      <a:r>
                        <a:rPr lang="en-US" sz="1800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value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359183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marL="889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25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/=</a:t>
                      </a:r>
                      <a:endParaRPr lang="en-IN" sz="20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889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4650" marR="105410" indent="-177165" algn="ctr">
                        <a:lnSpc>
                          <a:spcPct val="172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Roboto"/>
                          <a:ea typeface="Roboto"/>
                          <a:cs typeface="Roboto"/>
                        </a:rPr>
                        <a:t>Devide and assign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6510" marR="127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 /=b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Courier New" panose="02070309020205020404" pitchFamily="49" charset="0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6510" marR="127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 /=3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Courier New" panose="02070309020205020404" pitchFamily="49" charset="0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4650" marR="105410" indent="-177165" algn="ctr">
                        <a:lnSpc>
                          <a:spcPct val="172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spc="-20" dirty="0" err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Devides</a:t>
                      </a:r>
                      <a:r>
                        <a:rPr lang="en-US" sz="1800" kern="12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and assign value</a:t>
                      </a:r>
                      <a:endParaRPr lang="en-IN" sz="1800" kern="1200" spc="-2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303250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algn="ctr"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 MT"/>
                          <a:ea typeface="Roboto"/>
                          <a:cs typeface="Roboto"/>
                        </a:rPr>
                        <a:t> 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37465" marR="1905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%=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4650" marR="121285" indent="-195580" algn="ctr">
                        <a:lnSpc>
                          <a:spcPct val="171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Modulus</a:t>
                      </a:r>
                      <a:r>
                        <a:rPr lang="en-US" sz="1600" b="1" spc="-7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</a:t>
                      </a:r>
                      <a:endParaRPr lang="en-IN" sz="1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6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MT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907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%=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b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6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MT"/>
                          <a:ea typeface="Roboto"/>
                          <a:cs typeface="Roboto"/>
                        </a:rPr>
                        <a:t> 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2799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%=</a:t>
                      </a:r>
                      <a:r>
                        <a:rPr lang="en-US" sz="1800" b="1" spc="-2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5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135" algn="ctr">
                        <a:lnSpc>
                          <a:spcPct val="166000"/>
                        </a:lnSpc>
                        <a:spcBef>
                          <a:spcPts val="74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Takes</a:t>
                      </a:r>
                      <a:r>
                        <a:rPr lang="en-US" sz="1800" spc="-6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modulus</a:t>
                      </a:r>
                      <a:r>
                        <a:rPr lang="en-US" sz="1800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 </a:t>
                      </a:r>
                      <a:r>
                        <a:rPr lang="en-US" sz="18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assigns a value</a:t>
                      </a:r>
                      <a:endParaRPr lang="en-IN" sz="28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399962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921701" y="951864"/>
            <a:ext cx="3026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Assignment Operators</a:t>
            </a:r>
            <a:endParaRPr lang="en-IN" sz="2400" dirty="0"/>
          </a:p>
        </p:txBody>
      </p:sp>
      <p:grpSp>
        <p:nvGrpSpPr>
          <p:cNvPr id="5121" name="Group 30"/>
          <p:cNvGrpSpPr>
            <a:grpSpLocks/>
          </p:cNvGrpSpPr>
          <p:nvPr/>
        </p:nvGrpSpPr>
        <p:grpSpPr bwMode="auto">
          <a:xfrm>
            <a:off x="-4763" y="-4763"/>
            <a:ext cx="5329238" cy="2762251"/>
            <a:chOff x="0" y="0"/>
            <a:chExt cx="53295" cy="27622"/>
          </a:xfrm>
        </p:grpSpPr>
      </p:grpSp>
    </p:spTree>
    <p:extLst>
      <p:ext uri="{BB962C8B-B14F-4D97-AF65-F5344CB8AC3E}">
        <p14:creationId xmlns:p14="http://schemas.microsoft.com/office/powerpoint/2010/main" val="684257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6943"/>
            <a:ext cx="10515600" cy="5600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main() {</a:t>
            </a:r>
          </a:p>
          <a:p>
            <a:pPr marL="0" indent="0">
              <a:buNone/>
            </a:pPr>
            <a:r>
              <a:rPr lang="en-US" dirty="0"/>
              <a:t>  double age = 24;</a:t>
            </a:r>
          </a:p>
          <a:p>
            <a:pPr marL="0" indent="0">
              <a:buNone/>
            </a:pPr>
            <a:r>
              <a:rPr lang="en-US" dirty="0"/>
              <a:t>  age+= 1;  // Here age+=1 means age = age + 1.</a:t>
            </a:r>
          </a:p>
          <a:p>
            <a:pPr marL="0" indent="0">
              <a:buNone/>
            </a:pPr>
            <a:r>
              <a:rPr lang="en-US" dirty="0"/>
              <a:t>  print("After Addition Age is $age");</a:t>
            </a:r>
          </a:p>
          <a:p>
            <a:pPr marL="0" indent="0">
              <a:buNone/>
            </a:pPr>
            <a:r>
              <a:rPr lang="en-US" dirty="0"/>
              <a:t>  age-= 1;  //Here age-=1 means age = age - 1.</a:t>
            </a:r>
          </a:p>
          <a:p>
            <a:pPr marL="0" indent="0">
              <a:buNone/>
            </a:pPr>
            <a:r>
              <a:rPr lang="en-US" dirty="0"/>
              <a:t>  print("After Subtraction Age is $age");</a:t>
            </a:r>
          </a:p>
          <a:p>
            <a:pPr marL="0" indent="0">
              <a:buNone/>
            </a:pPr>
            <a:r>
              <a:rPr lang="en-US" dirty="0"/>
              <a:t>  age*= 2;  //Here age*=2 means age = age * 2.</a:t>
            </a:r>
          </a:p>
          <a:p>
            <a:pPr marL="0" indent="0">
              <a:buNone/>
            </a:pPr>
            <a:r>
              <a:rPr lang="en-US" dirty="0"/>
              <a:t>  print("After Multiplication Age is $age");</a:t>
            </a:r>
          </a:p>
          <a:p>
            <a:pPr marL="0" indent="0">
              <a:buNone/>
            </a:pPr>
            <a:r>
              <a:rPr lang="en-US" dirty="0"/>
              <a:t>  age/= 2;  //Here age/=2 means age = age / 2.</a:t>
            </a:r>
          </a:p>
          <a:p>
            <a:pPr marL="0" indent="0">
              <a:buNone/>
            </a:pPr>
            <a:r>
              <a:rPr lang="en-US" dirty="0"/>
              <a:t>  print("After Division Age is $age");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310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13555"/>
              </p:ext>
            </p:extLst>
          </p:nvPr>
        </p:nvGraphicFramePr>
        <p:xfrm>
          <a:off x="1410564" y="1557337"/>
          <a:ext cx="9507806" cy="198501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64550">
                  <a:extLst>
                    <a:ext uri="{9D8B030D-6E8A-4147-A177-3AD203B41FA5}">
                      <a16:colId xmlns:a16="http://schemas.microsoft.com/office/drawing/2014/main" val="2983369660"/>
                    </a:ext>
                  </a:extLst>
                </a:gridCol>
                <a:gridCol w="1926772">
                  <a:extLst>
                    <a:ext uri="{9D8B030D-6E8A-4147-A177-3AD203B41FA5}">
                      <a16:colId xmlns:a16="http://schemas.microsoft.com/office/drawing/2014/main" val="883310609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544075432"/>
                    </a:ext>
                  </a:extLst>
                </a:gridCol>
                <a:gridCol w="1382486">
                  <a:extLst>
                    <a:ext uri="{9D8B030D-6E8A-4147-A177-3AD203B41FA5}">
                      <a16:colId xmlns:a16="http://schemas.microsoft.com/office/drawing/2014/main" val="1287978316"/>
                    </a:ext>
                  </a:extLst>
                </a:gridCol>
                <a:gridCol w="4234541">
                  <a:extLst>
                    <a:ext uri="{9D8B030D-6E8A-4147-A177-3AD203B41FA5}">
                      <a16:colId xmlns:a16="http://schemas.microsoft.com/office/drawing/2014/main" val="21838149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13335" marR="4445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Symbol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" marR="254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Operator</a:t>
                      </a:r>
                      <a:r>
                        <a:rPr lang="en-US" sz="1600" b="1" spc="10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4605" marR="5715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Syntax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890" marR="635" algn="ctr">
                        <a:spcBef>
                          <a:spcPts val="69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774792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13335" marR="508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==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Equality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==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890" algn="l"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two</a:t>
                      </a:r>
                      <a:r>
                        <a:rPr lang="en-US" sz="1600" b="1" spc="-4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values</a:t>
                      </a:r>
                      <a:r>
                        <a:rPr lang="en-US" sz="1600" b="1" spc="-3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are</a:t>
                      </a:r>
                      <a:r>
                        <a:rPr lang="en-US" sz="1600" b="1" spc="-4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equal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48881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3335" marR="508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!=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1430" marR="127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Inequality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4605"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!=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03200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!=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770" marR="85725">
                        <a:lnSpc>
                          <a:spcPct val="166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two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values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are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not equal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815916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333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1430" marR="127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Greater</a:t>
                      </a:r>
                      <a:r>
                        <a:rPr lang="en-US" sz="1600" b="1" spc="-3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4605" marR="1270"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sz="16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41300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770" marR="85725">
                        <a:lnSpc>
                          <a:spcPct val="166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greater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 another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576695"/>
                  </a:ext>
                </a:extLst>
              </a:tr>
            </a:tbl>
          </a:graphicData>
        </a:graphic>
      </p:graphicFrame>
      <p:sp>
        <p:nvSpPr>
          <p:cNvPr id="11" name="Graphic 19"/>
          <p:cNvSpPr/>
          <p:nvPr/>
        </p:nvSpPr>
        <p:spPr>
          <a:xfrm>
            <a:off x="3580725" y="11942390"/>
            <a:ext cx="5634037" cy="605059"/>
          </a:xfrm>
          <a:custGeom>
            <a:avLst/>
            <a:gdLst/>
            <a:ahLst/>
            <a:cxnLst/>
            <a:rect l="l" t="t" r="r" b="b"/>
            <a:pathLst>
              <a:path w="5634355" h="605155">
                <a:moveTo>
                  <a:pt x="1274318" y="595820"/>
                </a:moveTo>
                <a:lnTo>
                  <a:pt x="646125" y="595820"/>
                </a:lnTo>
                <a:lnTo>
                  <a:pt x="646125" y="9080"/>
                </a:lnTo>
                <a:lnTo>
                  <a:pt x="636968" y="9080"/>
                </a:lnTo>
                <a:lnTo>
                  <a:pt x="636968" y="595820"/>
                </a:lnTo>
                <a:lnTo>
                  <a:pt x="9144" y="595820"/>
                </a:lnTo>
                <a:lnTo>
                  <a:pt x="9144" y="9080"/>
                </a:lnTo>
                <a:lnTo>
                  <a:pt x="0" y="9080"/>
                </a:lnTo>
                <a:lnTo>
                  <a:pt x="0" y="595820"/>
                </a:lnTo>
                <a:lnTo>
                  <a:pt x="0" y="604964"/>
                </a:lnTo>
                <a:lnTo>
                  <a:pt x="9144" y="604964"/>
                </a:lnTo>
                <a:lnTo>
                  <a:pt x="636968" y="604964"/>
                </a:lnTo>
                <a:lnTo>
                  <a:pt x="646125" y="604964"/>
                </a:lnTo>
                <a:lnTo>
                  <a:pt x="1274318" y="604964"/>
                </a:lnTo>
                <a:lnTo>
                  <a:pt x="1274318" y="595820"/>
                </a:lnTo>
                <a:close/>
              </a:path>
              <a:path w="5634355" h="605155">
                <a:moveTo>
                  <a:pt x="1283525" y="9080"/>
                </a:moveTo>
                <a:lnTo>
                  <a:pt x="1274394" y="9080"/>
                </a:lnTo>
                <a:lnTo>
                  <a:pt x="1274394" y="595820"/>
                </a:lnTo>
                <a:lnTo>
                  <a:pt x="1274394" y="604964"/>
                </a:lnTo>
                <a:lnTo>
                  <a:pt x="1283525" y="604964"/>
                </a:lnTo>
                <a:lnTo>
                  <a:pt x="1283525" y="595820"/>
                </a:lnTo>
                <a:lnTo>
                  <a:pt x="1283525" y="9080"/>
                </a:lnTo>
                <a:close/>
              </a:path>
              <a:path w="5634355" h="605155">
                <a:moveTo>
                  <a:pt x="3121723" y="595820"/>
                </a:moveTo>
                <a:lnTo>
                  <a:pt x="2403932" y="595820"/>
                </a:lnTo>
                <a:lnTo>
                  <a:pt x="2403932" y="9080"/>
                </a:lnTo>
                <a:lnTo>
                  <a:pt x="2394788" y="9080"/>
                </a:lnTo>
                <a:lnTo>
                  <a:pt x="2394788" y="595820"/>
                </a:lnTo>
                <a:lnTo>
                  <a:pt x="1283538" y="595820"/>
                </a:lnTo>
                <a:lnTo>
                  <a:pt x="1283538" y="604964"/>
                </a:lnTo>
                <a:lnTo>
                  <a:pt x="2394788" y="604964"/>
                </a:lnTo>
                <a:lnTo>
                  <a:pt x="2403932" y="604964"/>
                </a:lnTo>
                <a:lnTo>
                  <a:pt x="3121723" y="604964"/>
                </a:lnTo>
                <a:lnTo>
                  <a:pt x="3121723" y="595820"/>
                </a:lnTo>
                <a:close/>
              </a:path>
              <a:path w="5634355" h="605155">
                <a:moveTo>
                  <a:pt x="3973957" y="0"/>
                </a:moveTo>
                <a:lnTo>
                  <a:pt x="3130880" y="0"/>
                </a:lnTo>
                <a:lnTo>
                  <a:pt x="3121736" y="0"/>
                </a:lnTo>
                <a:lnTo>
                  <a:pt x="3121736" y="9080"/>
                </a:lnTo>
                <a:lnTo>
                  <a:pt x="3121736" y="595820"/>
                </a:lnTo>
                <a:lnTo>
                  <a:pt x="3121736" y="604964"/>
                </a:lnTo>
                <a:lnTo>
                  <a:pt x="3130880" y="604964"/>
                </a:lnTo>
                <a:lnTo>
                  <a:pt x="3973957" y="604964"/>
                </a:lnTo>
                <a:lnTo>
                  <a:pt x="3973957" y="595820"/>
                </a:lnTo>
                <a:lnTo>
                  <a:pt x="3130880" y="595820"/>
                </a:lnTo>
                <a:lnTo>
                  <a:pt x="3130880" y="9131"/>
                </a:lnTo>
                <a:lnTo>
                  <a:pt x="3973957" y="9131"/>
                </a:lnTo>
                <a:lnTo>
                  <a:pt x="3973957" y="0"/>
                </a:lnTo>
                <a:close/>
              </a:path>
              <a:path w="5634355" h="605155">
                <a:moveTo>
                  <a:pt x="5633923" y="0"/>
                </a:moveTo>
                <a:lnTo>
                  <a:pt x="5624779" y="0"/>
                </a:lnTo>
                <a:lnTo>
                  <a:pt x="5624779" y="9131"/>
                </a:lnTo>
                <a:lnTo>
                  <a:pt x="5624779" y="595820"/>
                </a:lnTo>
                <a:lnTo>
                  <a:pt x="3983177" y="595820"/>
                </a:lnTo>
                <a:lnTo>
                  <a:pt x="3983177" y="9131"/>
                </a:lnTo>
                <a:lnTo>
                  <a:pt x="5624779" y="9131"/>
                </a:lnTo>
                <a:lnTo>
                  <a:pt x="5624779" y="0"/>
                </a:lnTo>
                <a:lnTo>
                  <a:pt x="3983177" y="0"/>
                </a:lnTo>
                <a:lnTo>
                  <a:pt x="3974033" y="0"/>
                </a:lnTo>
                <a:lnTo>
                  <a:pt x="3974033" y="9080"/>
                </a:lnTo>
                <a:lnTo>
                  <a:pt x="3974033" y="595820"/>
                </a:lnTo>
                <a:lnTo>
                  <a:pt x="3974033" y="604964"/>
                </a:lnTo>
                <a:lnTo>
                  <a:pt x="3983177" y="604964"/>
                </a:lnTo>
                <a:lnTo>
                  <a:pt x="5624779" y="604964"/>
                </a:lnTo>
                <a:lnTo>
                  <a:pt x="5633923" y="604964"/>
                </a:lnTo>
                <a:lnTo>
                  <a:pt x="5633923" y="595820"/>
                </a:lnTo>
                <a:lnTo>
                  <a:pt x="5633923" y="9131"/>
                </a:lnTo>
                <a:lnTo>
                  <a:pt x="5633923" y="0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70007"/>
              </p:ext>
            </p:extLst>
          </p:nvPr>
        </p:nvGraphicFramePr>
        <p:xfrm>
          <a:off x="1410564" y="3691287"/>
          <a:ext cx="9801723" cy="215455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08096">
                  <a:extLst>
                    <a:ext uri="{9D8B030D-6E8A-4147-A177-3AD203B41FA5}">
                      <a16:colId xmlns:a16="http://schemas.microsoft.com/office/drawing/2014/main" val="3583697150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2958675318"/>
                    </a:ext>
                  </a:extLst>
                </a:gridCol>
                <a:gridCol w="1208312">
                  <a:extLst>
                    <a:ext uri="{9D8B030D-6E8A-4147-A177-3AD203B41FA5}">
                      <a16:colId xmlns:a16="http://schemas.microsoft.com/office/drawing/2014/main" val="427598983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9545480"/>
                    </a:ext>
                  </a:extLst>
                </a:gridCol>
                <a:gridCol w="4648201">
                  <a:extLst>
                    <a:ext uri="{9D8B030D-6E8A-4147-A177-3AD203B41FA5}">
                      <a16:colId xmlns:a16="http://schemas.microsoft.com/office/drawing/2014/main" val="1184930725"/>
                    </a:ext>
                  </a:extLst>
                </a:gridCol>
              </a:tblGrid>
              <a:tr h="595630"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3335" marR="635" algn="ctr">
                        <a:spcAft>
                          <a:spcPts val="0"/>
                        </a:spcAft>
                      </a:pP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64795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Less</a:t>
                      </a:r>
                      <a:r>
                        <a:rPr lang="en-US" sz="1600" b="1" spc="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4605" marR="1270"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b="1" spc="-1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41300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770" marR="85725">
                        <a:lnSpc>
                          <a:spcPct val="166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less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 another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31183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3335" marR="8890" algn="ctr"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&gt;=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16865" marR="86995" indent="-218440">
                        <a:lnSpc>
                          <a:spcPct val="172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Greater</a:t>
                      </a:r>
                      <a:r>
                        <a:rPr lang="en-US" sz="1600" b="1" spc="-8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lang="en-US" sz="1600" b="1" spc="-7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or equal to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4605"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&gt;=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03200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&gt;=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770" marR="85725">
                        <a:lnSpc>
                          <a:spcPct val="167000"/>
                        </a:lnSpc>
                        <a:spcBef>
                          <a:spcPts val="76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greater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 or equal to another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082843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pPr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3335" marR="8255" algn="ctr">
                        <a:spcAft>
                          <a:spcPts val="0"/>
                        </a:spcAft>
                      </a:pP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&lt;=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16865" indent="-132715">
                        <a:lnSpc>
                          <a:spcPct val="171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Less</a:t>
                      </a:r>
                      <a:r>
                        <a:rPr lang="en-US" sz="1600" b="1" spc="-7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lang="en-US" sz="1600" b="1" spc="-6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or equal to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4605"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&lt;=</a:t>
                      </a:r>
                      <a:r>
                        <a:rPr lang="en-US" sz="1600" b="1" spc="-2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b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203200"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6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&lt;=</a:t>
                      </a:r>
                      <a:r>
                        <a:rPr lang="en-US" sz="1600" b="1" spc="-2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5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770" marR="85725">
                        <a:lnSpc>
                          <a:spcPct val="165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Checks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spc="-6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one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less </a:t>
                      </a: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than or equal to another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65061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1410564" y="993260"/>
            <a:ext cx="3261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Relational Operators</a:t>
            </a:r>
            <a:endParaRPr lang="en-IN" sz="2800" dirty="0"/>
          </a:p>
        </p:txBody>
      </p:sp>
      <p:grpSp>
        <p:nvGrpSpPr>
          <p:cNvPr id="4097" name="Group 17"/>
          <p:cNvGrpSpPr>
            <a:grpSpLocks/>
          </p:cNvGrpSpPr>
          <p:nvPr/>
        </p:nvGrpSpPr>
        <p:grpSpPr bwMode="auto">
          <a:xfrm>
            <a:off x="-4763" y="-4763"/>
            <a:ext cx="5634038" cy="1995488"/>
            <a:chOff x="0" y="0"/>
            <a:chExt cx="56343" cy="19958"/>
          </a:xfrm>
        </p:grpSpPr>
      </p:grpSp>
      <p:grpSp>
        <p:nvGrpSpPr>
          <p:cNvPr id="4103" name="Group 24"/>
          <p:cNvGrpSpPr>
            <a:grpSpLocks/>
          </p:cNvGrpSpPr>
          <p:nvPr/>
        </p:nvGrpSpPr>
        <p:grpSpPr bwMode="auto">
          <a:xfrm>
            <a:off x="-4763" y="-168275"/>
            <a:ext cx="5634038" cy="1951038"/>
            <a:chOff x="0" y="0"/>
            <a:chExt cx="56343" cy="19513"/>
          </a:xfrm>
        </p:grpSpPr>
      </p:grpSp>
      <p:grpSp>
        <p:nvGrpSpPr>
          <p:cNvPr id="4106" name="Group 10"/>
          <p:cNvGrpSpPr>
            <a:grpSpLocks/>
          </p:cNvGrpSpPr>
          <p:nvPr/>
        </p:nvGrpSpPr>
        <p:grpSpPr bwMode="auto">
          <a:xfrm>
            <a:off x="-4763" y="-168275"/>
            <a:ext cx="5634038" cy="1951038"/>
            <a:chOff x="0" y="0"/>
            <a:chExt cx="56343" cy="19513"/>
          </a:xfrm>
        </p:grpSpPr>
      </p:grpSp>
    </p:spTree>
    <p:extLst>
      <p:ext uri="{BB962C8B-B14F-4D97-AF65-F5344CB8AC3E}">
        <p14:creationId xmlns:p14="http://schemas.microsoft.com/office/powerpoint/2010/main" val="92223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7314"/>
            <a:ext cx="10515600" cy="53496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//Relational Operators</a:t>
            </a:r>
            <a:endParaRPr lang="en-IN" dirty="0"/>
          </a:p>
          <a:p>
            <a:pPr marL="0" indent="0">
              <a:buNone/>
            </a:pPr>
            <a:r>
              <a:rPr lang="pt-BR" dirty="0"/>
              <a:t>void main() {</a:t>
            </a:r>
          </a:p>
          <a:p>
            <a:pPr marL="0" indent="0">
              <a:buNone/>
            </a:pPr>
            <a:r>
              <a:rPr lang="pt-BR" dirty="0"/>
              <a:t> int num1=10;</a:t>
            </a:r>
          </a:p>
          <a:p>
            <a:pPr marL="0" indent="0">
              <a:buNone/>
            </a:pPr>
            <a:r>
              <a:rPr lang="pt-BR" dirty="0"/>
              <a:t> int num2=5;</a:t>
            </a:r>
          </a:p>
          <a:p>
            <a:pPr marL="0" indent="0">
              <a:buNone/>
            </a:pPr>
            <a:r>
              <a:rPr lang="pt-BR" dirty="0"/>
              <a:t> //printing info</a:t>
            </a:r>
          </a:p>
          <a:p>
            <a:pPr marL="0" indent="0">
              <a:buNone/>
            </a:pPr>
            <a:r>
              <a:rPr lang="pt-BR" dirty="0"/>
              <a:t> print(num1==num2); </a:t>
            </a:r>
          </a:p>
          <a:p>
            <a:pPr marL="0" indent="0">
              <a:buNone/>
            </a:pPr>
            <a:r>
              <a:rPr lang="pt-BR" dirty="0"/>
              <a:t> print(num1&lt;num2);</a:t>
            </a:r>
          </a:p>
          <a:p>
            <a:pPr marL="0" indent="0">
              <a:buNone/>
            </a:pPr>
            <a:r>
              <a:rPr lang="pt-BR" dirty="0"/>
              <a:t> print(num1&gt;num2);</a:t>
            </a:r>
          </a:p>
          <a:p>
            <a:pPr marL="0" indent="0">
              <a:buNone/>
            </a:pPr>
            <a:r>
              <a:rPr lang="pt-BR" dirty="0"/>
              <a:t> print(num1&lt;=num2);</a:t>
            </a:r>
          </a:p>
          <a:p>
            <a:pPr marL="0" indent="0">
              <a:buNone/>
            </a:pPr>
            <a:r>
              <a:rPr lang="pt-BR" dirty="0"/>
              <a:t> print(num1&gt;=num2);</a:t>
            </a:r>
          </a:p>
          <a:p>
            <a:pPr marL="0" indent="0">
              <a:buNone/>
            </a:pPr>
            <a:r>
              <a:rPr lang="pt-BR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69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Logical Operators</a:t>
            </a:r>
            <a:endParaRPr lang="en-IN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45923"/>
              </p:ext>
            </p:extLst>
          </p:nvPr>
        </p:nvGraphicFramePr>
        <p:xfrm>
          <a:off x="1390876" y="1992313"/>
          <a:ext cx="9481457" cy="351585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12371">
                  <a:extLst>
                    <a:ext uri="{9D8B030D-6E8A-4147-A177-3AD203B41FA5}">
                      <a16:colId xmlns:a16="http://schemas.microsoft.com/office/drawing/2014/main" val="2351759914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565287387"/>
                    </a:ext>
                  </a:extLst>
                </a:gridCol>
                <a:gridCol w="2002971">
                  <a:extLst>
                    <a:ext uri="{9D8B030D-6E8A-4147-A177-3AD203B41FA5}">
                      <a16:colId xmlns:a16="http://schemas.microsoft.com/office/drawing/2014/main" val="413215218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15997152"/>
                    </a:ext>
                  </a:extLst>
                </a:gridCol>
                <a:gridCol w="3439886">
                  <a:extLst>
                    <a:ext uri="{9D8B030D-6E8A-4147-A177-3AD203B41FA5}">
                      <a16:colId xmlns:a16="http://schemas.microsoft.com/office/drawing/2014/main" val="480625685"/>
                    </a:ext>
                  </a:extLst>
                </a:gridCol>
              </a:tblGrid>
              <a:tr h="572803">
                <a:tc>
                  <a:txBody>
                    <a:bodyPr/>
                    <a:lstStyle/>
                    <a:p>
                      <a:pPr marL="40640" algn="ctr"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Symbol</a:t>
                      </a:r>
                      <a:endParaRPr lang="en-IN" sz="16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3335" marR="5715" algn="ctr"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Operator</a:t>
                      </a:r>
                      <a:r>
                        <a:rPr lang="en-US" sz="1600" b="1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600" b="1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Name</a:t>
                      </a:r>
                      <a:endParaRPr lang="en-IN" sz="16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Syntax</a:t>
                      </a:r>
                      <a:endParaRPr lang="en-IN" sz="16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Example</a:t>
                      </a:r>
                      <a:endParaRPr lang="en-IN" sz="16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Explanation</a:t>
                      </a:r>
                      <a:endParaRPr lang="en-IN" sz="16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142920"/>
                  </a:ext>
                </a:extLst>
              </a:tr>
              <a:tr h="1173502">
                <a:tc>
                  <a:txBody>
                    <a:bodyPr/>
                    <a:lstStyle/>
                    <a:p>
                      <a:pPr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Roboto"/>
                          <a:cs typeface="Roboto"/>
                        </a:rPr>
                        <a:t> 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640" marR="33020" algn="ctr">
                        <a:spcAft>
                          <a:spcPts val="0"/>
                        </a:spcAft>
                      </a:pP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&amp;&amp;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Roboto"/>
                          <a:cs typeface="Roboto"/>
                        </a:rPr>
                        <a:t> 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3335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Logical</a:t>
                      </a:r>
                      <a:r>
                        <a:rPr lang="en-US" sz="1800" b="1" spc="3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AND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0345" marR="198120" indent="-113030">
                        <a:lnSpc>
                          <a:spcPct val="176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condition1 </a:t>
                      </a:r>
                      <a:r>
                        <a:rPr lang="en-US" sz="1400" b="1" spc="-3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&amp;&amp;</a:t>
                      </a:r>
                      <a:endParaRPr lang="en-IN" sz="2000" b="1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220345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condition2</a:t>
                      </a:r>
                      <a:endParaRPr lang="en-IN" sz="2000" b="1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1905" algn="ctr"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(5</a:t>
                      </a:r>
                      <a:r>
                        <a:rPr lang="en-US" sz="14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&gt;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3)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&amp;&amp;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0795" algn="ctr">
                        <a:spcBef>
                          <a:spcPts val="83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(5</a:t>
                      </a:r>
                      <a:r>
                        <a:rPr lang="en-US" sz="1400" b="1" spc="-2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&lt;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10)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135" marR="81280">
                        <a:lnSpc>
                          <a:spcPct val="166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Returns</a:t>
                      </a:r>
                      <a:r>
                        <a:rPr lang="en-US" sz="1400" b="1" spc="-5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true</a:t>
                      </a:r>
                      <a:r>
                        <a:rPr lang="en-US" sz="1400" b="1" spc="-5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if</a:t>
                      </a:r>
                      <a:r>
                        <a:rPr lang="en-US" sz="1400" b="1" spc="-55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1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both </a:t>
                      </a:r>
                      <a:r>
                        <a:rPr lang="en-US" sz="1400" b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conditions</a:t>
                      </a:r>
                      <a:r>
                        <a:rPr lang="en-US" sz="1400" b="1" spc="-3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are</a:t>
                      </a:r>
                      <a:r>
                        <a:rPr lang="en-US" sz="1400" b="1" spc="-25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2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true</a:t>
                      </a:r>
                      <a:endParaRPr lang="en-IN" sz="20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602271"/>
                  </a:ext>
                </a:extLst>
              </a:tr>
              <a:tr h="117629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Roboto"/>
                          <a:cs typeface="Roboto"/>
                        </a:rPr>
                        <a:t> 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640" marR="30480" algn="ctr">
                        <a:spcAft>
                          <a:spcPts val="0"/>
                        </a:spcAft>
                      </a:pP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||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Roboto"/>
                          <a:cs typeface="Roboto"/>
                        </a:rPr>
                        <a:t> 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3335" marR="3810"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Logical</a:t>
                      </a:r>
                      <a:r>
                        <a:rPr lang="en-US" sz="1800" b="1" spc="1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2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OR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315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condition1</a:t>
                      </a:r>
                      <a:endParaRPr lang="en-IN" sz="2000" b="1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220345" marR="61595">
                        <a:lnSpc>
                          <a:spcPts val="19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3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|| </a:t>
                      </a:r>
                      <a:r>
                        <a:rPr lang="en-US" sz="1400" b="1" spc="-2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condition2</a:t>
                      </a:r>
                      <a:endParaRPr lang="en-IN" sz="2000" b="1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1905" algn="ctr">
                        <a:spcBef>
                          <a:spcPts val="54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(5</a:t>
                      </a:r>
                      <a:r>
                        <a:rPr lang="en-US" sz="14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&gt;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3)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||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0795" algn="ctr">
                        <a:spcBef>
                          <a:spcPts val="83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(5</a:t>
                      </a:r>
                      <a:r>
                        <a:rPr lang="en-US" sz="1400" b="1" spc="-2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&gt;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10)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4135" marR="81280">
                        <a:lnSpc>
                          <a:spcPct val="166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Returns</a:t>
                      </a:r>
                      <a:r>
                        <a:rPr lang="en-US" sz="1400" b="1" spc="-6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true</a:t>
                      </a:r>
                      <a:r>
                        <a:rPr lang="en-US" sz="1400" b="1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if</a:t>
                      </a:r>
                      <a:r>
                        <a:rPr lang="en-US" sz="1400" b="1" spc="-5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at</a:t>
                      </a:r>
                      <a:r>
                        <a:rPr lang="en-US" sz="1400" b="1" spc="-65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least one condition is true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605801"/>
                  </a:ext>
                </a:extLst>
              </a:tr>
              <a:tr h="593260">
                <a:tc>
                  <a:txBody>
                    <a:bodyPr/>
                    <a:lstStyle/>
                    <a:p>
                      <a:pPr marL="40640" marR="26035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!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3335" marR="2540"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Logical</a:t>
                      </a:r>
                      <a:r>
                        <a:rPr lang="en-US" sz="1800" b="1" spc="3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800" b="1" spc="-25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NOT</a:t>
                      </a:r>
                      <a:endParaRPr lang="en-IN" sz="200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!condition</a:t>
                      </a:r>
                      <a:endParaRPr lang="en-IN" sz="2000" b="1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1905" algn="ctr"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!(5</a:t>
                      </a:r>
                      <a:r>
                        <a:rPr lang="en-US" sz="1400" b="1" spc="-3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&gt;</a:t>
                      </a:r>
                      <a:r>
                        <a:rPr lang="en-US" sz="1400" b="1" spc="-25" dirty="0">
                          <a:solidFill>
                            <a:srgbClr val="0C0C0C"/>
                          </a:solidFill>
                          <a:effectLst/>
                          <a:latin typeface="Courier New" panose="02070309020205020404" pitchFamily="49" charset="0"/>
                          <a:ea typeface="Roboto"/>
                          <a:cs typeface="Roboto"/>
                        </a:rPr>
                        <a:t> 3)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255" marR="6985" algn="ctr"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Inverts</a:t>
                      </a:r>
                      <a:r>
                        <a:rPr lang="en-US" sz="1400" b="1" spc="-5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</a:t>
                      </a:r>
                      <a:r>
                        <a:rPr lang="en-US" sz="1400" b="1" spc="-4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boolean</a:t>
                      </a:r>
                      <a:r>
                        <a:rPr lang="en-US" sz="1400" b="1" spc="-4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-US" sz="1400" b="1" spc="-2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value</a:t>
                      </a:r>
                      <a:endParaRPr lang="en-IN" sz="2000" dirty="0"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299921"/>
                  </a:ext>
                </a:extLst>
              </a:tr>
            </a:tbl>
          </a:graphicData>
        </a:graphic>
      </p:graphicFrame>
      <p:grpSp>
        <p:nvGrpSpPr>
          <p:cNvPr id="3073" name="Group 27"/>
          <p:cNvGrpSpPr>
            <a:grpSpLocks/>
          </p:cNvGrpSpPr>
          <p:nvPr/>
        </p:nvGrpSpPr>
        <p:grpSpPr bwMode="auto">
          <a:xfrm>
            <a:off x="-3175" y="-1588"/>
            <a:ext cx="5589588" cy="2411413"/>
            <a:chOff x="0" y="0"/>
            <a:chExt cx="55899" cy="24117"/>
          </a:xfrm>
        </p:grpSpPr>
      </p:grp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-4763" y="-4763"/>
            <a:ext cx="5589588" cy="2411413"/>
            <a:chOff x="0" y="0"/>
            <a:chExt cx="55899" cy="24117"/>
          </a:xfrm>
        </p:grpSpPr>
      </p:grpSp>
    </p:spTree>
    <p:extLst>
      <p:ext uri="{BB962C8B-B14F-4D97-AF65-F5344CB8AC3E}">
        <p14:creationId xmlns:p14="http://schemas.microsoft.com/office/powerpoint/2010/main" val="63141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1114"/>
            <a:ext cx="10515600" cy="54258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void main(){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userid</a:t>
            </a:r>
            <a:r>
              <a:rPr lang="en-IN" dirty="0"/>
              <a:t> = 123;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userpin</a:t>
            </a:r>
            <a:r>
              <a:rPr lang="en-IN" dirty="0"/>
              <a:t> = 456;</a:t>
            </a:r>
          </a:p>
          <a:p>
            <a:pPr marL="0" indent="0">
              <a:buNone/>
            </a:pPr>
            <a:r>
              <a:rPr lang="en-IN" dirty="0"/>
              <a:t>    // Printing Info</a:t>
            </a:r>
          </a:p>
          <a:p>
            <a:pPr marL="0" indent="0">
              <a:buNone/>
            </a:pPr>
            <a:r>
              <a:rPr lang="en-IN" dirty="0"/>
              <a:t>    print((</a:t>
            </a:r>
            <a:r>
              <a:rPr lang="en-IN" dirty="0" err="1"/>
              <a:t>userid</a:t>
            </a:r>
            <a:r>
              <a:rPr lang="en-IN" dirty="0"/>
              <a:t> == 123) &amp;&amp; (</a:t>
            </a:r>
            <a:r>
              <a:rPr lang="en-IN" dirty="0" err="1"/>
              <a:t>userpin</a:t>
            </a:r>
            <a:r>
              <a:rPr lang="en-IN" dirty="0"/>
              <a:t>== 456)); // print true</a:t>
            </a:r>
          </a:p>
          <a:p>
            <a:pPr marL="0" indent="0">
              <a:buNone/>
            </a:pPr>
            <a:r>
              <a:rPr lang="en-IN" dirty="0"/>
              <a:t>    print((</a:t>
            </a:r>
            <a:r>
              <a:rPr lang="en-IN" dirty="0" err="1"/>
              <a:t>userid</a:t>
            </a:r>
            <a:r>
              <a:rPr lang="en-IN" dirty="0"/>
              <a:t> == 1213) &amp;&amp; (</a:t>
            </a:r>
            <a:r>
              <a:rPr lang="en-IN" dirty="0" err="1"/>
              <a:t>userpin</a:t>
            </a:r>
            <a:r>
              <a:rPr lang="en-IN" dirty="0"/>
              <a:t>== 456)); // print false.</a:t>
            </a:r>
          </a:p>
          <a:p>
            <a:pPr marL="0" indent="0">
              <a:buNone/>
            </a:pPr>
            <a:r>
              <a:rPr lang="en-IN" dirty="0"/>
              <a:t>    print((</a:t>
            </a:r>
            <a:r>
              <a:rPr lang="en-IN" dirty="0" err="1"/>
              <a:t>userid</a:t>
            </a:r>
            <a:r>
              <a:rPr lang="en-IN" dirty="0"/>
              <a:t> == 123) || (</a:t>
            </a:r>
            <a:r>
              <a:rPr lang="en-IN" dirty="0" err="1"/>
              <a:t>userpin</a:t>
            </a:r>
            <a:r>
              <a:rPr lang="en-IN" dirty="0"/>
              <a:t>== 456)); // print true.</a:t>
            </a:r>
          </a:p>
          <a:p>
            <a:pPr marL="0" indent="0">
              <a:buNone/>
            </a:pPr>
            <a:r>
              <a:rPr lang="en-IN" dirty="0"/>
              <a:t>    print((</a:t>
            </a:r>
            <a:r>
              <a:rPr lang="en-IN" dirty="0" err="1"/>
              <a:t>userid</a:t>
            </a:r>
            <a:r>
              <a:rPr lang="en-IN" dirty="0"/>
              <a:t> == 1213) || (</a:t>
            </a:r>
            <a:r>
              <a:rPr lang="en-IN" dirty="0" err="1"/>
              <a:t>userpin</a:t>
            </a:r>
            <a:r>
              <a:rPr lang="en-IN" dirty="0"/>
              <a:t>== 456)); // print true</a:t>
            </a:r>
          </a:p>
          <a:p>
            <a:pPr marL="0" indent="0">
              <a:buNone/>
            </a:pPr>
            <a:r>
              <a:rPr lang="en-IN" dirty="0"/>
              <a:t>    print((</a:t>
            </a:r>
            <a:r>
              <a:rPr lang="en-IN" dirty="0" err="1"/>
              <a:t>userid</a:t>
            </a:r>
            <a:r>
              <a:rPr lang="en-IN" dirty="0"/>
              <a:t> == 123) != (</a:t>
            </a:r>
            <a:r>
              <a:rPr lang="en-IN" dirty="0" err="1"/>
              <a:t>userpin</a:t>
            </a:r>
            <a:r>
              <a:rPr lang="en-IN" dirty="0"/>
              <a:t>== 456));//print false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27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694960"/>
              </p:ext>
            </p:extLst>
          </p:nvPr>
        </p:nvGraphicFramePr>
        <p:xfrm>
          <a:off x="1563869" y="1751807"/>
          <a:ext cx="8538075" cy="178961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98986">
                  <a:extLst>
                    <a:ext uri="{9D8B030D-6E8A-4147-A177-3AD203B41FA5}">
                      <a16:colId xmlns:a16="http://schemas.microsoft.com/office/drawing/2014/main" val="3657668893"/>
                    </a:ext>
                  </a:extLst>
                </a:gridCol>
                <a:gridCol w="1524540">
                  <a:extLst>
                    <a:ext uri="{9D8B030D-6E8A-4147-A177-3AD203B41FA5}">
                      <a16:colId xmlns:a16="http://schemas.microsoft.com/office/drawing/2014/main" val="1694643363"/>
                    </a:ext>
                  </a:extLst>
                </a:gridCol>
                <a:gridCol w="1241132">
                  <a:extLst>
                    <a:ext uri="{9D8B030D-6E8A-4147-A177-3AD203B41FA5}">
                      <a16:colId xmlns:a16="http://schemas.microsoft.com/office/drawing/2014/main" val="4251069107"/>
                    </a:ext>
                  </a:extLst>
                </a:gridCol>
                <a:gridCol w="1665701">
                  <a:extLst>
                    <a:ext uri="{9D8B030D-6E8A-4147-A177-3AD203B41FA5}">
                      <a16:colId xmlns:a16="http://schemas.microsoft.com/office/drawing/2014/main" val="3854121878"/>
                    </a:ext>
                  </a:extLst>
                </a:gridCol>
                <a:gridCol w="3107716">
                  <a:extLst>
                    <a:ext uri="{9D8B030D-6E8A-4147-A177-3AD203B41FA5}">
                      <a16:colId xmlns:a16="http://schemas.microsoft.com/office/drawing/2014/main" val="1000036988"/>
                    </a:ext>
                  </a:extLst>
                </a:gridCol>
              </a:tblGrid>
              <a:tr h="568114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Symbol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Operator Name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Syntax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Example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Explanation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352440"/>
                  </a:ext>
                </a:extLst>
              </a:tr>
              <a:tr h="610748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&amp;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Bitwise AND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&amp; b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&amp; 3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Performs a bitwise AND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661300"/>
                  </a:ext>
                </a:extLst>
              </a:tr>
              <a:tr h="610748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|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Bitwise OR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| b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| 3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Performs a bitwise OR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68315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20538"/>
              </p:ext>
            </p:extLst>
          </p:nvPr>
        </p:nvGraphicFramePr>
        <p:xfrm>
          <a:off x="1661843" y="3541417"/>
          <a:ext cx="8440101" cy="252192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44440">
                  <a:extLst>
                    <a:ext uri="{9D8B030D-6E8A-4147-A177-3AD203B41FA5}">
                      <a16:colId xmlns:a16="http://schemas.microsoft.com/office/drawing/2014/main" val="3768501828"/>
                    </a:ext>
                  </a:extLst>
                </a:gridCol>
                <a:gridCol w="1726531">
                  <a:extLst>
                    <a:ext uri="{9D8B030D-6E8A-4147-A177-3AD203B41FA5}">
                      <a16:colId xmlns:a16="http://schemas.microsoft.com/office/drawing/2014/main" val="4136483260"/>
                    </a:ext>
                  </a:extLst>
                </a:gridCol>
                <a:gridCol w="1291940">
                  <a:extLst>
                    <a:ext uri="{9D8B030D-6E8A-4147-A177-3AD203B41FA5}">
                      <a16:colId xmlns:a16="http://schemas.microsoft.com/office/drawing/2014/main" val="468655329"/>
                    </a:ext>
                  </a:extLst>
                </a:gridCol>
                <a:gridCol w="1354332">
                  <a:extLst>
                    <a:ext uri="{9D8B030D-6E8A-4147-A177-3AD203B41FA5}">
                      <a16:colId xmlns:a16="http://schemas.microsoft.com/office/drawing/2014/main" val="1415363444"/>
                    </a:ext>
                  </a:extLst>
                </a:gridCol>
                <a:gridCol w="3222858">
                  <a:extLst>
                    <a:ext uri="{9D8B030D-6E8A-4147-A177-3AD203B41FA5}">
                      <a16:colId xmlns:a16="http://schemas.microsoft.com/office/drawing/2014/main" val="202296819"/>
                    </a:ext>
                  </a:extLst>
                </a:gridCol>
              </a:tblGrid>
              <a:tr h="612918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^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Bitwise XOR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^ b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^ 3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Performs a bitwise XOR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317189"/>
                  </a:ext>
                </a:extLst>
              </a:tr>
              <a:tr h="627172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~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Bitwise NOT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~a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~5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Inverts the bits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851492"/>
                  </a:ext>
                </a:extLst>
              </a:tr>
              <a:tr h="644481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&lt;&lt; 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Left Shift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&lt;&lt; n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&lt;&lt;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441325" algn="l"/>
                        </a:tabLs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	Shifts bits to the left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669513"/>
                  </a:ext>
                </a:extLst>
              </a:tr>
              <a:tr h="637354"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&gt;&gt; 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Right Shift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&gt;&gt; n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&gt;&gt;</a:t>
                      </a:r>
                      <a:endParaRPr lang="en-IN" sz="14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54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0"/>
                        </a:spcAft>
                        <a:tabLst>
                          <a:tab pos="441325" algn="l"/>
                        </a:tabLst>
                      </a:pPr>
                      <a:r>
                        <a:rPr lang="en-US" sz="14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	Shifts bits to the right</a:t>
                      </a:r>
                      <a:endParaRPr lang="en-IN" sz="14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78297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23722" y="1218011"/>
            <a:ext cx="3506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Bitwise</a:t>
            </a:r>
            <a:r>
              <a:rPr lang="en-US" sz="2000" b="1" spc="-80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sz="2000" b="1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lang="en-US" sz="2000" b="1" spc="-65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sz="2000" b="1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Shift</a:t>
            </a:r>
            <a:r>
              <a:rPr lang="en-US" sz="2000" b="1" spc="-50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 </a:t>
            </a:r>
            <a:r>
              <a:rPr lang="en-US" sz="2000" b="1" spc="-10" dirty="0">
                <a:solidFill>
                  <a:srgbClr val="0C0C0C"/>
                </a:solidFill>
                <a:latin typeface="Arial MT"/>
                <a:ea typeface="Arial MT"/>
                <a:cs typeface="Arial MT"/>
              </a:rPr>
              <a:t>Operators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5008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727A49-4C75-879E-850A-362B16F25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318629"/>
              </p:ext>
            </p:extLst>
          </p:nvPr>
        </p:nvGraphicFramePr>
        <p:xfrm>
          <a:off x="1244818" y="1123527"/>
          <a:ext cx="9702359" cy="4604807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702669">
                  <a:extLst>
                    <a:ext uri="{9D8B030D-6E8A-4147-A177-3AD203B41FA5}">
                      <a16:colId xmlns:a16="http://schemas.microsoft.com/office/drawing/2014/main" val="1067556786"/>
                    </a:ext>
                  </a:extLst>
                </a:gridCol>
                <a:gridCol w="6999690">
                  <a:extLst>
                    <a:ext uri="{9D8B030D-6E8A-4147-A177-3AD203B41FA5}">
                      <a16:colId xmlns:a16="http://schemas.microsoft.com/office/drawing/2014/main" val="4029422435"/>
                    </a:ext>
                  </a:extLst>
                </a:gridCol>
              </a:tblGrid>
              <a:tr h="6626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600" b="0" i="0" cap="none" spc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Operator</a:t>
                      </a:r>
                    </a:p>
                  </a:txBody>
                  <a:tcPr marL="149993" marR="149993" marT="149993" marB="7499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600" b="0" i="0" cap="none" spc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Meaning</a:t>
                      </a:r>
                    </a:p>
                  </a:txBody>
                  <a:tcPr marL="149993" marR="149993" marT="149993" marB="7499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50467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&amp;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AND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42566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|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OR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13287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^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XOR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57962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~</a:t>
                      </a:r>
                      <a:r>
                        <a:rPr lang="en-US" sz="2000" b="0" i="1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expr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Unary bitwise complement (0s become 1s; 1s become 0s)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210364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&lt;&lt;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Shift left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641500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&gt;&gt;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Shift right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44882"/>
                  </a:ext>
                </a:extLst>
              </a:tr>
              <a:tr h="563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Code"/>
                        </a:rPr>
                        <a:t>&gt;&gt;&gt;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Google Sans Flex"/>
                        </a:rPr>
                        <a:t>Unsigned shift right</a:t>
                      </a:r>
                    </a:p>
                  </a:txBody>
                  <a:tcPr marL="149993" marR="149993" marT="149993" marB="7499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80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504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006014"/>
              </p:ext>
            </p:extLst>
          </p:nvPr>
        </p:nvGraphicFramePr>
        <p:xfrm>
          <a:off x="1240972" y="2245882"/>
          <a:ext cx="9394371" cy="342633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5865">
                  <a:extLst>
                    <a:ext uri="{9D8B030D-6E8A-4147-A177-3AD203B41FA5}">
                      <a16:colId xmlns:a16="http://schemas.microsoft.com/office/drawing/2014/main" val="4212888252"/>
                    </a:ext>
                  </a:extLst>
                </a:gridCol>
                <a:gridCol w="1926047">
                  <a:extLst>
                    <a:ext uri="{9D8B030D-6E8A-4147-A177-3AD203B41FA5}">
                      <a16:colId xmlns:a16="http://schemas.microsoft.com/office/drawing/2014/main" val="1057842781"/>
                    </a:ext>
                  </a:extLst>
                </a:gridCol>
                <a:gridCol w="1555565">
                  <a:extLst>
                    <a:ext uri="{9D8B030D-6E8A-4147-A177-3AD203B41FA5}">
                      <a16:colId xmlns:a16="http://schemas.microsoft.com/office/drawing/2014/main" val="3517012827"/>
                    </a:ext>
                  </a:extLst>
                </a:gridCol>
                <a:gridCol w="1755764">
                  <a:extLst>
                    <a:ext uri="{9D8B030D-6E8A-4147-A177-3AD203B41FA5}">
                      <a16:colId xmlns:a16="http://schemas.microsoft.com/office/drawing/2014/main" val="4031016350"/>
                    </a:ext>
                  </a:extLst>
                </a:gridCol>
                <a:gridCol w="3111130">
                  <a:extLst>
                    <a:ext uri="{9D8B030D-6E8A-4147-A177-3AD203B41FA5}">
                      <a16:colId xmlns:a16="http://schemas.microsoft.com/office/drawing/2014/main" val="3443191385"/>
                    </a:ext>
                  </a:extLst>
                </a:gridCol>
              </a:tblGrid>
              <a:tr h="638810"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Symbol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19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Operator Name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Syntax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762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Example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Explanation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707846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317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is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Type Test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39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571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is Type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39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is </a:t>
                      </a:r>
                      <a:r>
                        <a:rPr lang="en-US" sz="1800" b="1" kern="1200" dirty="0" err="1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int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lnSpc>
                          <a:spcPct val="165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Checks if an object has a certain type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573185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5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2540" algn="ctr" defTabSz="914400" rtl="0" eaLnBrk="1" latinLnBrk="0" hangingPunct="1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as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5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Type Cast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571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as Type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as int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lnSpc>
                          <a:spcPct val="166000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Casts the object to a specified type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816397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is!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 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0005" marR="127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Not Type Test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marR="230505" indent="-40005" algn="ctr" defTabSz="914400" rtl="0" eaLnBrk="1" latinLnBrk="0" hangingPunct="1">
                        <a:lnSpc>
                          <a:spcPct val="176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a is! Type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indent="36195" algn="ctr" defTabSz="914400" rtl="0" eaLnBrk="1" latinLnBrk="0" hangingPunct="1">
                        <a:lnSpc>
                          <a:spcPct val="176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 is! String</a:t>
                      </a:r>
                      <a:endParaRPr lang="en-IN" sz="1800" b="1" kern="120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 defTabSz="914400" rtl="0" eaLnBrk="1" latinLnBrk="0" hangingPunct="1">
                        <a:lnSpc>
                          <a:spcPct val="165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C0C0C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Checks if an object is not of a certain type</a:t>
                      </a:r>
                      <a:endParaRPr lang="en-IN" sz="1800" b="1" kern="1200" dirty="0">
                        <a:solidFill>
                          <a:srgbClr val="0C0C0C"/>
                        </a:solidFill>
                        <a:effectLst/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C0C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537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17219" y="1382877"/>
            <a:ext cx="88206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Type Test Operators:</a:t>
            </a:r>
            <a:r>
              <a:rPr lang="en-US" sz="2800" dirty="0"/>
              <a:t> useful for checking types at runtime.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13620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224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void main() {</a:t>
            </a:r>
          </a:p>
          <a:p>
            <a:pPr marL="0" indent="0">
              <a:buNone/>
            </a:pPr>
            <a:r>
              <a:rPr lang="en-US" sz="4000" dirty="0"/>
              <a:t>  String value1 = "Dart Tutorial";</a:t>
            </a:r>
          </a:p>
          <a:p>
            <a:pPr marL="0" indent="0">
              <a:buNone/>
            </a:pPr>
            <a:r>
              <a:rPr lang="en-US" sz="4000" dirty="0"/>
              <a:t>  </a:t>
            </a:r>
            <a:r>
              <a:rPr lang="en-US" sz="4000" dirty="0" err="1"/>
              <a:t>int</a:t>
            </a:r>
            <a:r>
              <a:rPr lang="en-US" sz="4000" dirty="0"/>
              <a:t> age = 10;</a:t>
            </a:r>
          </a:p>
          <a:p>
            <a:pPr marL="0" indent="0">
              <a:buNone/>
            </a:pPr>
            <a:r>
              <a:rPr lang="en-US" sz="4000" dirty="0"/>
              <a:t>  print(value1 is String);</a:t>
            </a:r>
          </a:p>
          <a:p>
            <a:pPr marL="0" indent="0">
              <a:buNone/>
            </a:pPr>
            <a:r>
              <a:rPr lang="en-US" sz="4000" dirty="0"/>
              <a:t>  print(age is !</a:t>
            </a:r>
            <a:r>
              <a:rPr lang="en-US" sz="4000" dirty="0" err="1"/>
              <a:t>int</a:t>
            </a:r>
            <a:r>
              <a:rPr lang="en-US" sz="4000" dirty="0"/>
              <a:t>);</a:t>
            </a:r>
          </a:p>
          <a:p>
            <a:pPr marL="0" indent="0">
              <a:buNone/>
            </a:pPr>
            <a:r>
              <a:rPr lang="en-US" sz="4000" dirty="0"/>
              <a:t>}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804933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876754"/>
            <a:ext cx="10515600" cy="1325563"/>
          </a:xfrm>
        </p:spPr>
        <p:txBody>
          <a:bodyPr/>
          <a:lstStyle/>
          <a:p>
            <a:r>
              <a:rPr lang="en-US" dirty="0"/>
              <a:t>Conditional operator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04983"/>
              </p:ext>
            </p:extLst>
          </p:nvPr>
        </p:nvGraphicFramePr>
        <p:xfrm>
          <a:off x="1219200" y="2342447"/>
          <a:ext cx="10058400" cy="234772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33569">
                  <a:extLst>
                    <a:ext uri="{9D8B030D-6E8A-4147-A177-3AD203B41FA5}">
                      <a16:colId xmlns:a16="http://schemas.microsoft.com/office/drawing/2014/main" val="249946811"/>
                    </a:ext>
                  </a:extLst>
                </a:gridCol>
                <a:gridCol w="1678265">
                  <a:extLst>
                    <a:ext uri="{9D8B030D-6E8A-4147-A177-3AD203B41FA5}">
                      <a16:colId xmlns:a16="http://schemas.microsoft.com/office/drawing/2014/main" val="3418209246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449011072"/>
                    </a:ext>
                  </a:extLst>
                </a:gridCol>
                <a:gridCol w="2290527">
                  <a:extLst>
                    <a:ext uri="{9D8B030D-6E8A-4147-A177-3AD203B41FA5}">
                      <a16:colId xmlns:a16="http://schemas.microsoft.com/office/drawing/2014/main" val="2487093348"/>
                    </a:ext>
                  </a:extLst>
                </a:gridCol>
                <a:gridCol w="3662629">
                  <a:extLst>
                    <a:ext uri="{9D8B030D-6E8A-4147-A177-3AD203B41FA5}">
                      <a16:colId xmlns:a16="http://schemas.microsoft.com/office/drawing/2014/main" val="3680541324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marL="10795" marR="5080" algn="l" defTabSz="914400" rtl="0" eaLnBrk="1" latinLnBrk="0" hangingPunct="1"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Symbol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Operator Name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8890" algn="l" defTabSz="914400" rtl="0" eaLnBrk="1" latinLnBrk="0" hangingPunct="1"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Syntax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6350" algn="l" defTabSz="914400" rtl="0" eaLnBrk="1" latinLnBrk="0" hangingPunct="1"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Bef>
                          <a:spcPts val="51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48761"/>
                  </a:ext>
                </a:extLst>
              </a:tr>
              <a:tr h="900430">
                <a:tc>
                  <a:txBody>
                    <a:bodyPr/>
                    <a:lstStyle/>
                    <a:p>
                      <a:pPr algn="l">
                        <a:spcBef>
                          <a:spcPts val="1075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8255" algn="l">
                        <a:spcAft>
                          <a:spcPts val="0"/>
                        </a:spcAft>
                      </a:pPr>
                      <a:r>
                        <a:rPr lang="en-US" sz="18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?: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75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algn="l"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Conditional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condition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marR="76200" indent="-151130" algn="l" defTabSz="914400" rtl="0" eaLnBrk="1" latinLnBrk="0" hangingPunct="1">
                        <a:lnSpc>
                          <a:spcPct val="176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? expr1 : expr2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algn="l" defTabSz="914400" rtl="0" eaLnBrk="1" latinLnBrk="0" hangingPunct="1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(5 &gt; 3) ? 5 : 3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lnSpc>
                          <a:spcPct val="16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Returns one of two values based on a condition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13758"/>
                  </a:ext>
                </a:extLst>
              </a:tr>
              <a:tr h="974725">
                <a:tc>
                  <a:txBody>
                    <a:bodyPr/>
                    <a:lstStyle/>
                    <a:p>
                      <a:pPr algn="l">
                        <a:spcBef>
                          <a:spcPts val="92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8255" marR="1270" algn="l">
                        <a:spcAft>
                          <a:spcPts val="0"/>
                        </a:spcAft>
                      </a:pPr>
                      <a:r>
                        <a:rPr lang="en-US" sz="1800" b="1" spc="-2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??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92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2700" algn="l">
                        <a:spcAft>
                          <a:spcPts val="0"/>
                        </a:spcAft>
                      </a:pPr>
                      <a:r>
                        <a:rPr lang="en-US" sz="1800" b="1" spc="-35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Null-</a:t>
                      </a:r>
                      <a:r>
                        <a:rPr lang="en-US" sz="1800" b="1" spc="-1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aware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a ?? b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algn="l" defTabSz="914400" rtl="0" eaLnBrk="1" latinLnBrk="0" hangingPunct="1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marR="14097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spc="-10" dirty="0" err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? a; </a:t>
                      </a:r>
                    </a:p>
                    <a:p>
                      <a:pPr marL="10795" marR="14097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200" spc="-10" dirty="0" err="1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 b = a ?? 10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95" marR="232410" algn="l" defTabSz="914400" rtl="0" eaLnBrk="1" latinLnBrk="0" hangingPunct="1">
                        <a:lnSpc>
                          <a:spcPct val="165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Returns the left operand if not null, otherwise returns   the   right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  <a:p>
                      <a:pPr marL="10795" algn="l" defTabSz="914400" rtl="0" eaLnBrk="1" latinLnBrk="0" hangingPunct="1">
                        <a:lnSpc>
                          <a:spcPts val="1065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rgbClr val="0C0C0C"/>
                          </a:solidFill>
                          <a:effectLst/>
                          <a:latin typeface="Times New Roman" panose="02020603050405020304" pitchFamily="18" charset="0"/>
                          <a:ea typeface="Roboto"/>
                          <a:cs typeface="Times New Roman" panose="02020603050405020304" pitchFamily="18" charset="0"/>
                        </a:rPr>
                        <a:t>operand</a:t>
                      </a:r>
                      <a:endParaRPr lang="en-IN" sz="1800" b="1" kern="1200" spc="-10" dirty="0">
                        <a:solidFill>
                          <a:srgbClr val="0C0C0C"/>
                        </a:solidFill>
                        <a:effectLst/>
                        <a:latin typeface="Times New Roman" panose="02020603050405020304" pitchFamily="18" charset="0"/>
                        <a:ea typeface="Roboto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4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291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6171"/>
            <a:ext cx="10515600" cy="52407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Null Safety in Dart: Keeping it Safe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 </a:t>
            </a:r>
            <a:r>
              <a:rPr lang="en-US" sz="3400" dirty="0"/>
              <a:t>Enforces types by default, preventing null-related errors.</a:t>
            </a:r>
            <a:endParaRPr lang="en-IN" sz="3400" dirty="0"/>
          </a:p>
          <a:p>
            <a:pPr marL="0" lvl="0" indent="0">
              <a:buNone/>
            </a:pPr>
            <a:r>
              <a:rPr lang="en-US" sz="3400" dirty="0"/>
              <a:t>Use ? to declare </a:t>
            </a:r>
            <a:r>
              <a:rPr lang="en-US" sz="3400" dirty="0" err="1"/>
              <a:t>nullable</a:t>
            </a:r>
            <a:r>
              <a:rPr lang="en-US" sz="3400" dirty="0"/>
              <a:t> variables.</a:t>
            </a:r>
            <a:endParaRPr lang="en-IN" sz="3400" dirty="0"/>
          </a:p>
          <a:p>
            <a:pPr marL="0" indent="0">
              <a:buNone/>
            </a:pPr>
            <a:r>
              <a:rPr lang="en-US" sz="3400" dirty="0"/>
              <a:t> </a:t>
            </a:r>
            <a:r>
              <a:rPr lang="en-US" sz="3400" b="1" dirty="0" err="1"/>
              <a:t>Nullish</a:t>
            </a:r>
            <a:r>
              <a:rPr lang="en-US" sz="3400" b="1" dirty="0"/>
              <a:t> Coalescing Operator (??): Defaults Made Easy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 </a:t>
            </a:r>
            <a:r>
              <a:rPr lang="en-US" sz="3400" dirty="0"/>
              <a:t>Provides a default value if a variable is null or undefined (unlike ||).</a:t>
            </a:r>
            <a:endParaRPr lang="en-IN" sz="3400" dirty="0"/>
          </a:p>
          <a:p>
            <a:pPr marL="0" lvl="0" indent="0">
              <a:buNone/>
            </a:pPr>
            <a:r>
              <a:rPr lang="en-US" sz="3400" dirty="0"/>
              <a:t>Cleaner way to handle missing values.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Example: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 String? Name;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String greeting = name ? "There";</a:t>
            </a:r>
            <a:endParaRPr lang="en-IN" sz="3400" dirty="0"/>
          </a:p>
          <a:p>
            <a:pPr marL="0" indent="0">
              <a:buNone/>
            </a:pPr>
            <a:r>
              <a:rPr lang="en-US" sz="3400" b="1" dirty="0"/>
              <a:t>/ greeting will be "There" if name is null</a:t>
            </a:r>
            <a:endParaRPr lang="en-IN" sz="3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378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Conditions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Types Of Condition</a:t>
            </a:r>
          </a:p>
          <a:p>
            <a:r>
              <a:rPr lang="en-US" b="1" dirty="0"/>
              <a:t>If Condition</a:t>
            </a:r>
            <a:endParaRPr lang="en-US" dirty="0"/>
          </a:p>
          <a:p>
            <a:r>
              <a:rPr lang="en-US" b="1" dirty="0"/>
              <a:t>If-Else Condition</a:t>
            </a:r>
            <a:endParaRPr lang="en-US" dirty="0"/>
          </a:p>
          <a:p>
            <a:r>
              <a:rPr lang="en-US" b="1" dirty="0"/>
              <a:t>If-Else-If Condition</a:t>
            </a:r>
            <a:endParaRPr lang="en-US" dirty="0"/>
          </a:p>
          <a:p>
            <a:r>
              <a:rPr lang="en-US" b="1" dirty="0"/>
              <a:t>Switch case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150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 Condition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US" dirty="0"/>
              <a:t>if(condition) {</a:t>
            </a:r>
          </a:p>
          <a:p>
            <a:pPr marL="0" indent="0">
              <a:buNone/>
            </a:pPr>
            <a:r>
              <a:rPr lang="en-US" dirty="0"/>
              <a:t>    Statement 1;</a:t>
            </a:r>
          </a:p>
          <a:p>
            <a:pPr marL="0" indent="0">
              <a:buNone/>
            </a:pPr>
            <a:r>
              <a:rPr lang="en-US" dirty="0"/>
              <a:t>    Statement 2;</a:t>
            </a:r>
          </a:p>
          <a:p>
            <a:pPr marL="0" indent="0">
              <a:buNone/>
            </a:pPr>
            <a:r>
              <a:rPr lang="en-US" dirty="0"/>
              <a:t>       .</a:t>
            </a:r>
          </a:p>
          <a:p>
            <a:pPr marL="0" indent="0">
              <a:buNone/>
            </a:pPr>
            <a:r>
              <a:rPr lang="en-US" dirty="0"/>
              <a:t>       .</a:t>
            </a:r>
          </a:p>
          <a:p>
            <a:pPr marL="0" indent="0">
              <a:buNone/>
            </a:pPr>
            <a:r>
              <a:rPr lang="en-US" dirty="0"/>
              <a:t>    Statement n;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var</a:t>
            </a:r>
            <a:r>
              <a:rPr lang="en-US" dirty="0"/>
              <a:t> age = 20</a:t>
            </a:r>
          </a:p>
          <a:p>
            <a:pPr marL="0" indent="0">
              <a:buNone/>
            </a:pPr>
            <a:r>
              <a:rPr lang="en-US" dirty="0"/>
              <a:t>    if(age &gt;= 18){</a:t>
            </a:r>
          </a:p>
          <a:p>
            <a:pPr marL="0" indent="0">
              <a:buNone/>
            </a:pPr>
            <a:r>
              <a:rPr lang="en-US" dirty="0"/>
              <a:t>      print("You are voter.");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27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If-else Condition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IN" dirty="0"/>
              <a:t>if(condition){</a:t>
            </a:r>
          </a:p>
          <a:p>
            <a:pPr marL="0" indent="0">
              <a:buNone/>
            </a:pPr>
            <a:r>
              <a:rPr lang="en-IN" dirty="0"/>
              <a:t>statements;</a:t>
            </a:r>
          </a:p>
          <a:p>
            <a:pPr marL="0" indent="0">
              <a:buNone/>
            </a:pPr>
            <a:r>
              <a:rPr lang="en-IN" dirty="0"/>
              <a:t>}else{</a:t>
            </a:r>
          </a:p>
          <a:p>
            <a:pPr marL="0" indent="0">
              <a:buNone/>
            </a:pPr>
            <a:r>
              <a:rPr lang="en-IN" dirty="0"/>
              <a:t>statements;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age = 12;</a:t>
            </a:r>
          </a:p>
          <a:p>
            <a:pPr marL="0" indent="0">
              <a:buNone/>
            </a:pPr>
            <a:r>
              <a:rPr lang="en-US" dirty="0"/>
              <a:t>        if(age &gt;= 18){</a:t>
            </a:r>
          </a:p>
          <a:p>
            <a:pPr marL="0" indent="0">
              <a:buNone/>
            </a:pPr>
            <a:r>
              <a:rPr lang="en-US" dirty="0"/>
              <a:t>            print("You are voter.");</a:t>
            </a:r>
          </a:p>
          <a:p>
            <a:pPr marL="0" indent="0">
              <a:buNone/>
            </a:pPr>
            <a:r>
              <a:rPr lang="en-US" dirty="0"/>
              <a:t>        }else{</a:t>
            </a:r>
          </a:p>
          <a:p>
            <a:pPr marL="0" indent="0">
              <a:buNone/>
            </a:pPr>
            <a:r>
              <a:rPr lang="en-US" dirty="0"/>
              <a:t>            print("You are not voter.");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960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 Based On Boolean Value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/>
              <a:t>        bool </a:t>
            </a:r>
            <a:r>
              <a:rPr lang="en-US" dirty="0" err="1"/>
              <a:t>isMarried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isMarried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    print("You are married.");</a:t>
            </a:r>
          </a:p>
          <a:p>
            <a:pPr marL="0" indent="0">
              <a:buNone/>
            </a:pPr>
            <a:r>
              <a:rPr lang="en-US" dirty="0"/>
              <a:t>        }else{</a:t>
            </a:r>
          </a:p>
          <a:p>
            <a:pPr marL="0" indent="0">
              <a:buNone/>
            </a:pPr>
            <a:r>
              <a:rPr lang="en-US" dirty="0"/>
              <a:t>            print("You are single.");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122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If-Else-If Condition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if(condition1){</a:t>
            </a:r>
          </a:p>
          <a:p>
            <a:pPr marL="0" indent="0">
              <a:buNone/>
            </a:pPr>
            <a:r>
              <a:rPr lang="en-US" sz="2000" dirty="0"/>
              <a:t>statements1;</a:t>
            </a:r>
          </a:p>
          <a:p>
            <a:pPr marL="0" indent="0">
              <a:buNone/>
            </a:pPr>
            <a:r>
              <a:rPr lang="en-US" sz="2000" dirty="0"/>
              <a:t>}else if(condition2){</a:t>
            </a:r>
          </a:p>
          <a:p>
            <a:pPr marL="0" indent="0">
              <a:buNone/>
            </a:pPr>
            <a:r>
              <a:rPr lang="en-US" sz="2000" dirty="0"/>
              <a:t>statements2;</a:t>
            </a:r>
          </a:p>
          <a:p>
            <a:pPr marL="0" indent="0">
              <a:buNone/>
            </a:pPr>
            <a:r>
              <a:rPr lang="en-US" sz="2000" dirty="0"/>
              <a:t>}else if(condition3){</a:t>
            </a:r>
          </a:p>
          <a:p>
            <a:pPr marL="0" indent="0">
              <a:buNone/>
            </a:pPr>
            <a:r>
              <a:rPr lang="en-US" sz="2000" dirty="0"/>
              <a:t>statements3;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else(</a:t>
            </a:r>
            <a:r>
              <a:rPr lang="en-US" sz="2000" dirty="0" err="1"/>
              <a:t>conditionN</a:t>
            </a:r>
            <a:r>
              <a:rPr lang="en-US" sz="2000" dirty="0"/>
              <a:t>){</a:t>
            </a:r>
          </a:p>
          <a:p>
            <a:pPr marL="0" indent="0">
              <a:buNone/>
            </a:pPr>
            <a:r>
              <a:rPr lang="en-US" sz="2000" dirty="0" err="1"/>
              <a:t>statementsN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IN" sz="2000" dirty="0"/>
              <a:t> // If-else statements</a:t>
            </a:r>
          </a:p>
          <a:p>
            <a:pPr marL="0" indent="0">
              <a:buNone/>
            </a:pPr>
            <a:r>
              <a:rPr lang="en-IN" sz="2000" dirty="0"/>
              <a:t>  </a:t>
            </a:r>
            <a:r>
              <a:rPr lang="en-IN" sz="2000" dirty="0" err="1"/>
              <a:t>int</a:t>
            </a:r>
            <a:r>
              <a:rPr lang="en-IN" sz="2000" dirty="0"/>
              <a:t> score = 85;</a:t>
            </a:r>
          </a:p>
          <a:p>
            <a:pPr marL="0" indent="0">
              <a:buNone/>
            </a:pPr>
            <a:r>
              <a:rPr lang="en-IN" sz="2000" dirty="0"/>
              <a:t>  if (score &gt;= 90) {</a:t>
            </a:r>
          </a:p>
          <a:p>
            <a:pPr marL="0" indent="0">
              <a:buNone/>
            </a:pPr>
            <a:r>
              <a:rPr lang="en-IN" sz="2000" dirty="0"/>
              <a:t>    print('Grade: A');</a:t>
            </a:r>
          </a:p>
          <a:p>
            <a:pPr marL="0" indent="0">
              <a:buNone/>
            </a:pPr>
            <a:r>
              <a:rPr lang="en-IN" sz="2000" dirty="0"/>
              <a:t>  } else if (score &gt;= 80) {</a:t>
            </a:r>
          </a:p>
          <a:p>
            <a:pPr marL="0" indent="0">
              <a:buNone/>
            </a:pPr>
            <a:r>
              <a:rPr lang="en-IN" sz="2000" dirty="0"/>
              <a:t>    print('Grade: B');</a:t>
            </a:r>
          </a:p>
          <a:p>
            <a:pPr marL="0" indent="0">
              <a:buNone/>
            </a:pPr>
            <a:r>
              <a:rPr lang="en-IN" sz="2000" dirty="0"/>
              <a:t>  } else if (score &gt;= 70) {</a:t>
            </a:r>
          </a:p>
          <a:p>
            <a:pPr marL="0" indent="0">
              <a:buNone/>
            </a:pPr>
            <a:r>
              <a:rPr lang="en-IN" sz="2000" dirty="0"/>
              <a:t>    print('Grade: C');</a:t>
            </a:r>
          </a:p>
          <a:p>
            <a:pPr marL="0" indent="0">
              <a:buNone/>
            </a:pPr>
            <a:r>
              <a:rPr lang="en-IN" sz="2000" dirty="0"/>
              <a:t>  } else {</a:t>
            </a:r>
          </a:p>
          <a:p>
            <a:pPr marL="0" indent="0">
              <a:buNone/>
            </a:pPr>
            <a:r>
              <a:rPr lang="en-IN" sz="2000" dirty="0"/>
              <a:t>    print('Grade: F');</a:t>
            </a:r>
          </a:p>
          <a:p>
            <a:pPr marL="0" indent="0">
              <a:buNone/>
            </a:pPr>
            <a:r>
              <a:rPr lang="en-IN" sz="20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17538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main()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noOfMonth</a:t>
            </a:r>
            <a:r>
              <a:rPr lang="en-US" dirty="0"/>
              <a:t> = 5;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// Check the no of month</a:t>
            </a:r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noOfMonth</a:t>
            </a:r>
            <a:r>
              <a:rPr lang="en-US" dirty="0"/>
              <a:t> == 1)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jan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2)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feb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3) {</a:t>
            </a:r>
          </a:p>
          <a:p>
            <a:pPr marL="0" indent="0">
              <a:buNone/>
            </a:pPr>
            <a:r>
              <a:rPr lang="en-US" dirty="0"/>
              <a:t>    print("The month is march");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4)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april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5) {</a:t>
            </a:r>
          </a:p>
          <a:p>
            <a:pPr marL="0" indent="0">
              <a:buNone/>
            </a:pPr>
            <a:r>
              <a:rPr lang="en-US" dirty="0"/>
              <a:t>    print("The month is may");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6)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june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7)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july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8)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aug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9)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sep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10)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oct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11)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nov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if (</a:t>
            </a:r>
            <a:r>
              <a:rPr lang="en-US" dirty="0" err="1"/>
              <a:t>noOfMonth</a:t>
            </a:r>
            <a:r>
              <a:rPr lang="en-US" dirty="0"/>
              <a:t> == 12) {</a:t>
            </a:r>
          </a:p>
          <a:p>
            <a:pPr marL="0" indent="0">
              <a:buNone/>
            </a:pPr>
            <a:r>
              <a:rPr lang="en-US" dirty="0"/>
              <a:t>    print("The month is </a:t>
            </a:r>
            <a:r>
              <a:rPr lang="en-US" dirty="0" err="1"/>
              <a:t>dec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} else {</a:t>
            </a:r>
          </a:p>
          <a:p>
            <a:pPr marL="0" indent="0">
              <a:buNone/>
            </a:pPr>
            <a:r>
              <a:rPr lang="en-US" dirty="0"/>
              <a:t>    print("Invalid option given.");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574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8500"/>
            <a:ext cx="10515600" cy="54784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void main(){</a:t>
            </a:r>
          </a:p>
          <a:p>
            <a:pPr marL="0" indent="0">
              <a:buNone/>
            </a:pPr>
            <a:r>
              <a:rPr lang="pt-BR" dirty="0"/>
              <a:t>        int num1 = 1200;</a:t>
            </a:r>
          </a:p>
          <a:p>
            <a:pPr marL="0" indent="0">
              <a:buNone/>
            </a:pPr>
            <a:r>
              <a:rPr lang="pt-BR" dirty="0"/>
              <a:t>        int num2 = 1000;</a:t>
            </a:r>
          </a:p>
          <a:p>
            <a:pPr marL="0" indent="0">
              <a:buNone/>
            </a:pPr>
            <a:r>
              <a:rPr lang="pt-BR" dirty="0"/>
              <a:t>        int num3 = 150;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  if(num1 &gt; num2  &amp;&amp; num1 &gt; num3){</a:t>
            </a:r>
          </a:p>
          <a:p>
            <a:pPr marL="0" indent="0">
              <a:buNone/>
            </a:pPr>
            <a:r>
              <a:rPr lang="pt-BR" dirty="0"/>
              <a:t>            print("Num 1 is greater: i.e $num1");</a:t>
            </a:r>
          </a:p>
          <a:p>
            <a:pPr marL="0" indent="0">
              <a:buNone/>
            </a:pPr>
            <a:r>
              <a:rPr lang="pt-BR" dirty="0"/>
              <a:t>        }</a:t>
            </a:r>
          </a:p>
          <a:p>
            <a:pPr marL="0" indent="0">
              <a:buNone/>
            </a:pPr>
            <a:r>
              <a:rPr lang="pt-BR" dirty="0"/>
              <a:t>        if(num2 &gt; num1 &amp;&amp; num2 &gt; num3){</a:t>
            </a:r>
          </a:p>
          <a:p>
            <a:pPr marL="0" indent="0">
              <a:buNone/>
            </a:pPr>
            <a:r>
              <a:rPr lang="pt-BR" dirty="0"/>
              <a:t>           print("Num2 is greater: i.e $num2");</a:t>
            </a:r>
          </a:p>
          <a:p>
            <a:pPr marL="0" indent="0">
              <a:buNone/>
            </a:pPr>
            <a:r>
              <a:rPr lang="pt-BR" dirty="0"/>
              <a:t>        }</a:t>
            </a:r>
          </a:p>
          <a:p>
            <a:pPr marL="0" indent="0">
              <a:buNone/>
            </a:pPr>
            <a:r>
              <a:rPr lang="pt-BR" dirty="0"/>
              <a:t>        if(num3 &gt; num1 &amp;&amp; num3 &gt; num2){</a:t>
            </a:r>
          </a:p>
          <a:p>
            <a:pPr marL="0" indent="0">
              <a:buNone/>
            </a:pPr>
            <a:r>
              <a:rPr lang="pt-BR" dirty="0"/>
              <a:t>            print("Num3 is greater: i.e $num3");</a:t>
            </a:r>
          </a:p>
          <a:p>
            <a:pPr marL="0" indent="0">
              <a:buNone/>
            </a:pPr>
            <a:r>
              <a:rPr lang="pt-BR" dirty="0"/>
              <a:t>        }</a:t>
            </a:r>
          </a:p>
          <a:p>
            <a:pPr marL="0" indent="0">
              <a:buNone/>
            </a:pPr>
            <a:r>
              <a:rPr lang="pt-BR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226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4881563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800" b="1" dirty="0"/>
              <a:t>switch(expression) {</a:t>
            </a:r>
          </a:p>
          <a:p>
            <a:pPr marL="0" indent="0">
              <a:buNone/>
            </a:pPr>
            <a:r>
              <a:rPr lang="en-US" sz="1800" b="1" dirty="0"/>
              <a:t>    case value1:</a:t>
            </a:r>
          </a:p>
          <a:p>
            <a:pPr marL="0" indent="0">
              <a:buNone/>
            </a:pPr>
            <a:r>
              <a:rPr lang="en-US" sz="1800" b="1" dirty="0"/>
              <a:t>        // statements</a:t>
            </a:r>
          </a:p>
          <a:p>
            <a:pPr marL="0" indent="0">
              <a:buNone/>
            </a:pPr>
            <a:r>
              <a:rPr lang="en-US" sz="1800" b="1" dirty="0"/>
              <a:t>        break;</a:t>
            </a:r>
          </a:p>
          <a:p>
            <a:pPr marL="0" indent="0">
              <a:buNone/>
            </a:pPr>
            <a:r>
              <a:rPr lang="en-US" sz="1800" b="1" dirty="0"/>
              <a:t>    case value2:</a:t>
            </a:r>
          </a:p>
          <a:p>
            <a:pPr marL="0" indent="0">
              <a:buNone/>
            </a:pPr>
            <a:r>
              <a:rPr lang="en-US" sz="1800" b="1" dirty="0"/>
              <a:t>        // statements</a:t>
            </a:r>
          </a:p>
          <a:p>
            <a:pPr marL="0" indent="0">
              <a:buNone/>
            </a:pPr>
            <a:r>
              <a:rPr lang="en-US" sz="1800" b="1" dirty="0"/>
              <a:t>        break;</a:t>
            </a:r>
          </a:p>
          <a:p>
            <a:pPr marL="0" indent="0">
              <a:buNone/>
            </a:pPr>
            <a:r>
              <a:rPr lang="en-US" sz="1800" b="1" dirty="0"/>
              <a:t>    case value3:</a:t>
            </a:r>
          </a:p>
          <a:p>
            <a:pPr marL="0" indent="0">
              <a:buNone/>
            </a:pPr>
            <a:r>
              <a:rPr lang="en-US" sz="1800" b="1" dirty="0"/>
              <a:t>        // statements</a:t>
            </a:r>
          </a:p>
          <a:p>
            <a:pPr marL="0" indent="0">
              <a:buNone/>
            </a:pPr>
            <a:r>
              <a:rPr lang="en-US" sz="1800" b="1" dirty="0"/>
              <a:t>        break;</a:t>
            </a:r>
          </a:p>
          <a:p>
            <a:pPr marL="0" indent="0">
              <a:buNone/>
            </a:pPr>
            <a:r>
              <a:rPr lang="en-US" sz="1800" b="1" dirty="0"/>
              <a:t>    default:</a:t>
            </a:r>
          </a:p>
          <a:p>
            <a:pPr marL="0" indent="0">
              <a:buNone/>
            </a:pPr>
            <a:r>
              <a:rPr lang="en-US" sz="1800" b="1" dirty="0"/>
              <a:t>       // default statements</a:t>
            </a:r>
          </a:p>
          <a:p>
            <a:pPr marL="0" indent="0">
              <a:buNone/>
            </a:pPr>
            <a:r>
              <a:rPr lang="en-US" sz="1800" b="1" dirty="0"/>
              <a:t>}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// Switch statements</a:t>
            </a:r>
          </a:p>
          <a:p>
            <a:pPr marL="0" indent="0">
              <a:buNone/>
            </a:pPr>
            <a:r>
              <a:rPr lang="en-IN" sz="1800" b="1" dirty="0"/>
              <a:t>  String fruit = 'Apple';</a:t>
            </a:r>
          </a:p>
          <a:p>
            <a:pPr marL="0" indent="0">
              <a:buNone/>
            </a:pPr>
            <a:r>
              <a:rPr lang="en-IN" sz="1800" b="1" dirty="0"/>
              <a:t>  switch (fruit) {</a:t>
            </a:r>
          </a:p>
          <a:p>
            <a:pPr marL="0" indent="0">
              <a:buNone/>
            </a:pPr>
            <a:r>
              <a:rPr lang="en-IN" sz="1800" b="1" dirty="0"/>
              <a:t>    case 'Apple':</a:t>
            </a:r>
          </a:p>
          <a:p>
            <a:pPr marL="0" indent="0">
              <a:buNone/>
            </a:pPr>
            <a:r>
              <a:rPr lang="en-IN" sz="1800" b="1" dirty="0"/>
              <a:t>      print('Selected fruit is red');</a:t>
            </a:r>
          </a:p>
          <a:p>
            <a:pPr marL="0" indent="0">
              <a:buNone/>
            </a:pPr>
            <a:r>
              <a:rPr lang="en-IN" sz="1800" b="1" dirty="0"/>
              <a:t>      break;</a:t>
            </a:r>
          </a:p>
          <a:p>
            <a:pPr marL="0" indent="0">
              <a:buNone/>
            </a:pPr>
            <a:r>
              <a:rPr lang="en-IN" sz="1800" b="1" dirty="0"/>
              <a:t>    case 'Banana':</a:t>
            </a:r>
          </a:p>
          <a:p>
            <a:pPr marL="0" indent="0">
              <a:buNone/>
            </a:pPr>
            <a:r>
              <a:rPr lang="en-IN" sz="1800" b="1" dirty="0"/>
              <a:t>      print('Selected fruit is yellow');</a:t>
            </a:r>
          </a:p>
          <a:p>
            <a:pPr marL="0" indent="0">
              <a:buNone/>
            </a:pPr>
            <a:r>
              <a:rPr lang="en-IN" sz="1800" b="1" dirty="0"/>
              <a:t>      break;</a:t>
            </a:r>
          </a:p>
          <a:p>
            <a:pPr marL="0" indent="0">
              <a:buNone/>
            </a:pPr>
            <a:r>
              <a:rPr lang="en-IN" sz="1800" b="1" dirty="0"/>
              <a:t>    case 'Orange':</a:t>
            </a:r>
          </a:p>
          <a:p>
            <a:pPr marL="0" indent="0">
              <a:buNone/>
            </a:pPr>
            <a:r>
              <a:rPr lang="en-IN" sz="1800" b="1" dirty="0"/>
              <a:t>      print('Selected fruit is orange');</a:t>
            </a:r>
          </a:p>
          <a:p>
            <a:pPr marL="0" indent="0">
              <a:buNone/>
            </a:pPr>
            <a:r>
              <a:rPr lang="en-IN" sz="1800" b="1" dirty="0"/>
              <a:t>      break;</a:t>
            </a:r>
          </a:p>
          <a:p>
            <a:pPr marL="0" indent="0">
              <a:buNone/>
            </a:pPr>
            <a:r>
              <a:rPr lang="en-IN" sz="1800" b="1" dirty="0"/>
              <a:t>    default: print('Unknown fruit </a:t>
            </a:r>
            <a:r>
              <a:rPr lang="en-IN" sz="1800" b="1" dirty="0" err="1"/>
              <a:t>color</a:t>
            </a:r>
            <a:r>
              <a:rPr lang="en-IN" sz="1800" b="1" dirty="0"/>
              <a:t>');</a:t>
            </a:r>
          </a:p>
          <a:p>
            <a:pPr marL="0" indent="0">
              <a:buNone/>
            </a:pPr>
            <a:r>
              <a:rPr lang="en-IN" sz="1800" b="1" dirty="0"/>
              <a:t>  }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525959"/>
            <a:ext cx="28090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Switch 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352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6600"/>
            <a:ext cx="10515600" cy="5440363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dayOfWeek</a:t>
            </a:r>
            <a:r>
              <a:rPr lang="en-US" dirty="0"/>
              <a:t> = 5;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dayOfWeek</a:t>
            </a:r>
            <a:r>
              <a:rPr lang="en-US" dirty="0"/>
              <a:t> == 1) {</a:t>
            </a:r>
          </a:p>
          <a:p>
            <a:pPr marL="0" indent="0">
              <a:buNone/>
            </a:pPr>
            <a:r>
              <a:rPr lang="en-US" dirty="0"/>
              <a:t>        print("Day is Sunday.");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2) {</a:t>
            </a:r>
          </a:p>
          <a:p>
            <a:pPr marL="0" indent="0">
              <a:buNone/>
            </a:pPr>
            <a:r>
              <a:rPr lang="en-US" dirty="0"/>
              <a:t>       print("Day is Monday.");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3) {</a:t>
            </a:r>
          </a:p>
          <a:p>
            <a:pPr marL="0" indent="0">
              <a:buNone/>
            </a:pPr>
            <a:r>
              <a:rPr lang="en-US" dirty="0"/>
              <a:t>      print("Day is Tuesday.");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4) {</a:t>
            </a:r>
          </a:p>
          <a:p>
            <a:pPr marL="0" indent="0">
              <a:buNone/>
            </a:pPr>
            <a:r>
              <a:rPr lang="en-US" dirty="0"/>
              <a:t>        print("Day is Wednesday.");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5) {</a:t>
            </a:r>
          </a:p>
          <a:p>
            <a:pPr marL="0" indent="0">
              <a:buNone/>
            </a:pPr>
            <a:r>
              <a:rPr lang="en-US" dirty="0"/>
              <a:t>        print("Day is Thursday.");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6) {</a:t>
            </a:r>
          </a:p>
          <a:p>
            <a:pPr marL="0" indent="0">
              <a:buNone/>
            </a:pPr>
            <a:r>
              <a:rPr lang="en-US" dirty="0"/>
              <a:t>        print("Day is Friday.");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dayOfWeek</a:t>
            </a:r>
            <a:r>
              <a:rPr lang="en-US" dirty="0"/>
              <a:t> == 7) {</a:t>
            </a:r>
          </a:p>
          <a:p>
            <a:pPr marL="0" indent="0">
              <a:buNone/>
            </a:pPr>
            <a:r>
              <a:rPr lang="en-US" dirty="0"/>
              <a:t>        print("Day is Saturday.");</a:t>
            </a:r>
          </a:p>
          <a:p>
            <a:pPr marL="0" indent="0">
              <a:buNone/>
            </a:pPr>
            <a:r>
              <a:rPr lang="en-US" dirty="0"/>
              <a:t>}else{</a:t>
            </a:r>
          </a:p>
          <a:p>
            <a:pPr marL="0" indent="0">
              <a:buNone/>
            </a:pPr>
            <a:r>
              <a:rPr lang="en-US" dirty="0"/>
              <a:t>        print("Invalid Weekday.");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707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main()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dayOfWeek</a:t>
            </a:r>
            <a:r>
              <a:rPr lang="en-US" dirty="0"/>
              <a:t> = 5;</a:t>
            </a:r>
          </a:p>
          <a:p>
            <a:pPr marL="0" indent="0">
              <a:buNone/>
            </a:pPr>
            <a:r>
              <a:rPr lang="en-US" dirty="0"/>
              <a:t>  switch (</a:t>
            </a:r>
            <a:r>
              <a:rPr lang="en-US" dirty="0" err="1"/>
              <a:t>dayOfWeek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case 1:</a:t>
            </a:r>
          </a:p>
          <a:p>
            <a:pPr marL="0" indent="0">
              <a:buNone/>
            </a:pPr>
            <a:r>
              <a:rPr lang="en-US" dirty="0"/>
              <a:t>        print("Day is Sunday.");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case 2:</a:t>
            </a:r>
          </a:p>
          <a:p>
            <a:pPr marL="0" indent="0">
              <a:buNone/>
            </a:pPr>
            <a:r>
              <a:rPr lang="en-US" dirty="0"/>
              <a:t>        print("Day is Monday.");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case 3:</a:t>
            </a:r>
          </a:p>
          <a:p>
            <a:pPr marL="0" indent="0">
              <a:buNone/>
            </a:pPr>
            <a:r>
              <a:rPr lang="en-US" dirty="0"/>
              <a:t>      print("Day is Tuesday.");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case 4:</a:t>
            </a:r>
          </a:p>
          <a:p>
            <a:pPr marL="0" indent="0">
              <a:buNone/>
            </a:pPr>
            <a:r>
              <a:rPr lang="en-US" dirty="0"/>
              <a:t>        print("Day is Wednesday.");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case 5:</a:t>
            </a:r>
          </a:p>
          <a:p>
            <a:pPr marL="0" indent="0">
              <a:buNone/>
            </a:pPr>
            <a:r>
              <a:rPr lang="en-US" dirty="0"/>
              <a:t>        print("Day is Thursday.");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case 6:</a:t>
            </a:r>
          </a:p>
          <a:p>
            <a:pPr marL="0" indent="0">
              <a:buNone/>
            </a:pPr>
            <a:r>
              <a:rPr lang="en-US" dirty="0"/>
              <a:t>        print("Day is Friday.");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case 7:</a:t>
            </a:r>
          </a:p>
          <a:p>
            <a:pPr marL="0" indent="0">
              <a:buNone/>
            </a:pPr>
            <a:r>
              <a:rPr lang="en-US" dirty="0"/>
              <a:t>        print("Day is Saturday.");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  default:</a:t>
            </a:r>
          </a:p>
          <a:p>
            <a:pPr marL="0" indent="0">
              <a:buNone/>
            </a:pPr>
            <a:r>
              <a:rPr lang="en-US" dirty="0"/>
              <a:t>        print("Invalid Weekday.");</a:t>
            </a:r>
          </a:p>
          <a:p>
            <a:pPr marL="0" indent="0">
              <a:buNone/>
            </a:pPr>
            <a:r>
              <a:rPr lang="en-US" dirty="0"/>
              <a:t>      break;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57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5376863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void main() {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const</a:t>
            </a:r>
            <a:r>
              <a:rPr lang="en-IN" dirty="0"/>
              <a:t> weather = "cloudy";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switch (weather) {</a:t>
            </a:r>
          </a:p>
          <a:p>
            <a:pPr marL="0" indent="0">
              <a:buNone/>
            </a:pPr>
            <a:r>
              <a:rPr lang="en-IN" dirty="0"/>
              <a:t>    case "sunny":</a:t>
            </a:r>
          </a:p>
          <a:p>
            <a:pPr marL="0" indent="0">
              <a:buNone/>
            </a:pPr>
            <a:r>
              <a:rPr lang="en-IN" dirty="0"/>
              <a:t>        print("Its a sunny day. Put sunscreen.");</a:t>
            </a:r>
          </a:p>
          <a:p>
            <a:pPr marL="0" indent="0">
              <a:buNone/>
            </a:pPr>
            <a:r>
              <a:rPr lang="en-IN" dirty="0"/>
              <a:t>        break;</a:t>
            </a:r>
          </a:p>
          <a:p>
            <a:pPr marL="0" indent="0">
              <a:buNone/>
            </a:pPr>
            <a:r>
              <a:rPr lang="en-IN" dirty="0"/>
              <a:t>    case "snowy":</a:t>
            </a:r>
          </a:p>
          <a:p>
            <a:pPr marL="0" indent="0">
              <a:buNone/>
            </a:pPr>
            <a:r>
              <a:rPr lang="en-IN" dirty="0"/>
              <a:t>        print("Get your skis.");</a:t>
            </a:r>
          </a:p>
          <a:p>
            <a:pPr marL="0" indent="0">
              <a:buNone/>
            </a:pPr>
            <a:r>
              <a:rPr lang="en-IN" dirty="0"/>
              <a:t>      break;</a:t>
            </a:r>
          </a:p>
          <a:p>
            <a:pPr marL="0" indent="0">
              <a:buNone/>
            </a:pPr>
            <a:r>
              <a:rPr lang="en-IN" dirty="0"/>
              <a:t>    case "cloudy":</a:t>
            </a:r>
          </a:p>
          <a:p>
            <a:pPr marL="0" indent="0">
              <a:buNone/>
            </a:pPr>
            <a:r>
              <a:rPr lang="en-IN" dirty="0"/>
              <a:t>    case "rainy": </a:t>
            </a:r>
          </a:p>
          <a:p>
            <a:pPr marL="0" indent="0">
              <a:buNone/>
            </a:pPr>
            <a:r>
              <a:rPr lang="en-IN" dirty="0"/>
              <a:t>      print("Please bring umbrella.");</a:t>
            </a:r>
          </a:p>
          <a:p>
            <a:pPr marL="0" indent="0">
              <a:buNone/>
            </a:pPr>
            <a:r>
              <a:rPr lang="en-IN" dirty="0"/>
              <a:t>      break;</a:t>
            </a:r>
          </a:p>
          <a:p>
            <a:pPr marL="0" indent="0">
              <a:buNone/>
            </a:pPr>
            <a:r>
              <a:rPr lang="en-IN" dirty="0"/>
              <a:t>    default:</a:t>
            </a:r>
          </a:p>
          <a:p>
            <a:pPr marL="0" indent="0">
              <a:buNone/>
            </a:pPr>
            <a:r>
              <a:rPr lang="en-IN" dirty="0"/>
              <a:t>        print("Sorry I am not familiar with such weather.");</a:t>
            </a:r>
          </a:p>
          <a:p>
            <a:pPr marL="0" indent="0">
              <a:buNone/>
            </a:pPr>
            <a:r>
              <a:rPr lang="en-IN" dirty="0"/>
              <a:t>      break;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0226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  <a:p>
            <a:r>
              <a:rPr lang="en-US" dirty="0"/>
              <a:t>While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422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6686"/>
            <a:ext cx="10515600" cy="5480277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dirty="0"/>
              <a:t>// For loops</a:t>
            </a:r>
          </a:p>
          <a:p>
            <a:pPr marL="0" indent="0">
              <a:buNone/>
            </a:pPr>
            <a:r>
              <a:rPr lang="en-IN" dirty="0"/>
              <a:t>  print('For loop example:');</a:t>
            </a:r>
          </a:p>
          <a:p>
            <a:pPr marL="0" indent="0">
              <a:buNone/>
            </a:pPr>
            <a:r>
              <a:rPr lang="en-IN" dirty="0"/>
              <a:t>  for (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5;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print('  Index: $</a:t>
            </a:r>
            <a:r>
              <a:rPr lang="en-IN" dirty="0" err="1"/>
              <a:t>i</a:t>
            </a:r>
            <a:r>
              <a:rPr lang="en-IN" dirty="0"/>
              <a:t>');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  // For-in loops (for collections)</a:t>
            </a:r>
          </a:p>
          <a:p>
            <a:pPr marL="0" indent="0">
              <a:buNone/>
            </a:pPr>
            <a:r>
              <a:rPr lang="en-IN" dirty="0"/>
              <a:t>  print('For-in loop example:');</a:t>
            </a:r>
          </a:p>
          <a:p>
            <a:pPr marL="0" indent="0">
              <a:buNone/>
            </a:pPr>
            <a:r>
              <a:rPr lang="en-IN" dirty="0"/>
              <a:t>  for (String fruit in fruits) {</a:t>
            </a:r>
          </a:p>
          <a:p>
            <a:pPr marL="0" indent="0">
              <a:buNone/>
            </a:pPr>
            <a:r>
              <a:rPr lang="en-IN" dirty="0"/>
              <a:t>    print('  Fruit: $fruit');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// While loops</a:t>
            </a:r>
          </a:p>
          <a:p>
            <a:pPr marL="0" indent="0">
              <a:buNone/>
            </a:pPr>
            <a:r>
              <a:rPr lang="en-IN" dirty="0"/>
              <a:t>  print('While loop example:');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int</a:t>
            </a:r>
            <a:r>
              <a:rPr lang="en-IN" dirty="0"/>
              <a:t> counter = 0;</a:t>
            </a:r>
          </a:p>
          <a:p>
            <a:pPr marL="0" indent="0">
              <a:buNone/>
            </a:pPr>
            <a:r>
              <a:rPr lang="en-IN" dirty="0"/>
              <a:t>  while (counter &lt; 3) {</a:t>
            </a:r>
          </a:p>
          <a:p>
            <a:pPr marL="0" indent="0">
              <a:buNone/>
            </a:pPr>
            <a:r>
              <a:rPr lang="en-IN" dirty="0"/>
              <a:t>    print('  Counter: $counter');</a:t>
            </a:r>
          </a:p>
          <a:p>
            <a:pPr marL="0" indent="0">
              <a:buNone/>
            </a:pPr>
            <a:r>
              <a:rPr lang="en-IN" dirty="0"/>
              <a:t>    counter++;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680864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4657"/>
            <a:ext cx="10515600" cy="538230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/ code to be executed</a:t>
            </a:r>
          </a:p>
          <a:p>
            <a:pPr marL="0" indent="0">
              <a:buNone/>
            </a:pPr>
            <a:r>
              <a:rPr lang="en-US" dirty="0"/>
              <a:t>} while (condition);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Example</a:t>
            </a:r>
            <a:r>
              <a:rPr lang="en-US" dirty="0"/>
              <a:t>: Printing numbers from 1 to 5. </a:t>
            </a:r>
          </a:p>
          <a:p>
            <a:pPr marL="0" indent="0">
              <a:buNone/>
            </a:pPr>
            <a:r>
              <a:rPr lang="en-US" dirty="0"/>
              <a:t>void main() 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 </a:t>
            </a:r>
          </a:p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i</a:t>
            </a:r>
            <a:r>
              <a:rPr lang="en-US" dirty="0"/>
              <a:t>); </a:t>
            </a:r>
            <a:r>
              <a:rPr lang="en-US" dirty="0" err="1"/>
              <a:t>i</a:t>
            </a:r>
            <a:r>
              <a:rPr lang="en-US" dirty="0"/>
              <a:t> ++;</a:t>
            </a:r>
          </a:p>
          <a:p>
            <a:pPr marL="0" indent="0">
              <a:buNone/>
            </a:pPr>
            <a:r>
              <a:rPr lang="en-US" dirty="0"/>
              <a:t>} while (</a:t>
            </a:r>
            <a:r>
              <a:rPr lang="en-US" dirty="0" err="1"/>
              <a:t>i</a:t>
            </a:r>
            <a:r>
              <a:rPr lang="en-US" dirty="0"/>
              <a:t> = 5);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121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Collections</a:t>
            </a:r>
            <a:r>
              <a:rPr lang="en-US" dirty="0"/>
              <a:t> : data structures that store multiple values. </a:t>
            </a:r>
          </a:p>
          <a:p>
            <a:pPr algn="just"/>
            <a:r>
              <a:rPr lang="en-US" dirty="0"/>
              <a:t>Used to hold a group of objects and provide various methods to manage these objects efficiently.</a:t>
            </a:r>
          </a:p>
          <a:p>
            <a:pPr marL="0" indent="0" algn="just">
              <a:buNone/>
            </a:pPr>
            <a:r>
              <a:rPr lang="en-IN" dirty="0"/>
              <a:t>Collection Types:</a:t>
            </a:r>
          </a:p>
          <a:p>
            <a:pPr algn="just"/>
            <a:r>
              <a:rPr lang="en-IN" dirty="0"/>
              <a:t>List</a:t>
            </a:r>
          </a:p>
          <a:p>
            <a:pPr algn="just"/>
            <a:r>
              <a:rPr lang="en-US" dirty="0"/>
              <a:t>Sets</a:t>
            </a:r>
          </a:p>
          <a:p>
            <a:pPr algn="just"/>
            <a:r>
              <a:rPr lang="en-IN" dirty="0"/>
              <a:t>Map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687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b="1" dirty="0"/>
              <a:t>Lists in Dart</a:t>
            </a:r>
          </a:p>
          <a:p>
            <a:pPr marL="0" indent="0" algn="just">
              <a:buNone/>
            </a:pPr>
            <a:r>
              <a:rPr lang="en-US" sz="3200" b="1" dirty="0"/>
              <a:t>1.Define List:</a:t>
            </a:r>
          </a:p>
          <a:p>
            <a:pPr algn="just"/>
            <a:r>
              <a:rPr lang="en-US" sz="3200" dirty="0"/>
              <a:t>A List in Dart is an ordered collection of items, where each item can be accessed by its index. </a:t>
            </a:r>
          </a:p>
          <a:p>
            <a:pPr algn="just"/>
            <a:r>
              <a:rPr lang="en-US" sz="3200" dirty="0"/>
              <a:t>Lists are similar to arrays . Using </a:t>
            </a:r>
            <a:r>
              <a:rPr lang="en-US" sz="3200"/>
              <a:t>square brackets.</a:t>
            </a:r>
            <a:endParaRPr lang="en-US" sz="3200" dirty="0"/>
          </a:p>
          <a:p>
            <a:pPr marL="0" indent="0" algn="just">
              <a:buNone/>
            </a:pPr>
            <a:r>
              <a:rPr lang="en-US" sz="3200" b="1" dirty="0"/>
              <a:t>2.How to Create a List:</a:t>
            </a:r>
          </a:p>
          <a:p>
            <a:pPr algn="just"/>
            <a:r>
              <a:rPr lang="en-US" sz="3200" dirty="0"/>
              <a:t>Using Square Brackets:</a:t>
            </a:r>
          </a:p>
          <a:p>
            <a:pPr marL="0" indent="0" algn="just">
              <a:buNone/>
            </a:pPr>
            <a:r>
              <a:rPr lang="en-US" sz="3200" dirty="0"/>
              <a:t>List&lt;</a:t>
            </a:r>
            <a:r>
              <a:rPr lang="en-US" sz="3200" dirty="0" err="1"/>
              <a:t>int</a:t>
            </a:r>
            <a:r>
              <a:rPr lang="en-US" sz="3200" dirty="0"/>
              <a:t>&gt; numbers = [1, 2, 3, 4, 5];    </a:t>
            </a:r>
          </a:p>
          <a:p>
            <a:pPr marL="0" indent="0" algn="just">
              <a:buNone/>
            </a:pPr>
            <a:r>
              <a:rPr lang="en-US" sz="3200" dirty="0"/>
              <a:t>//This creates a list of integers with elements 1, 2, 3, 4, and 5.</a:t>
            </a:r>
          </a:p>
        </p:txBody>
      </p:sp>
    </p:spTree>
    <p:extLst>
      <p:ext uri="{BB962C8B-B14F-4D97-AF65-F5344CB8AC3E}">
        <p14:creationId xmlns:p14="http://schemas.microsoft.com/office/powerpoint/2010/main" val="3364121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8686"/>
            <a:ext cx="10515600" cy="47182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/>
              <a:t>Using List Constructor: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dirty="0"/>
              <a:t>List&lt;String&gt; fruits = List&lt;String&gt;();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dirty="0" err="1"/>
              <a:t>fruits.addAll</a:t>
            </a:r>
            <a:r>
              <a:rPr lang="en-US" sz="3600" dirty="0"/>
              <a:t>(['Apple', 'Banana', 'Mango']);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dirty="0"/>
              <a:t>/* This creates an empty list of strings and then adds 'Apple', 'Banana', and 'Mango' to it.  */</a:t>
            </a:r>
          </a:p>
          <a:p>
            <a:pPr>
              <a:lnSpc>
                <a:spcPct val="150000"/>
              </a:lnSpc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81989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6686"/>
            <a:ext cx="10515600" cy="548027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500" b="1" dirty="0"/>
              <a:t>3.Accessing List Elements:</a:t>
            </a:r>
          </a:p>
          <a:p>
            <a:pPr marL="0" indent="0" algn="just">
              <a:buNone/>
            </a:pPr>
            <a:r>
              <a:rPr lang="en-US" sz="4000" dirty="0"/>
              <a:t>print(fruits[0]); // Output: Apple     </a:t>
            </a:r>
          </a:p>
          <a:p>
            <a:pPr marL="0" indent="0" algn="just">
              <a:buNone/>
            </a:pPr>
            <a:r>
              <a:rPr lang="en-US" sz="4000" dirty="0"/>
              <a:t>//Accesses the first element of the list `fruits`.</a:t>
            </a:r>
          </a:p>
          <a:p>
            <a:pPr marL="0" indent="0" algn="just">
              <a:buNone/>
            </a:pPr>
            <a:r>
              <a:rPr lang="en-US" sz="3500" b="1" dirty="0"/>
              <a:t>4.Iterating Over List Elements:</a:t>
            </a:r>
          </a:p>
          <a:p>
            <a:pPr marL="0" indent="0" algn="just">
              <a:buNone/>
            </a:pPr>
            <a:r>
              <a:rPr lang="en-US" sz="4000" dirty="0"/>
              <a:t>for (</a:t>
            </a:r>
            <a:r>
              <a:rPr lang="en-US" sz="4000" dirty="0" err="1"/>
              <a:t>var</a:t>
            </a:r>
            <a:r>
              <a:rPr lang="en-US" sz="4000" dirty="0"/>
              <a:t> fruit in fruits) { </a:t>
            </a:r>
          </a:p>
          <a:p>
            <a:pPr marL="0" indent="0" algn="just">
              <a:buNone/>
            </a:pPr>
            <a:r>
              <a:rPr lang="en-US" sz="4000" dirty="0"/>
              <a:t>print(fruit);</a:t>
            </a:r>
          </a:p>
          <a:p>
            <a:pPr marL="0" indent="0" algn="just">
              <a:buNone/>
            </a:pPr>
            <a:r>
              <a:rPr lang="en-US" sz="4000" dirty="0"/>
              <a:t>}    </a:t>
            </a:r>
          </a:p>
          <a:p>
            <a:pPr marL="0" indent="0" algn="just">
              <a:buNone/>
            </a:pPr>
            <a:r>
              <a:rPr lang="en-US" sz="4000" dirty="0"/>
              <a:t>/*Iterates over each element in the list and prints it. */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4435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2372"/>
            <a:ext cx="10515600" cy="51645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b="1" dirty="0"/>
              <a:t>5.Appending Element to List:</a:t>
            </a:r>
          </a:p>
          <a:p>
            <a:pPr marL="0" indent="0" algn="just">
              <a:buNone/>
            </a:pPr>
            <a:r>
              <a:rPr lang="en-US" sz="4000" dirty="0" err="1"/>
              <a:t>fruits.add</a:t>
            </a:r>
            <a:r>
              <a:rPr lang="en-US" sz="4000" dirty="0"/>
              <a:t>('Orange');</a:t>
            </a:r>
          </a:p>
          <a:p>
            <a:pPr marL="0" indent="0" algn="just">
              <a:buNone/>
            </a:pPr>
            <a:r>
              <a:rPr lang="en-US" sz="4000" dirty="0"/>
              <a:t>Adds 'Orange' to the end of the list `fruits`.</a:t>
            </a:r>
          </a:p>
          <a:p>
            <a:pPr marL="0" indent="0" algn="just">
              <a:buNone/>
            </a:pPr>
            <a:r>
              <a:rPr lang="en-US" sz="4000" b="1" dirty="0"/>
              <a:t>6.Modifying List Elements:</a:t>
            </a:r>
          </a:p>
          <a:p>
            <a:pPr marL="0" indent="0" algn="just">
              <a:buNone/>
            </a:pPr>
            <a:r>
              <a:rPr lang="en-US" sz="4000" dirty="0"/>
              <a:t>fruits[0] = 'Strawberry';</a:t>
            </a:r>
          </a:p>
          <a:p>
            <a:pPr marL="0" indent="0" algn="just">
              <a:buNone/>
            </a:pPr>
            <a:r>
              <a:rPr lang="en-US" sz="4000" dirty="0"/>
              <a:t>//Changes the first element of the list to 'Strawberry'.</a:t>
            </a:r>
          </a:p>
          <a:p>
            <a:pPr marL="0" indent="0" algn="just">
              <a:buNone/>
            </a:pPr>
            <a:endParaRPr lang="en-IN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937660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b="1" dirty="0"/>
              <a:t>7.Removing List Elements:</a:t>
            </a:r>
          </a:p>
          <a:p>
            <a:pPr marL="0" indent="0" algn="just">
              <a:buNone/>
            </a:pPr>
            <a:r>
              <a:rPr lang="en-US" sz="4000" dirty="0"/>
              <a:t>//Removes 'Banana' from the list `fruits`.</a:t>
            </a:r>
          </a:p>
          <a:p>
            <a:pPr marL="0" indent="0" algn="just">
              <a:buNone/>
            </a:pPr>
            <a:r>
              <a:rPr lang="en-US" sz="4000" dirty="0" err="1"/>
              <a:t>fruits.remove</a:t>
            </a:r>
            <a:r>
              <a:rPr lang="en-US" sz="4000" dirty="0"/>
              <a:t>('Banana');   </a:t>
            </a:r>
          </a:p>
        </p:txBody>
      </p:sp>
    </p:spTree>
    <p:extLst>
      <p:ext uri="{BB962C8B-B14F-4D97-AF65-F5344CB8AC3E}">
        <p14:creationId xmlns:p14="http://schemas.microsoft.com/office/powerpoint/2010/main" val="1002158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6314"/>
            <a:ext cx="10515600" cy="57306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 </a:t>
            </a:r>
            <a:r>
              <a:rPr lang="en-IN" sz="3000" dirty="0"/>
              <a:t>print('\n--- COLLECTIONS ---');</a:t>
            </a:r>
          </a:p>
          <a:p>
            <a:pPr marL="0" indent="0">
              <a:buNone/>
            </a:pPr>
            <a:r>
              <a:rPr lang="en-IN" sz="3000" dirty="0"/>
              <a:t>  // Lists (Arrays)</a:t>
            </a:r>
          </a:p>
          <a:p>
            <a:pPr marL="0" indent="0">
              <a:buNone/>
            </a:pPr>
            <a:r>
              <a:rPr lang="en-IN" sz="3000" dirty="0"/>
              <a:t>  List&lt;String&gt; fruits = ['Apple', 'Banana', 'Orange'];</a:t>
            </a:r>
          </a:p>
          <a:p>
            <a:pPr marL="0" indent="0">
              <a:buNone/>
            </a:pPr>
            <a:r>
              <a:rPr lang="en-IN" sz="3000" dirty="0"/>
              <a:t>  List&lt;</a:t>
            </a:r>
            <a:r>
              <a:rPr lang="en-IN" sz="3000" dirty="0" err="1"/>
              <a:t>int</a:t>
            </a:r>
            <a:r>
              <a:rPr lang="en-IN" sz="3000" dirty="0"/>
              <a:t>&gt; numbers = [1, 2, 3, 4, 5];</a:t>
            </a:r>
          </a:p>
          <a:p>
            <a:pPr marL="0" indent="0">
              <a:buNone/>
            </a:pPr>
            <a:r>
              <a:rPr lang="en-IN" sz="3000" dirty="0"/>
              <a:t>  // Accessing list elements</a:t>
            </a:r>
          </a:p>
          <a:p>
            <a:pPr marL="0" indent="0">
              <a:buNone/>
            </a:pPr>
            <a:r>
              <a:rPr lang="en-IN" sz="3000" dirty="0"/>
              <a:t>  print('First fruit: ${fruits[0]}');</a:t>
            </a:r>
          </a:p>
          <a:p>
            <a:pPr marL="0" indent="0">
              <a:buNone/>
            </a:pPr>
            <a:r>
              <a:rPr lang="en-IN" sz="3000" dirty="0"/>
              <a:t>  print('Last number: ${numbers[</a:t>
            </a:r>
            <a:r>
              <a:rPr lang="en-IN" sz="3000" dirty="0" err="1"/>
              <a:t>numbers.length</a:t>
            </a:r>
            <a:r>
              <a:rPr lang="en-IN" sz="3000" dirty="0"/>
              <a:t> - 1]}');</a:t>
            </a:r>
          </a:p>
          <a:p>
            <a:pPr marL="0" indent="0">
              <a:buNone/>
            </a:pPr>
            <a:r>
              <a:rPr lang="en-IN" sz="3000" dirty="0"/>
              <a:t>  // List operations</a:t>
            </a:r>
          </a:p>
          <a:p>
            <a:pPr marL="0" indent="0">
              <a:buNone/>
            </a:pPr>
            <a:r>
              <a:rPr lang="en-IN" sz="3000" dirty="0"/>
              <a:t>  </a:t>
            </a:r>
            <a:r>
              <a:rPr lang="en-IN" sz="3000" dirty="0" err="1"/>
              <a:t>fruits.add</a:t>
            </a:r>
            <a:r>
              <a:rPr lang="en-IN" sz="3000" dirty="0"/>
              <a:t>('Mango');</a:t>
            </a:r>
          </a:p>
          <a:p>
            <a:pPr marL="0" indent="0">
              <a:buNone/>
            </a:pPr>
            <a:r>
              <a:rPr lang="en-IN" sz="3000" dirty="0"/>
              <a:t>  </a:t>
            </a:r>
            <a:r>
              <a:rPr lang="en-IN" sz="3000" dirty="0" err="1"/>
              <a:t>numbers.remove</a:t>
            </a:r>
            <a:r>
              <a:rPr lang="en-IN" sz="3000" dirty="0"/>
              <a:t>(3);</a:t>
            </a:r>
          </a:p>
          <a:p>
            <a:pPr marL="0" indent="0">
              <a:buNone/>
            </a:pPr>
            <a:r>
              <a:rPr lang="en-IN" sz="3000" dirty="0"/>
              <a:t>  print('Fruits after modification: $fruits');</a:t>
            </a:r>
          </a:p>
          <a:p>
            <a:pPr marL="0" indent="0">
              <a:buNone/>
            </a:pPr>
            <a:r>
              <a:rPr lang="en-IN" sz="3000" dirty="0"/>
              <a:t>  print('Numbers after modification: $numbers');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325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2629"/>
            <a:ext cx="10515600" cy="52843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/>
              <a:t>Maps in Dart</a:t>
            </a:r>
          </a:p>
          <a:p>
            <a:pPr marL="0" indent="0">
              <a:buNone/>
            </a:pPr>
            <a:r>
              <a:rPr lang="en-US" dirty="0"/>
              <a:t>1.Define Map:</a:t>
            </a:r>
          </a:p>
          <a:p>
            <a:r>
              <a:rPr lang="en-US" dirty="0"/>
              <a:t>A Map is an unordered collection of key-value pairs, where each key is unique and is used to access its corresponding value.</a:t>
            </a:r>
          </a:p>
          <a:p>
            <a:pPr marL="0" indent="0">
              <a:buNone/>
            </a:pPr>
            <a:r>
              <a:rPr lang="en-US" dirty="0"/>
              <a:t>2.Creation of Map:</a:t>
            </a:r>
          </a:p>
          <a:p>
            <a:r>
              <a:rPr lang="en-US" dirty="0"/>
              <a:t>Using Curly Braces:</a:t>
            </a:r>
          </a:p>
          <a:p>
            <a:pPr marL="0" indent="0">
              <a:buNone/>
            </a:pPr>
            <a:r>
              <a:rPr lang="en-US" dirty="0"/>
              <a:t>Map&lt;String, </a:t>
            </a:r>
            <a:r>
              <a:rPr lang="en-US" dirty="0" err="1"/>
              <a:t>int</a:t>
            </a:r>
            <a:r>
              <a:rPr lang="en-US" dirty="0"/>
              <a:t>&gt; scores = {'Alice': 50, 'Bob': 75};</a:t>
            </a:r>
          </a:p>
          <a:p>
            <a:pPr marL="0" indent="0">
              <a:buNone/>
            </a:pPr>
            <a:r>
              <a:rPr lang="en-US" dirty="0"/>
              <a:t>//This creates a map with keys 'Alice' and 'Bob', and their corresponding values 50 and 75.</a:t>
            </a:r>
          </a:p>
          <a:p>
            <a:pPr marL="0" indent="0">
              <a:buNone/>
            </a:pPr>
            <a:r>
              <a:rPr lang="en-US" b="1" dirty="0"/>
              <a:t>Using `Map()` Constructor:</a:t>
            </a:r>
          </a:p>
          <a:p>
            <a:pPr marL="0" indent="0">
              <a:buNone/>
            </a:pPr>
            <a:r>
              <a:rPr lang="en-US" dirty="0"/>
              <a:t>Map&lt;String, String&gt; capitals = Map(); </a:t>
            </a:r>
          </a:p>
          <a:p>
            <a:pPr marL="0" indent="0">
              <a:buNone/>
            </a:pPr>
            <a:r>
              <a:rPr lang="en-US" dirty="0"/>
              <a:t>capitals['USA'] = 'Washington D.C.’; </a:t>
            </a:r>
          </a:p>
          <a:p>
            <a:pPr marL="0" indent="0">
              <a:buNone/>
            </a:pPr>
            <a:r>
              <a:rPr lang="en-US" dirty="0"/>
              <a:t>capitals['Canada'] = 'Ottawa';</a:t>
            </a:r>
          </a:p>
          <a:p>
            <a:pPr marL="0" indent="0">
              <a:buNone/>
            </a:pPr>
            <a:r>
              <a:rPr lang="en-US" dirty="0"/>
              <a:t>//This creates an empty map and then adds key-value pairs for 'USA' and 'Canada'.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280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2D-2B39-FE45-5C48-7B4ADD17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F36A4-7B7D-0F85-E485-3E794E88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328"/>
            <a:ext cx="10515600" cy="4795635"/>
          </a:xfrm>
        </p:spPr>
        <p:txBody>
          <a:bodyPr>
            <a:normAutofit/>
          </a:bodyPr>
          <a:lstStyle/>
          <a:p>
            <a:r>
              <a:rPr lang="en-US" sz="3200" dirty="0"/>
              <a:t>unordered collection of unique elements. Notation: { }</a:t>
            </a:r>
          </a:p>
          <a:p>
            <a:pPr marL="0" indent="0">
              <a:buNone/>
            </a:pPr>
            <a:r>
              <a:rPr lang="en-US" sz="3200" dirty="0"/>
              <a:t>void main() {</a:t>
            </a:r>
          </a:p>
          <a:p>
            <a:pPr marL="0" indent="0">
              <a:buNone/>
            </a:pPr>
            <a:r>
              <a:rPr lang="en-US" sz="3200" dirty="0"/>
              <a:t>  Set&lt;String&gt; names = {'Zhang San', 'Li Si', 'Zhang San'};</a:t>
            </a:r>
          </a:p>
          <a:p>
            <a:pPr marL="0" indent="0">
              <a:buNone/>
            </a:pPr>
            <a:r>
              <a:rPr lang="en-US" sz="3200" dirty="0"/>
              <a:t>  print(names);  // Output: {Zhang San, Li Si}</a:t>
            </a:r>
          </a:p>
          <a:p>
            <a:pPr marL="0" indent="0">
              <a:buNone/>
            </a:pPr>
            <a:r>
              <a:rPr lang="en-US" sz="3200" dirty="0"/>
              <a:t>  // Adding a duplicate element</a:t>
            </a:r>
          </a:p>
          <a:p>
            <a:pPr marL="0" indent="0">
              <a:buNone/>
            </a:pPr>
            <a:r>
              <a:rPr lang="en-US" sz="3200" dirty="0"/>
              <a:t>  </a:t>
            </a:r>
            <a:r>
              <a:rPr lang="en-US" sz="3200" dirty="0" err="1"/>
              <a:t>names.add</a:t>
            </a:r>
            <a:r>
              <a:rPr lang="en-US" sz="3200" dirty="0"/>
              <a:t>('Li Si');</a:t>
            </a:r>
          </a:p>
          <a:p>
            <a:pPr marL="0" indent="0">
              <a:buNone/>
            </a:pPr>
            <a:r>
              <a:rPr lang="en-US" sz="3200" dirty="0"/>
              <a:t>  print(names);  // Output: {Zhang San, Li Si} (no change)</a:t>
            </a:r>
          </a:p>
          <a:p>
            <a:pPr marL="0" indent="0">
              <a:buNone/>
            </a:pPr>
            <a:r>
              <a:rPr lang="en-US" sz="32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6565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E45F3-2F0B-1CB3-B9B8-EC7EBC109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038"/>
            <a:ext cx="10515600" cy="52139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main() {</a:t>
            </a:r>
          </a:p>
          <a:p>
            <a:pPr marL="0" indent="0">
              <a:buNone/>
            </a:pPr>
            <a:r>
              <a:rPr lang="en-US" dirty="0"/>
              <a:t>  Set&lt;String&gt; countries = {'China', 'USA'};</a:t>
            </a:r>
          </a:p>
          <a:p>
            <a:pPr marL="0" indent="0">
              <a:buNone/>
            </a:pPr>
            <a:r>
              <a:rPr lang="en-US" dirty="0"/>
              <a:t>  // Add an element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countries.add</a:t>
            </a:r>
            <a:r>
              <a:rPr lang="en-US" dirty="0"/>
              <a:t>('Japan');</a:t>
            </a:r>
          </a:p>
          <a:p>
            <a:pPr marL="0" indent="0">
              <a:buNone/>
            </a:pPr>
            <a:r>
              <a:rPr lang="en-US" dirty="0"/>
              <a:t>  print(countries); // Output: {China, USA, Japan} (order may vary)</a:t>
            </a:r>
          </a:p>
          <a:p>
            <a:pPr marL="0" indent="0">
              <a:buNone/>
            </a:pPr>
            <a:r>
              <a:rPr lang="en-US" dirty="0"/>
              <a:t>  // Add multiple elements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countries.addAll</a:t>
            </a:r>
            <a:r>
              <a:rPr lang="en-US" dirty="0"/>
              <a:t>(['France', 'Germany']);</a:t>
            </a:r>
          </a:p>
          <a:p>
            <a:pPr marL="0" indent="0">
              <a:buNone/>
            </a:pPr>
            <a:r>
              <a:rPr lang="en-US" dirty="0"/>
              <a:t>  print(countries); // Output: {China, USA, Japan, France, Germany}</a:t>
            </a:r>
          </a:p>
          <a:p>
            <a:pPr marL="0" indent="0">
              <a:buNone/>
            </a:pPr>
            <a:r>
              <a:rPr lang="en-US" dirty="0"/>
              <a:t>  // Remove an element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countries.remove</a:t>
            </a:r>
            <a:r>
              <a:rPr lang="en-US" dirty="0"/>
              <a:t>('USA');</a:t>
            </a:r>
          </a:p>
          <a:p>
            <a:pPr marL="0" indent="0">
              <a:buNone/>
            </a:pPr>
            <a:r>
              <a:rPr lang="en-US" dirty="0"/>
              <a:t>  print(countries); // Output: {China, Japan, France, Germany}</a:t>
            </a:r>
          </a:p>
          <a:p>
            <a:pPr marL="0" indent="0">
              <a:buNone/>
            </a:pPr>
            <a:r>
              <a:rPr lang="en-US" dirty="0"/>
              <a:t>  // Clear the set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countries.clear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print(countries); // Output: {}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98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F827-0747-1EDA-D616-791CEAB2D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7668"/>
            <a:ext cx="10515600" cy="53792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dirty="0"/>
              <a:t>void main() {</a:t>
            </a:r>
          </a:p>
          <a:p>
            <a:pPr marL="0" indent="0">
              <a:buNone/>
            </a:pPr>
            <a:r>
              <a:rPr lang="en-US" sz="11200" dirty="0"/>
              <a:t>  Set&lt;int&gt; a = {1, 2, 3, 4};</a:t>
            </a:r>
          </a:p>
          <a:p>
            <a:pPr marL="0" indent="0">
              <a:buNone/>
            </a:pPr>
            <a:r>
              <a:rPr lang="en-US" sz="11200" dirty="0"/>
              <a:t>  Set&lt;int&gt; b = {3, 4, 5, 6};</a:t>
            </a:r>
          </a:p>
          <a:p>
            <a:pPr marL="0" indent="0">
              <a:buNone/>
            </a:pPr>
            <a:r>
              <a:rPr lang="en-US" sz="11200" dirty="0"/>
              <a:t>  // Union: all elements from a and b</a:t>
            </a:r>
          </a:p>
          <a:p>
            <a:pPr marL="0" indent="0">
              <a:buNone/>
            </a:pPr>
            <a:r>
              <a:rPr lang="en-US" sz="11200" dirty="0"/>
              <a:t>  Set&lt;int&gt; union = </a:t>
            </a:r>
            <a:r>
              <a:rPr lang="en-US" sz="11200" dirty="0" err="1"/>
              <a:t>a.union</a:t>
            </a:r>
            <a:r>
              <a:rPr lang="en-US" sz="11200" dirty="0"/>
              <a:t>(b);</a:t>
            </a:r>
          </a:p>
          <a:p>
            <a:pPr marL="0" indent="0">
              <a:buNone/>
            </a:pPr>
            <a:r>
              <a:rPr lang="en-US" sz="11200" dirty="0"/>
              <a:t>  print(union); // Output: {1, 2, 3, 4, 5, 6}</a:t>
            </a:r>
          </a:p>
          <a:p>
            <a:pPr marL="0" indent="0">
              <a:buNone/>
            </a:pPr>
            <a:r>
              <a:rPr lang="en-US" sz="11200" dirty="0"/>
              <a:t>  // Intersection: elements common to both a and b</a:t>
            </a:r>
          </a:p>
          <a:p>
            <a:pPr marL="0" indent="0">
              <a:buNone/>
            </a:pPr>
            <a:r>
              <a:rPr lang="en-US" sz="11200" dirty="0"/>
              <a:t>  Set&lt;int&gt; intersection = </a:t>
            </a:r>
            <a:r>
              <a:rPr lang="en-US" sz="11200" dirty="0" err="1"/>
              <a:t>a.intersection</a:t>
            </a:r>
            <a:r>
              <a:rPr lang="en-US" sz="11200" dirty="0"/>
              <a:t>(b);</a:t>
            </a:r>
          </a:p>
          <a:p>
            <a:pPr marL="0" indent="0">
              <a:buNone/>
            </a:pPr>
            <a:r>
              <a:rPr lang="en-US" sz="11200" dirty="0"/>
              <a:t>  print(intersection); // Output: {3, 4}</a:t>
            </a:r>
          </a:p>
          <a:p>
            <a:pPr marL="0" indent="0">
              <a:buNone/>
            </a:pPr>
            <a:r>
              <a:rPr lang="en-US" sz="11200" dirty="0"/>
              <a:t>  // Difference: elements in a that are not in b</a:t>
            </a:r>
          </a:p>
          <a:p>
            <a:pPr marL="0" indent="0">
              <a:buNone/>
            </a:pPr>
            <a:r>
              <a:rPr lang="en-US" sz="11200" dirty="0"/>
              <a:t>  Set&lt;int&gt; difference = </a:t>
            </a:r>
            <a:r>
              <a:rPr lang="en-US" sz="11200" dirty="0" err="1"/>
              <a:t>a.difference</a:t>
            </a:r>
            <a:r>
              <a:rPr lang="en-US" sz="11200" dirty="0"/>
              <a:t>(b);</a:t>
            </a:r>
          </a:p>
          <a:p>
            <a:pPr marL="0" indent="0">
              <a:buNone/>
            </a:pPr>
            <a:r>
              <a:rPr lang="en-US" sz="11200" dirty="0"/>
              <a:t>  print(difference); // Output: {1, 2}</a:t>
            </a:r>
          </a:p>
          <a:p>
            <a:pPr marL="0" indent="0">
              <a:buNone/>
            </a:pPr>
            <a:r>
              <a:rPr lang="en-US" sz="112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6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Using Map Types:</a:t>
            </a:r>
          </a:p>
          <a:p>
            <a:r>
              <a:rPr lang="en-US" dirty="0"/>
              <a:t>Map&lt;</a:t>
            </a:r>
            <a:r>
              <a:rPr lang="en-US" dirty="0" err="1"/>
              <a:t>int</a:t>
            </a:r>
            <a:r>
              <a:rPr lang="en-US" dirty="0"/>
              <a:t>, String&gt; items = {1: 'Item1', 2: 'Item2'};</a:t>
            </a:r>
          </a:p>
          <a:p>
            <a:r>
              <a:rPr lang="en-US" dirty="0"/>
              <a:t>//Creates a map where the keys are integers and the values are strings.</a:t>
            </a:r>
          </a:p>
          <a:p>
            <a:pPr marL="0" indent="0">
              <a:buNone/>
            </a:pPr>
            <a:r>
              <a:rPr lang="en-US" sz="3400" b="1" dirty="0"/>
              <a:t>3.Accessing Map Elements:</a:t>
            </a:r>
          </a:p>
          <a:p>
            <a:r>
              <a:rPr lang="en-US" dirty="0"/>
              <a:t>print(scores['Alice']); / Output: 50</a:t>
            </a:r>
          </a:p>
          <a:p>
            <a:r>
              <a:rPr lang="en-US" dirty="0"/>
              <a:t>//Accesses the value associated with the key 'Alice'.</a:t>
            </a:r>
          </a:p>
          <a:p>
            <a:pPr marL="0" indent="0">
              <a:buNone/>
            </a:pPr>
            <a:r>
              <a:rPr lang="en-US" sz="3300" b="1" dirty="0"/>
              <a:t>4.Iterating Over Maps Using for Loop:</a:t>
            </a:r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var</a:t>
            </a:r>
            <a:r>
              <a:rPr lang="en-US" dirty="0"/>
              <a:t> entry in </a:t>
            </a:r>
            <a:r>
              <a:rPr lang="en-US" dirty="0" err="1"/>
              <a:t>capitals.entries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print('The capital of ${</a:t>
            </a:r>
            <a:r>
              <a:rPr lang="en-US" dirty="0" err="1"/>
              <a:t>entry.key</a:t>
            </a:r>
            <a:r>
              <a:rPr lang="en-US" dirty="0"/>
              <a:t>} is ${</a:t>
            </a:r>
            <a:r>
              <a:rPr lang="en-US" dirty="0" err="1"/>
              <a:t>entry.value</a:t>
            </a:r>
            <a:r>
              <a:rPr lang="en-US" dirty="0"/>
              <a:t>}');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//Iterates over each entry in the map and prints the key and value.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89184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6429"/>
            <a:ext cx="10515600" cy="53605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5.Checking Whether an Element is Contained in Map:</a:t>
            </a:r>
          </a:p>
          <a:p>
            <a:pPr marL="0" indent="0">
              <a:buNone/>
            </a:pPr>
            <a:r>
              <a:rPr lang="en-US" sz="3200" dirty="0"/>
              <a:t>print(</a:t>
            </a:r>
            <a:r>
              <a:rPr lang="en-US" sz="3200" dirty="0" err="1"/>
              <a:t>scores.containsKey</a:t>
            </a:r>
            <a:r>
              <a:rPr lang="en-US" sz="3200" dirty="0"/>
              <a:t>('Bob')); / Output: true</a:t>
            </a:r>
          </a:p>
          <a:p>
            <a:pPr marL="0" indent="0">
              <a:buNone/>
            </a:pPr>
            <a:r>
              <a:rPr lang="en-US" sz="3200" dirty="0"/>
              <a:t>//Checks if the key 'Bob' exists in the map.</a:t>
            </a:r>
          </a:p>
          <a:p>
            <a:pPr marL="0" indent="0">
              <a:buNone/>
            </a:pPr>
            <a:r>
              <a:rPr lang="en-US" sz="3200" b="1" dirty="0"/>
              <a:t>6.Modifying Elements in Map:</a:t>
            </a:r>
          </a:p>
          <a:p>
            <a:pPr marL="0" indent="0">
              <a:buNone/>
            </a:pPr>
            <a:r>
              <a:rPr lang="en-US" sz="3200" dirty="0"/>
              <a:t>scores['Alice'] = 85;</a:t>
            </a:r>
          </a:p>
          <a:p>
            <a:pPr marL="0" indent="0">
              <a:buNone/>
            </a:pPr>
            <a:r>
              <a:rPr lang="en-US" sz="3200" dirty="0"/>
              <a:t>//Updates the value associated with the key 'Alice' to 85.</a:t>
            </a:r>
          </a:p>
          <a:p>
            <a:pPr marL="0" indent="0">
              <a:buNone/>
            </a:pPr>
            <a:r>
              <a:rPr lang="en-US" sz="3200" b="1" dirty="0"/>
              <a:t>7.Deleting Specific Elements:</a:t>
            </a:r>
          </a:p>
          <a:p>
            <a:pPr marL="0" indent="0">
              <a:buNone/>
            </a:pPr>
            <a:r>
              <a:rPr lang="en-US" sz="3200" dirty="0" err="1"/>
              <a:t>scores.remove</a:t>
            </a:r>
            <a:r>
              <a:rPr lang="en-US" sz="3200" dirty="0"/>
              <a:t>('Bob');</a:t>
            </a:r>
          </a:p>
          <a:p>
            <a:pPr marL="0" indent="0">
              <a:buNone/>
            </a:pPr>
            <a:r>
              <a:rPr lang="en-US" sz="3200" dirty="0"/>
              <a:t>//Removes the key-value pair with the key 'Bob' from the map.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2799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8970"/>
            <a:ext cx="10515600" cy="61613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// Maps (Dictionaries)</a:t>
            </a:r>
          </a:p>
          <a:p>
            <a:pPr marL="0" indent="0">
              <a:buNone/>
            </a:pPr>
            <a:r>
              <a:rPr lang="en-IN" dirty="0"/>
              <a:t>  Map&lt;String, dynamic&gt; person = {</a:t>
            </a:r>
          </a:p>
          <a:p>
            <a:pPr marL="0" indent="0">
              <a:buNone/>
            </a:pPr>
            <a:r>
              <a:rPr lang="en-IN" dirty="0"/>
              <a:t>    'name': 'Rama',</a:t>
            </a:r>
          </a:p>
          <a:p>
            <a:pPr marL="0" indent="0">
              <a:buNone/>
            </a:pPr>
            <a:r>
              <a:rPr lang="en-IN" dirty="0"/>
              <a:t>    'age': 25,</a:t>
            </a:r>
          </a:p>
          <a:p>
            <a:pPr marL="0" indent="0">
              <a:buNone/>
            </a:pPr>
            <a:r>
              <a:rPr lang="en-IN" dirty="0"/>
              <a:t>    '</a:t>
            </a:r>
            <a:r>
              <a:rPr lang="en-IN" dirty="0" err="1"/>
              <a:t>isEmployed</a:t>
            </a:r>
            <a:r>
              <a:rPr lang="en-IN" dirty="0"/>
              <a:t>': true,</a:t>
            </a:r>
          </a:p>
          <a:p>
            <a:pPr marL="0" indent="0">
              <a:buNone/>
            </a:pPr>
            <a:r>
              <a:rPr lang="en-IN" dirty="0"/>
              <a:t>    'hobbies': ['Reading', 'Playing']</a:t>
            </a:r>
          </a:p>
          <a:p>
            <a:pPr marL="0" indent="0">
              <a:buNone/>
            </a:pPr>
            <a:r>
              <a:rPr lang="en-IN" dirty="0"/>
              <a:t>  };</a:t>
            </a:r>
          </a:p>
          <a:p>
            <a:pPr marL="0" indent="0">
              <a:buNone/>
            </a:pPr>
            <a:r>
              <a:rPr lang="en-IN" dirty="0"/>
              <a:t>  print('Person map: $person');</a:t>
            </a:r>
          </a:p>
          <a:p>
            <a:pPr marL="0" indent="0">
              <a:buNone/>
            </a:pPr>
            <a:r>
              <a:rPr lang="en-IN" dirty="0"/>
              <a:t>  print('Person name: ${person['name']}');</a:t>
            </a:r>
          </a:p>
          <a:p>
            <a:pPr marL="0" indent="0">
              <a:buNone/>
            </a:pPr>
            <a:r>
              <a:rPr lang="en-IN" dirty="0"/>
              <a:t>  print('Person hobbies: ${person['hobbies']}');</a:t>
            </a:r>
          </a:p>
          <a:p>
            <a:pPr marL="0" indent="0">
              <a:buNone/>
            </a:pPr>
            <a:r>
              <a:rPr lang="en-IN" dirty="0"/>
              <a:t>  // Sets (Unique collections)</a:t>
            </a:r>
          </a:p>
          <a:p>
            <a:pPr marL="0" indent="0">
              <a:buNone/>
            </a:pPr>
            <a:r>
              <a:rPr lang="en-IN" dirty="0"/>
              <a:t>  Set&lt;</a:t>
            </a:r>
            <a:r>
              <a:rPr lang="en-IN" dirty="0" err="1"/>
              <a:t>int</a:t>
            </a:r>
            <a:r>
              <a:rPr lang="en-IN" dirty="0"/>
              <a:t>&gt; </a:t>
            </a:r>
            <a:r>
              <a:rPr lang="en-IN" dirty="0" err="1"/>
              <a:t>uniqueNumbers</a:t>
            </a:r>
            <a:r>
              <a:rPr lang="en-IN" dirty="0"/>
              <a:t> = {1, 2, 3, 3, 4, 4, 5};</a:t>
            </a:r>
          </a:p>
          <a:p>
            <a:pPr marL="0" indent="0">
              <a:buNone/>
            </a:pPr>
            <a:r>
              <a:rPr lang="en-IN" dirty="0"/>
              <a:t>// Duplicates are automatically removed</a:t>
            </a:r>
          </a:p>
          <a:p>
            <a:pPr marL="0" indent="0">
              <a:buNone/>
            </a:pPr>
            <a:r>
              <a:rPr lang="en-IN" dirty="0"/>
              <a:t>  print('Unique numbers set: $</a:t>
            </a:r>
            <a:r>
              <a:rPr lang="en-IN" dirty="0" err="1"/>
              <a:t>uniqueNumbers</a:t>
            </a:r>
            <a:r>
              <a:rPr lang="en-IN" dirty="0"/>
              <a:t>'); </a:t>
            </a:r>
          </a:p>
        </p:txBody>
      </p:sp>
    </p:spTree>
    <p:extLst>
      <p:ext uri="{BB962C8B-B14F-4D97-AF65-F5344CB8AC3E}">
        <p14:creationId xmlns:p14="http://schemas.microsoft.com/office/powerpoint/2010/main" val="39587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4811</Words>
  <Application>Microsoft Office PowerPoint</Application>
  <PresentationFormat>Widescreen</PresentationFormat>
  <Paragraphs>915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Arial</vt:lpstr>
      <vt:lpstr>Arial MT</vt:lpstr>
      <vt:lpstr>Calibri</vt:lpstr>
      <vt:lpstr>Calibri Light</vt:lpstr>
      <vt:lpstr>Courier New</vt:lpstr>
      <vt:lpstr>Google Sans Code</vt:lpstr>
      <vt:lpstr>Google Sans Flex</vt:lpstr>
      <vt:lpstr>Roboto</vt:lpstr>
      <vt:lpstr>Times New Roman</vt:lpstr>
      <vt:lpstr>Office Theme</vt:lpstr>
      <vt:lpstr>Dart Programming</vt:lpstr>
      <vt:lpstr>Introduction </vt:lpstr>
      <vt:lpstr>PowerPoint Presentation</vt:lpstr>
      <vt:lpstr>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`final` and `const`</vt:lpstr>
      <vt:lpstr>Operators </vt:lpstr>
      <vt:lpstr>Types Of Operators</vt:lpstr>
      <vt:lpstr>PowerPoint Presentation</vt:lpstr>
      <vt:lpstr>PowerPoint Presentation</vt:lpstr>
      <vt:lpstr>Increment and Decrement Operators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operator</vt:lpstr>
      <vt:lpstr>PowerPoint Presentation</vt:lpstr>
      <vt:lpstr>Conditions</vt:lpstr>
      <vt:lpstr>If Condition</vt:lpstr>
      <vt:lpstr>If-else Condition</vt:lpstr>
      <vt:lpstr>Condition Based On Boolean Value</vt:lpstr>
      <vt:lpstr>If-Else-If Condition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Loops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Dart Programming</dc:title>
  <dc:creator>Admin</dc:creator>
  <cp:lastModifiedBy>V Subba Ramaiah</cp:lastModifiedBy>
  <cp:revision>217</cp:revision>
  <dcterms:created xsi:type="dcterms:W3CDTF">2026-07-24T23:08:53Z</dcterms:created>
  <dcterms:modified xsi:type="dcterms:W3CDTF">2026-07-27T03:59:45Z</dcterms:modified>
</cp:coreProperties>
</file>